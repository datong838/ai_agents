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-17145"/>
            <a:ext cx="116128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10355E"/>
                </a:solidFill>
                <a:latin typeface="微软雅黑"/>
              </a:rPr>
              <a:t>Palantir 究竟是一家什么公司</a:t>
            </a:r>
            <a:endParaRPr sz="28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577215"/>
            <a:ext cx="1161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1F6FC1"/>
                </a:solidFill>
                <a:latin typeface="微软雅黑"/>
              </a:rPr>
              <a:t>以数据、业务逻辑和AI为核心，连接决策与现实行动的企业级决策与运营基础设施</a:t>
            </a:r>
            <a:endParaRPr sz="1300" b="0">
              <a:solidFill>
                <a:srgbClr val="1F6FC1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034415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1171575"/>
            <a:ext cx="6766560" cy="1417320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63015"/>
            <a:ext cx="658368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A6B7E"/>
                </a:solidFill>
                <a:latin typeface="微软雅黑"/>
              </a:rPr>
              <a:t>Palantir 帮助政府与大型企业将分散的数据、复杂的业务关系、规则、模型和人员行动连接在一起，在同一套系统中完成从「感知 → 决策 → 行动 → 结果反馈」的闭环，让组织在复杂和高风险的环境中更快、更准、更安全地行动。</a:t>
            </a:r>
            <a:endParaRPr sz="11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23760" y="1080135"/>
            <a:ext cx="4754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12479A"/>
                </a:solidFill>
                <a:latin typeface="微软雅黑"/>
              </a:rPr>
              <a:t>为客户创造的核心价值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223760" y="1445895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1491615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12479A"/>
                </a:solidFill>
                <a:latin typeface="微软雅黑"/>
              </a:rPr>
              <a:t>打破数据孤岛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69480" y="1738503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>
                <a:solidFill>
                  <a:srgbClr val="5A6B7E"/>
                </a:solidFill>
                <a:latin typeface="微软雅黑"/>
              </a:rPr>
              <a:t>形成单一态势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851392" y="1445895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7112" y="1491615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12479A"/>
                </a:solidFill>
                <a:latin typeface="微软雅黑"/>
              </a:rPr>
              <a:t>更快更准的决策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97112" y="1738503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>
                <a:solidFill>
                  <a:srgbClr val="5A6B7E"/>
                </a:solidFill>
                <a:latin typeface="微软雅黑"/>
              </a:rPr>
              <a:t>发现、模型 + AI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0479024" y="1445895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24744" y="1491615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12479A"/>
                </a:solidFill>
                <a:latin typeface="微软雅黑"/>
              </a:rPr>
              <a:t>让决策落地为行动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24744" y="1738503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>
                <a:solidFill>
                  <a:srgbClr val="5A6B7E"/>
                </a:solidFill>
                <a:latin typeface="微软雅黑"/>
              </a:rPr>
              <a:t>产生真实影响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223760" y="2085975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2131695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12479A"/>
                </a:solidFill>
                <a:latin typeface="微软雅黑"/>
              </a:rPr>
              <a:t>企业级安全与治理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69480" y="2378583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>
                <a:solidFill>
                  <a:srgbClr val="5A6B7E"/>
                </a:solidFill>
                <a:latin typeface="微软雅黑"/>
              </a:rPr>
              <a:t>可追溯、可审计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851392" y="2085975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97112" y="2131695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12479A"/>
                </a:solidFill>
                <a:latin typeface="微软雅黑"/>
              </a:rPr>
              <a:t>持续学习与优化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7112" y="2378583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>
                <a:solidFill>
                  <a:srgbClr val="5A6B7E"/>
                </a:solidFill>
                <a:latin typeface="微软雅黑"/>
              </a:rPr>
              <a:t>形成决策资产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479024" y="2085975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24744" y="2131695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12479A"/>
                </a:solidFill>
                <a:latin typeface="微软雅黑"/>
              </a:rPr>
              <a:t>跨环境部署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24744" y="2378583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>
                <a:solidFill>
                  <a:srgbClr val="5A6B7E"/>
                </a:solidFill>
                <a:latin typeface="微软雅黑"/>
              </a:rPr>
              <a:t>云·私有·边缘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4320" y="2771775"/>
            <a:ext cx="67665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2479A"/>
                </a:solidFill>
                <a:latin typeface="微软雅黑"/>
              </a:rPr>
              <a:t>Palantir 的真实身份</a:t>
            </a:r>
            <a:endParaRPr sz="14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74320" y="3183255"/>
            <a:ext cx="1033271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" y="3274695"/>
            <a:ext cx="274320" cy="274320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311271"/>
            <a:ext cx="274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12479A"/>
                </a:solidFill>
                <a:latin typeface="微软雅黑"/>
              </a:rPr>
              <a:t>数据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92608" y="3640455"/>
            <a:ext cx="99669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10355E"/>
                </a:solidFill>
                <a:latin typeface="微软雅黑"/>
              </a:rPr>
              <a:t>数据连接与治理</a:t>
            </a:r>
            <a:endParaRPr sz="9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92608" y="3896487"/>
            <a:ext cx="9966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700" b="0">
                <a:solidFill>
                  <a:srgbClr val="5A6B7E"/>
                </a:solidFill>
                <a:latin typeface="微软雅黑"/>
              </a:rPr>
              <a:t>连接各数据源、清洗、可追溯</a:t>
            </a:r>
            <a:endParaRPr sz="7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399032" y="3183255"/>
            <a:ext cx="1033271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783080" y="3274695"/>
            <a:ext cx="274320" cy="274320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83080" y="3311271"/>
            <a:ext cx="274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12479A"/>
                </a:solidFill>
                <a:latin typeface="微软雅黑"/>
              </a:rPr>
              <a:t>业务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17320" y="3640455"/>
            <a:ext cx="99669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10355E"/>
                </a:solidFill>
                <a:latin typeface="微软雅黑"/>
              </a:rPr>
              <a:t>Ontology 表达</a:t>
            </a:r>
            <a:endParaRPr sz="9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417320" y="3896487"/>
            <a:ext cx="9966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700" b="0">
                <a:solidFill>
                  <a:srgbClr val="5A6B7E"/>
                </a:solidFill>
                <a:latin typeface="微软雅黑"/>
              </a:rPr>
              <a:t>对象与关系刻画</a:t>
            </a:r>
            <a:endParaRPr sz="7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2523744" y="3183255"/>
            <a:ext cx="1033271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07791" y="3274695"/>
            <a:ext cx="274320" cy="274320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07791" y="3311271"/>
            <a:ext cx="274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12479A"/>
                </a:solidFill>
                <a:latin typeface="微软雅黑"/>
              </a:rPr>
              <a:t>逻辑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542032" y="3640455"/>
            <a:ext cx="99669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10355E"/>
                </a:solidFill>
                <a:latin typeface="微软雅黑"/>
              </a:rPr>
              <a:t>决策能力建模</a:t>
            </a:r>
            <a:endParaRPr sz="9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542032" y="3896487"/>
            <a:ext cx="9966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700" b="0">
                <a:solidFill>
                  <a:srgbClr val="5A6B7E"/>
                </a:solidFill>
                <a:latin typeface="微软雅黑"/>
              </a:rPr>
              <a:t>规则 + 模型 + AI</a:t>
            </a:r>
            <a:endParaRPr sz="7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3648456" y="3183255"/>
            <a:ext cx="1033271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032504" y="3274695"/>
            <a:ext cx="274320" cy="274320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32504" y="3311271"/>
            <a:ext cx="274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12479A"/>
                </a:solidFill>
                <a:latin typeface="微软雅黑"/>
              </a:rPr>
              <a:t>Ac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666744" y="3640455"/>
            <a:ext cx="99669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10355E"/>
                </a:solidFill>
                <a:latin typeface="微软雅黑"/>
              </a:rPr>
              <a:t>Action 执行</a:t>
            </a:r>
            <a:endParaRPr sz="9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66744" y="3896487"/>
            <a:ext cx="9966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700" b="0">
                <a:solidFill>
                  <a:srgbClr val="5A6B7E"/>
                </a:solidFill>
                <a:latin typeface="微软雅黑"/>
              </a:rPr>
              <a:t>决策改变现实</a:t>
            </a:r>
            <a:endParaRPr sz="7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4773168" y="3183255"/>
            <a:ext cx="1033271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157216" y="3274695"/>
            <a:ext cx="274320" cy="274320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57216" y="3311271"/>
            <a:ext cx="274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12479A"/>
                </a:solidFill>
                <a:latin typeface="微软雅黑"/>
              </a:rPr>
              <a:t>安全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791455" y="3640455"/>
            <a:ext cx="99669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10355E"/>
                </a:solidFill>
                <a:latin typeface="微软雅黑"/>
              </a:rPr>
              <a:t>安全与权限</a:t>
            </a:r>
            <a:endParaRPr sz="9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791455" y="3896487"/>
            <a:ext cx="9966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700" b="0">
                <a:solidFill>
                  <a:srgbClr val="5A6B7E"/>
                </a:solidFill>
                <a:latin typeface="微软雅黑"/>
              </a:rPr>
              <a:t>贯穿运营全过程</a:t>
            </a:r>
            <a:endParaRPr sz="7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5897880" y="3183255"/>
            <a:ext cx="1033271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281928" y="3274695"/>
            <a:ext cx="274320" cy="274320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81928" y="3311271"/>
            <a:ext cx="274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12479A"/>
                </a:solidFill>
                <a:latin typeface="微软雅黑"/>
              </a:rPr>
              <a:t>反馈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916168" y="3640455"/>
            <a:ext cx="99669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10355E"/>
                </a:solidFill>
                <a:latin typeface="微软雅黑"/>
              </a:rPr>
              <a:t>结果反馈</a:t>
            </a:r>
            <a:endParaRPr sz="9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916168" y="3896487"/>
            <a:ext cx="9966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700" b="0">
                <a:solidFill>
                  <a:srgbClr val="5A6B7E"/>
                </a:solidFill>
                <a:latin typeface="微软雅黑"/>
              </a:rPr>
              <a:t>持续学习与优化</a:t>
            </a:r>
            <a:endParaRPr sz="7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223760" y="2771775"/>
            <a:ext cx="4754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2479A"/>
                </a:solidFill>
                <a:latin typeface="微软雅黑"/>
              </a:rPr>
              <a:t>Palantir 关键数据（截至 2026 年第一季度）</a:t>
            </a:r>
            <a:endParaRPr sz="14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7223760" y="3183255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69480" y="3228975"/>
            <a:ext cx="14630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1F6FC1"/>
                </a:solidFill>
                <a:latin typeface="微软雅黑"/>
              </a:rPr>
              <a:t>4,429</a:t>
            </a:r>
            <a:endParaRPr sz="16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269480" y="3549015"/>
            <a:ext cx="146304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>
                <a:solidFill>
                  <a:srgbClr val="5A6B7E"/>
                </a:solidFill>
                <a:latin typeface="微软雅黑"/>
              </a:rPr>
              <a:t>全职员工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8851392" y="3183255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97112" y="3228975"/>
            <a:ext cx="14630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2DC276"/>
                </a:solidFill>
                <a:latin typeface="微软雅黑"/>
              </a:rPr>
              <a:t>954+</a:t>
            </a:r>
            <a:endParaRPr sz="16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897112" y="3549015"/>
            <a:ext cx="146304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>
                <a:solidFill>
                  <a:srgbClr val="5A6B7E"/>
                </a:solidFill>
                <a:latin typeface="微软雅黑"/>
              </a:rPr>
              <a:t>家客户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10479024" y="3183255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24744" y="3228975"/>
            <a:ext cx="14630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E54A4A"/>
                </a:solidFill>
                <a:latin typeface="微软雅黑"/>
              </a:rPr>
              <a:t>$44.75亿</a:t>
            </a:r>
            <a:endParaRPr sz="16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524744" y="3549015"/>
            <a:ext cx="146304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>
                <a:solidFill>
                  <a:srgbClr val="5A6B7E"/>
                </a:solidFill>
                <a:latin typeface="微软雅黑"/>
              </a:rPr>
              <a:t>2025 年度收入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7223760" y="3823335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69480" y="3869055"/>
            <a:ext cx="14630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12479A"/>
                </a:solidFill>
                <a:latin typeface="微软雅黑"/>
              </a:rPr>
              <a:t>82%</a:t>
            </a:r>
            <a:endParaRPr sz="16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269480" y="4189095"/>
            <a:ext cx="146304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>
                <a:solidFill>
                  <a:srgbClr val="5A6B7E"/>
                </a:solidFill>
                <a:latin typeface="微软雅黑"/>
              </a:rPr>
              <a:t>2025 毛利率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8851392" y="3823335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897112" y="3869055"/>
            <a:ext cx="14630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4D88D6"/>
                </a:solidFill>
                <a:latin typeface="微软雅黑"/>
              </a:rPr>
              <a:t>85%</a:t>
            </a:r>
            <a:endParaRPr sz="1600" b="1">
              <a:solidFill>
                <a:srgbClr val="4D88D6"/>
              </a:solidFill>
              <a:latin typeface="微软雅黑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897112" y="4189095"/>
            <a:ext cx="146304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>
                <a:solidFill>
                  <a:srgbClr val="5A6B7E"/>
                </a:solidFill>
                <a:latin typeface="微软雅黑"/>
              </a:rPr>
              <a:t>2025 年毛利率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10479024" y="3823335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24744" y="3869055"/>
            <a:ext cx="14630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10355E"/>
                </a:solidFill>
                <a:latin typeface="微软雅黑"/>
              </a:rPr>
              <a:t>87%</a:t>
            </a:r>
            <a:endParaRPr sz="16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524744" y="4189095"/>
            <a:ext cx="146304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>
                <a:solidFill>
                  <a:srgbClr val="5A6B7E"/>
                </a:solidFill>
                <a:latin typeface="微软雅黑"/>
              </a:rPr>
              <a:t>2026 Q1 毛利率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223760" y="4536567"/>
            <a:ext cx="4754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5A6B7E"/>
                </a:solidFill>
                <a:latin typeface="微软雅黑"/>
              </a:rPr>
              <a:t>数据来源：Palantir 2025 年度报告、2026 年第一季度财报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74320" y="4874895"/>
            <a:ext cx="11612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2479A"/>
                </a:solidFill>
                <a:latin typeface="微软雅黑"/>
              </a:rPr>
              <a:t>Palantir 连接什么 → 产生什么</a:t>
            </a:r>
            <a:endParaRPr sz="14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425195" y="5286375"/>
            <a:ext cx="2194560" cy="960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0915" y="5332095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12479A"/>
                </a:solidFill>
                <a:latin typeface="微软雅黑"/>
              </a:rPr>
              <a:t>连接所有数据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70915" y="5578983"/>
            <a:ext cx="2103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>
                <a:solidFill>
                  <a:srgbClr val="5A6B7E"/>
                </a:solidFill>
                <a:latin typeface="微软雅黑"/>
              </a:rPr>
              <a:t>内部系统 (ERP, MES, CRM...)
数据库 / 文档 / 传感器 / IoT
外部数据 / 合作伙伴 / 公开数据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81" name="Right Arrow 80"/>
          <p:cNvSpPr/>
          <p:nvPr/>
        </p:nvSpPr>
        <p:spPr>
          <a:xfrm>
            <a:off x="2574036" y="5652135"/>
            <a:ext cx="182880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2711196" y="5286375"/>
            <a:ext cx="2194560" cy="960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56915" y="5332095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1F6FC1"/>
                </a:solidFill>
                <a:latin typeface="微软雅黑"/>
              </a:rPr>
              <a:t>表达业务
现实世界</a:t>
            </a:r>
            <a:endParaRPr sz="11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756915" y="5578983"/>
            <a:ext cx="2103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>
                <a:solidFill>
                  <a:srgbClr val="5A6B7E"/>
                </a:solidFill>
                <a:latin typeface="微软雅黑"/>
              </a:rPr>
              <a:t>客户
工厂
产品
供应商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85" name="Right Arrow 84"/>
          <p:cNvSpPr/>
          <p:nvPr/>
        </p:nvSpPr>
        <p:spPr>
          <a:xfrm>
            <a:off x="4860036" y="5652135"/>
            <a:ext cx="182880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4997196" y="5286375"/>
            <a:ext cx="2194560" cy="960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42916" y="5332095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2DC276"/>
                </a:solidFill>
                <a:latin typeface="微软雅黑"/>
              </a:rPr>
              <a:t>决策与智能</a:t>
            </a:r>
            <a:endParaRPr sz="11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042916" y="5578983"/>
            <a:ext cx="2103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>
                <a:solidFill>
                  <a:srgbClr val="5A6B7E"/>
                </a:solidFill>
                <a:latin typeface="微软雅黑"/>
              </a:rPr>
              <a:t>业务规则
预测模型
优化算法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89" name="Right Arrow 88"/>
          <p:cNvSpPr/>
          <p:nvPr/>
        </p:nvSpPr>
        <p:spPr>
          <a:xfrm>
            <a:off x="7146036" y="5652135"/>
            <a:ext cx="182880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283196" y="5286375"/>
            <a:ext cx="2194560" cy="960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28916" y="5332095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12479A"/>
                </a:solidFill>
                <a:latin typeface="微软雅黑"/>
              </a:rPr>
              <a:t>行动与执行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328916" y="5578983"/>
            <a:ext cx="2103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>
                <a:solidFill>
                  <a:srgbClr val="5A6B7E"/>
                </a:solidFill>
                <a:latin typeface="微软雅黑"/>
              </a:rPr>
              <a:t>审批与流程
调用外部
调整计划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93" name="Right Arrow 92"/>
          <p:cNvSpPr/>
          <p:nvPr/>
        </p:nvSpPr>
        <p:spPr>
          <a:xfrm>
            <a:off x="9432036" y="5652135"/>
            <a:ext cx="182880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9569196" y="5286375"/>
            <a:ext cx="2194560" cy="960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14916" y="5332095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E54A4A"/>
                </a:solidFill>
                <a:latin typeface="微软雅黑"/>
              </a:rPr>
              <a:t>结果反馈与
持续优化</a:t>
            </a:r>
            <a:endParaRPr sz="11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9614916" y="5578983"/>
            <a:ext cx="2103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>
                <a:solidFill>
                  <a:srgbClr val="5A6B7E"/>
                </a:solidFill>
                <a:latin typeface="微软雅黑"/>
              </a:rPr>
              <a:t>执行结果追踪
效果分析
沉淀资产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274320" y="6337935"/>
            <a:ext cx="11612880" cy="274320"/>
          </a:xfrm>
          <a:prstGeom prst="roundRect">
            <a:avLst>
              <a:gd name="adj" fmla="val 25000"/>
            </a:avLst>
          </a:prstGeom>
          <a:solidFill>
            <a:srgbClr val="E9F2FC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5760" y="6365367"/>
            <a:ext cx="11430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10355E"/>
                </a:solidFill>
                <a:latin typeface="微软雅黑"/>
              </a:rPr>
              <a:t>一句话总结：</a:t>
            </a:r>
            <a:endParaRPr sz="1000" b="1">
              <a:solidFill>
                <a:srgbClr val="10355E"/>
              </a:solidFill>
              <a:latin typeface="微软雅黑"/>
            </a:endParaRPr>
          </a:p>
          <a:p>
            <a:pPr algn="l"/>
            <a:r>
              <a:rPr sz="1000" b="0">
                <a:solidFill>
                  <a:srgbClr val="1F2D3D"/>
                </a:solidFill>
                <a:latin typeface="微软雅黑"/>
              </a:rPr>
              <a:t>Palantir 不是传统软件厂商，而是「决策与运营基础设施」—— 通过统一的业务模型和动作体系，把数据、智能和行动连接起来，</a:t>
            </a:r>
            <a:endParaRPr sz="1000" b="0">
              <a:solidFill>
                <a:srgbClr val="1F2D3D"/>
              </a:solidFill>
              <a:latin typeface="微软雅黑"/>
            </a:endParaRPr>
          </a:p>
          <a:p>
            <a:pPr algn="l"/>
            <a:r>
              <a:rPr sz="1000" b="1">
                <a:solidFill>
                  <a:srgbClr val="10355E"/>
                </a:solidFill>
                <a:latin typeface="微软雅黑"/>
              </a:rPr>
              <a:t>帮助客户在真实世界做准确决策并执行。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774</Words>
  <Application>WPS 文字</Application>
  <PresentationFormat>On-screen Show (4:3)</PresentationFormat>
  <Paragraphs>124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宋体-简</vt:lpstr>
      <vt:lpstr>微软雅黑</vt:lpstr>
      <vt:lpstr>Arial Unicode MS</vt:lpstr>
      <vt:lpstr>微软雅黑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ddt</cp:lastModifiedBy>
  <cp:revision>2</cp:revision>
  <dcterms:created xsi:type="dcterms:W3CDTF">2026-07-23T16:17:16Z</dcterms:created>
  <dcterms:modified xsi:type="dcterms:W3CDTF">2026-07-23T16:17:16Z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574CFF91A27259C18C3E626A80DFAC25_42</vt:lpwstr>
  </property>
  <property fmtid="{D5CDD505-2E9C-101B-9397-08002B2CF9AE}" pid="3" name="KSOProductBuildVer">
    <vt:lpwstr>2052-12.1.21938.21938</vt:lpwstr>
  </property>
</Properties>
</file>