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3" r:id="rId17"/>
    <p:sldId id="274" r:id="rId18"/>
    <p:sldId id="275" r:id="rId1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Palantir 深度技术解析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017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ACCEE"/>
                </a:solidFill>
              </a:defRPr>
            </a:pPr>
            <a:r>
              <a:t>Foundry · Ontology · AIP · Apollo</a:t>
            </a:r>
            <a:br/>
            <a:r>
              <a:t>L1稳 + L2双引擎并行 + L3交互界面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446530" cy="491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en-US"/>
              <a:t>overview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2011680" cy="777240"/>
          </a:xfrm>
          <a:prstGeom prst="roundRect">
            <a:avLst/>
          </a:prstGeom>
          <a:solidFill>
            <a:srgbClr val="BBBBB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杂乱数据</a:t>
            </a:r>
            <a:br/>
            <a:r>
              <a:t>Excel/PDF/IoT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23160" y="1664208"/>
            <a:ext cx="5029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71800" y="1188720"/>
            <a:ext cx="2194560" cy="96012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Foundry</a:t>
            </a:r>
            <a:br/>
            <a:r>
              <a:t>数据操作系统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12080" y="1664208"/>
            <a:ext cx="5029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760720" y="1188720"/>
            <a:ext cx="2286000" cy="96012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Ontology</a:t>
            </a:r>
            <a:br/>
            <a:r>
              <a:t>可执行语义内核</a:t>
            </a:r>
          </a:p>
        </p:txBody>
      </p:sp>
      <p:cxnSp>
        <p:nvCxnSpPr>
          <p:cNvPr id="10" name="Connector 9"/>
          <p:cNvCxnSpPr>
            <a:stCxn id="9" idx="2"/>
            <a:endCxn id="11" idx="0"/>
          </p:cNvCxnSpPr>
          <p:nvPr/>
        </p:nvCxnSpPr>
        <p:spPr>
          <a:xfrm flipH="1">
            <a:off x="4023360" y="2148713"/>
            <a:ext cx="2880360" cy="1828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2331720"/>
            <a:ext cx="2560320" cy="86868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AIP</a:t>
            </a:r>
            <a:br/>
            <a:r>
              <a:t>AI 编排治理层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49240" y="2761488"/>
            <a:ext cx="5029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897880" y="2331720"/>
            <a:ext cx="2011680" cy="86868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Apollo</a:t>
            </a:r>
            <a:br/>
            <a:r>
              <a:t>自主交付 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00400"/>
            <a:ext cx="64008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502920" y="3337560"/>
            <a:ext cx="5943600" cy="777240"/>
          </a:xfrm>
          <a:prstGeom prst="roundRect">
            <a:avLst/>
          </a:prstGeom>
          <a:solidFill>
            <a:srgbClr val="D6EA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为什么 Foundry？</a:t>
            </a:r>
            <a:br/>
            <a:r>
              <a:t>数据孤岛无法决策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60520"/>
            <a:ext cx="5943600" cy="777240"/>
          </a:xfrm>
          <a:prstGeom prst="roundRect">
            <a:avLst/>
          </a:prstGeom>
          <a:solidFill>
            <a:srgbClr val="D5F0D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为什么 Ontology？</a:t>
            </a:r>
            <a:br/>
            <a:r>
              <a:t>表没有「动作」和「权限」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983480"/>
            <a:ext cx="5943600" cy="777240"/>
          </a:xfrm>
          <a:prstGeom prst="roundRect">
            <a:avLst/>
          </a:prstGeom>
          <a:solidFill>
            <a:srgbClr val="E8DF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为什么 AIP？</a:t>
            </a:r>
            <a:br/>
            <a:r>
              <a:t>LLM 需要世界边界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75550" y="4055745"/>
            <a:ext cx="4357370" cy="2573655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5895" y="4160520"/>
            <a:ext cx="3917315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核心收获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先建本体模型，再构决策流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四大产品关系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不是四个工具，是一条价值链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6126480" cy="105156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Foundry — 企业数据操作系统</a:t>
            </a:r>
            <a:br/>
            <a:r>
              <a:t>集成 · 治理 · 管道 · 分析应用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20440" y="2468880"/>
            <a:ext cx="0" cy="32004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2834640"/>
            <a:ext cx="6126480" cy="105156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Ontology — 可执行语义内核</a:t>
            </a:r>
            <a:br/>
            <a:r>
              <a:t>Object · Link · Action · Function · Governance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20440" y="3931920"/>
            <a:ext cx="0" cy="32004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4297680"/>
            <a:ext cx="2926080" cy="10058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AIP</a:t>
            </a:r>
            <a:br/>
            <a:r>
              <a:t>LLM 编排治理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297680"/>
            <a:ext cx="2926080" cy="100584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Apollo交付 OS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5349240"/>
            <a:ext cx="0" cy="32004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5715000"/>
            <a:ext cx="6126480" cy="685800"/>
          </a:xfrm>
          <a:prstGeom prst="roundRect">
            <a:avLst/>
          </a:prstGeom>
          <a:solidFill>
            <a:srgbClr val="88888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Rubix 加固 K8s 运行时（Apollo 编排其上）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为什么这样分层？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Foundry 解决「有没有数据」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Ontology 解决「数据像不像业务」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AIP 解决「AI 能不能行动」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Apollo 解决「能不能到处跑」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Gotham 同源，偏国防情报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核心逻辑：数据如何变成「可计算对象」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167767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本体化 → 决策流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914400" cy="640080"/>
          </a:xfrm>
          <a:prstGeom prst="round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Excel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19" y="1371600"/>
            <a:ext cx="914400" cy="640080"/>
          </a:xfrm>
          <a:prstGeom prst="round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79" y="1371600"/>
            <a:ext cx="914400" cy="640080"/>
          </a:xfrm>
          <a:prstGeom prst="round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ERP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371600"/>
            <a:ext cx="914400" cy="640080"/>
          </a:xfrm>
          <a:prstGeom prst="round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IoT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914400" cy="640080"/>
          </a:xfrm>
          <a:prstGeom prst="round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日志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057400"/>
            <a:ext cx="0" cy="32004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2423160"/>
            <a:ext cx="5943600" cy="82296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① Connectors + Pipeline → Dataset (Iceberg/Parquet)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3291840"/>
            <a:ext cx="0" cy="32004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3657600"/>
            <a:ext cx="5943600" cy="82296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② Funnel 映射 → Object / Property / Link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71800" y="4526280"/>
            <a:ext cx="0" cy="32004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4892040"/>
            <a:ext cx="5943600" cy="82296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③ Action + Function → 可执行决策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71800" y="5760720"/>
            <a:ext cx="0" cy="22860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6035040"/>
            <a:ext cx="5943600" cy="68580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④ Workshop / AIP Agent → 人类+AI 行动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4993" y="1143000"/>
            <a:ext cx="4992624" cy="2563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为什么不用纯 RAG？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表/chunk 没有类型和动作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Ontology = 带权限的业务对象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先本体模型，再决策流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en-US" altLang="zh-CN"/>
              <a:t>Action + Function</a:t>
            </a:r>
            <a:r>
              <a:rPr lang="zh-CN" altLang="en-US"/>
              <a:t>：静态的数据，变成了“可编程、可计算”的智能对象。当</a:t>
            </a:r>
            <a:r>
              <a:rPr lang="en-US" altLang="zh-CN"/>
              <a:t>L2</a:t>
            </a:r>
            <a:r>
              <a:rPr lang="zh-CN" altLang="en-US"/>
              <a:t>层的</a:t>
            </a:r>
            <a:r>
              <a:rPr lang="en-US" altLang="zh-CN"/>
              <a:t>AI</a:t>
            </a:r>
            <a:r>
              <a:rPr lang="zh-CN" altLang="en-US"/>
              <a:t>需要决策时，它不需要自己去算，只需要调用这些现成的</a:t>
            </a:r>
            <a:r>
              <a:rPr lang="en-US" altLang="zh-CN"/>
              <a:t>Action/Function</a:t>
            </a:r>
            <a:r>
              <a:rPr lang="zh-CN" altLang="en-US"/>
              <a:t>就行了</a:t>
            </a:r>
            <a:endParaRPr lang="zh-CN" altLang="en-US"/>
          </a:p>
        </p:txBody>
      </p:sp>
      <p:sp>
        <p:nvSpPr>
          <p:cNvPr id="20" name="TextBox 18"/>
          <p:cNvSpPr txBox="1"/>
          <p:nvPr/>
        </p:nvSpPr>
        <p:spPr>
          <a:xfrm>
            <a:off x="6675120" y="4143375"/>
            <a:ext cx="5255260" cy="1671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zh-CN" altLang="en-US"/>
              <a:t>我们自己的</a:t>
            </a:r>
            <a:r>
              <a:rPr lang="en-US" altLang="zh-CN"/>
              <a:t> OKF</a:t>
            </a:r>
            <a:r>
              <a:rPr lang="zh-CN" altLang="en-US"/>
              <a:t>其实是在</a:t>
            </a:r>
            <a:r>
              <a:rPr lang="en-US" altLang="zh-CN"/>
              <a:t>funel </a:t>
            </a:r>
            <a:r>
              <a:rPr lang="zh-CN" altLang="en-US"/>
              <a:t>层，</a:t>
            </a:r>
            <a:r>
              <a:rPr lang="en-US" altLang="zh-CN"/>
              <a:t>Foundry</a:t>
            </a:r>
            <a:r>
              <a:rPr lang="zh-CN" altLang="en-US"/>
              <a:t>是通用</a:t>
            </a:r>
            <a:r>
              <a:rPr lang="en-US" altLang="zh-CN"/>
              <a:t>ETL，</a:t>
            </a:r>
            <a:r>
              <a:rPr lang="zh-CN" altLang="en-US"/>
              <a:t>这</a:t>
            </a:r>
            <a:r>
              <a:rPr lang="en-US" altLang="zh-CN"/>
              <a:t>OKF</a:t>
            </a:r>
            <a:r>
              <a:rPr lang="zh-CN" altLang="en-US"/>
              <a:t>是垂直领域预训练过的</a:t>
            </a:r>
            <a:r>
              <a:rPr lang="en-US" altLang="zh-CN"/>
              <a:t>ETL</a:t>
            </a:r>
            <a:endParaRPr lang="en-US" altLang="zh-CN"/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endParaRPr lang="en-US" altLang="zh-CN"/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en-US" altLang="zh-CN"/>
              <a:t>LLM Wiki</a:t>
            </a:r>
            <a:r>
              <a:rPr lang="zh-CN" altLang="en-US"/>
              <a:t>是挂在每个</a:t>
            </a:r>
            <a:r>
              <a:rPr lang="en-US" altLang="zh-CN"/>
              <a:t>Object</a:t>
            </a:r>
            <a:r>
              <a:rPr lang="zh-CN" altLang="en-US"/>
              <a:t>上的"可对话知识卡片"：</a:t>
            </a:r>
            <a:r>
              <a:rPr lang="en-US" altLang="zh-CN"/>
              <a:t>Wiki</a:t>
            </a:r>
            <a:r>
              <a:rPr lang="zh-CN" altLang="en-US"/>
              <a:t>和</a:t>
            </a:r>
            <a:r>
              <a:rPr lang="en-US" altLang="zh-CN"/>
              <a:t>Object</a:t>
            </a:r>
            <a:r>
              <a:rPr lang="zh-CN" altLang="en-US"/>
              <a:t>是双向绑定的——</a:t>
            </a:r>
            <a:r>
              <a:rPr lang="en-US" altLang="zh-CN"/>
              <a:t>Object</a:t>
            </a:r>
            <a:r>
              <a:rPr lang="zh-CN" altLang="en-US"/>
              <a:t>属性变了，</a:t>
            </a:r>
            <a:r>
              <a:rPr lang="en-US" altLang="zh-CN"/>
              <a:t>Wiki</a:t>
            </a:r>
            <a:r>
              <a:rPr lang="zh-CN" altLang="en-US"/>
              <a:t>自动更新；</a:t>
            </a:r>
            <a:r>
              <a:rPr lang="en-US" altLang="zh-CN"/>
              <a:t>Wiki</a:t>
            </a:r>
            <a:r>
              <a:rPr lang="zh-CN" altLang="en-US"/>
              <a:t>里人工补了备注，</a:t>
            </a:r>
            <a:r>
              <a:rPr lang="en-US" altLang="zh-CN"/>
              <a:t>Object</a:t>
            </a:r>
            <a:r>
              <a:rPr lang="zh-CN" altLang="en-US"/>
              <a:t>的</a:t>
            </a:r>
            <a:r>
              <a:rPr lang="en-US" altLang="zh-CN"/>
              <a:t>Property</a:t>
            </a:r>
            <a:r>
              <a:rPr lang="zh-CN" altLang="en-US"/>
              <a:t>也同步。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Ontology 四层栈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Executable Semantic Kernel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6126480" cy="96012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L4 应用/AI</a:t>
            </a:r>
            <a:br/>
            <a:r>
              <a:t>Workshop · Vertex · AIP Agent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20440" y="2194560"/>
            <a:ext cx="0" cy="13716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2331720"/>
            <a:ext cx="6126480" cy="96012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L3 核心引擎</a:t>
            </a:r>
            <a:br/>
            <a:r>
              <a:t>OMS · OSv2 · OSS · Actions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20440" y="3291839"/>
            <a:ext cx="0" cy="137161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3429000"/>
            <a:ext cx="6126480" cy="96012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L2 映射层</a:t>
            </a:r>
            <a:br/>
            <a:r>
              <a:t>Funnel · CDC 增量索引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20440" y="4389120"/>
            <a:ext cx="0" cy="13716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4526279"/>
            <a:ext cx="6126480" cy="960120"/>
          </a:xfrm>
          <a:prstGeom prst="roundRect">
            <a:avLst/>
          </a:prstGeom>
          <a:solidFill>
            <a:srgbClr val="88888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L1 物理数据</a:t>
            </a:r>
            <a:br/>
            <a:r>
              <a:t>Backing Dataset (Iceberg)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为什么不直接查表？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底层数据不动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物化索引低延迟读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应用不碰 Parquet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Semantic/Kinetic/Governance 三区并列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Ontology 三区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运行时原子裁决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920240" cy="228600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Semantic</a:t>
            </a:r>
            <a:br/>
            <a:r>
              <a:t>名词</a:t>
            </a:r>
            <a:br/>
            <a:r>
              <a:t>Object</a:t>
            </a:r>
            <a:br/>
            <a:r>
              <a:t>Link</a:t>
            </a:r>
            <a:br/>
            <a:r>
              <a:t>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417320"/>
            <a:ext cx="1920240" cy="228600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Kinetic</a:t>
            </a:r>
            <a:br/>
            <a:r>
              <a:t>动词</a:t>
            </a:r>
            <a:br/>
            <a:r>
              <a:t>Action</a:t>
            </a:r>
            <a:br/>
            <a:r>
              <a:t>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417320"/>
            <a:ext cx="1920240" cy="2286000"/>
          </a:xfrm>
          <a:prstGeom prst="roundRect">
            <a:avLst/>
          </a:prstGeom>
          <a:solidFill>
            <a:srgbClr val="1B2A4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Governance</a:t>
            </a:r>
            <a:br/>
            <a:r>
              <a:t>治理</a:t>
            </a:r>
            <a:br/>
            <a:r>
              <a:t>Markings</a:t>
            </a:r>
            <a:br/>
            <a:r>
              <a:t>RBAC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86200"/>
            <a:ext cx="6035040" cy="7772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AI Agent 只能通过 Action/Function 触碰世界 — 不能直读 Dataset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为什么三区并列？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名词/动词/权限一次裁决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避免 LLM 越权写库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Decision Lineage 全审计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这是 AIP 的根基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OSv2 架构演进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索引与查询解耦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743200" cy="2560320"/>
          </a:xfrm>
          <a:prstGeom prst="roundRect">
            <a:avLst/>
          </a:prstGeom>
          <a:solidFill>
            <a:srgbClr val="AAAAA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OSv1 Phonograph</a:t>
            </a:r>
            <a:br/>
            <a:r>
              <a:t>(遗留)</a:t>
            </a:r>
            <a:br/>
            <a:r>
              <a:t>索引+查询耦合</a:t>
            </a:r>
            <a:br/>
            <a:r>
              <a:t>2026 弃用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3200400" cy="256032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OSv2</a:t>
            </a:r>
            <a:br/>
            <a:r>
              <a:t>索引 ‖ 查询</a:t>
            </a:r>
            <a:br/>
            <a:r>
              <a:t>Funnel+CDC</a:t>
            </a:r>
            <a:br/>
            <a:r>
              <a:t>Spark Search Around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46120" y="2651760"/>
            <a:ext cx="13716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为什么重写？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数十亿对象规模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&gt;100K Search Around → Spark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增量索引全对象类型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官方强制迁移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AIP 五模块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全部锚定 Ontology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240280"/>
            <a:ext cx="2560320" cy="123444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Ontology</a:t>
            </a:r>
            <a:br/>
            <a:r>
              <a:t>对象+动作+函数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737360" cy="86868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k-LLM</a:t>
            </a:r>
            <a:br/>
            <a:r>
              <a:t>路由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19" y="1371600"/>
            <a:ext cx="1143001" cy="8686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846320" y="1417320"/>
            <a:ext cx="1737360" cy="86868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Logic</a:t>
            </a:r>
            <a:br/>
            <a:r>
              <a:t>编排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840480" y="1371600"/>
            <a:ext cx="1874520" cy="8686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3749039"/>
            <a:ext cx="1737360" cy="86868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Agent</a:t>
            </a:r>
            <a:br/>
            <a:r>
              <a:t>Studio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417319" y="3246120"/>
            <a:ext cx="1143001" cy="137160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46320" y="3749039"/>
            <a:ext cx="1737360" cy="86868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Assist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3840480" y="3246120"/>
            <a:ext cx="1874520" cy="137160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60320" y="4617720"/>
            <a:ext cx="1737360" cy="86868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Evals</a:t>
            </a:r>
            <a:br/>
            <a:r>
              <a:t>门控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2560320" y="3246120"/>
            <a:ext cx="868680" cy="22402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为什么不是 ChatGPT 套壳？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LLM 只提议，系统执行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HITL 默认暂存 Action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Evals 达标才上生产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k-LLM = 路由+多模型合议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Apollo Hub-Spoke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控制论 · 非 Jenkins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280160"/>
            <a:ext cx="3291840" cy="105156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Hub</a:t>
            </a:r>
            <a:br/>
            <a:r>
              <a:t>Catalog · 约束求解引擎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1920240" cy="1097280"/>
          </a:xfrm>
          <a:prstGeom prst="roundRect">
            <a:avLst/>
          </a:prstGeom>
          <a:solidFill>
            <a:srgbClr val="FDE8D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Spoke</a:t>
            </a:r>
            <a:br/>
            <a:r>
              <a:t>公有云</a:t>
            </a:r>
            <a:br/>
            <a:r>
              <a:t>出站Pull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246120" y="2377440"/>
            <a:ext cx="502919" cy="4114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06040" y="2834640"/>
            <a:ext cx="1920240" cy="1097280"/>
          </a:xfrm>
          <a:prstGeom prst="roundRect">
            <a:avLst/>
          </a:prstGeom>
          <a:solidFill>
            <a:srgbClr val="FDE8D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Spoke</a:t>
            </a:r>
            <a:br/>
            <a:r>
              <a:t>私有云</a:t>
            </a:r>
            <a:br/>
            <a:r>
              <a:t>出站Pull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3749039" y="2377440"/>
            <a:ext cx="1645920" cy="4114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54880" y="2834640"/>
            <a:ext cx="1920240" cy="1097280"/>
          </a:xfrm>
          <a:prstGeom prst="roundRect">
            <a:avLst/>
          </a:prstGeom>
          <a:solidFill>
            <a:srgbClr val="FDE8D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Spoke</a:t>
            </a:r>
            <a:br/>
            <a:r>
              <a:t>气隙边缘</a:t>
            </a:r>
            <a:br/>
            <a:r>
              <a:t>出站Pull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3749039" y="2377440"/>
            <a:ext cx="3794761" cy="41148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4160520"/>
            <a:ext cx="6035040" cy="731520"/>
          </a:xfrm>
          <a:prstGeom prst="roundRect">
            <a:avLst/>
          </a:prstGeom>
          <a:solidFill>
            <a:srgbClr val="1B2A4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无单一目标状态 — Product+Channel+约束 → 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为什么 Spoke 出站？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边缘无需开入站端口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断网重连后收敛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气隙：签名 Artifact Bundle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≠ K8s 替代品，是上层编排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全栈交付链路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914400" cy="123444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硬件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88720" y="244144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234440" y="1828800"/>
            <a:ext cx="914400" cy="123444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Apollo</a:t>
            </a:r>
            <a:br/>
            <a:r>
              <a:t>Bootstrap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244144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94560" y="1828800"/>
            <a:ext cx="914400" cy="1234440"/>
          </a:xfrm>
          <a:prstGeom prst="roundRect">
            <a:avLst/>
          </a:prstGeom>
          <a:solidFill>
            <a:srgbClr val="88888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Rubix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44144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54680" y="1828800"/>
            <a:ext cx="914400" cy="123444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Foundry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" y="244144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14800" y="1828800"/>
            <a:ext cx="914400" cy="123444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Ontology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0" y="244144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74920" y="1828800"/>
            <a:ext cx="914400" cy="12344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AIP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244144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35040" y="1828800"/>
            <a:ext cx="914400" cy="1234440"/>
          </a:xfrm>
          <a:prstGeom prst="roundRect">
            <a:avLst/>
          </a:prstGeom>
          <a:solidFill>
            <a:srgbClr val="2D8A4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用户/Agent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4002405"/>
            <a:ext cx="5212080" cy="2626995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695" y="4389755"/>
            <a:ext cx="4992370" cy="21482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Apollo 保证版本对齐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Ontology 保证语义对齐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AIP 保证行为对齐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300+ 微服务 DAG 拓扑 Plan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失败自动 Rollback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站在巨人的肩膀上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高性能实时决策架构 · 双引擎并行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5214620"/>
            <a:ext cx="6126480" cy="96012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L1 离线本体层</a:t>
            </a:r>
            <a:br/>
            <a:r>
              <a:t>对标 Palantir Ontology</a:t>
            </a:r>
            <a:br/>
            <a:r>
              <a:t>直接复用 · 记性好 · 知识底座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78660"/>
            <a:ext cx="6126480" cy="96012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L3 </a:t>
            </a:r>
            <a:r>
              <a:rPr lang="zh-CN"/>
              <a:t>交付：</a:t>
            </a:r>
            <a:r>
              <a:t>交互界面</a:t>
            </a:r>
            <a:br/>
            <a:r>
              <a:t>对标 Palantir Apollo</a:t>
            </a:r>
            <a:br/>
            <a:r>
              <a:t>直接复用 · 数字孪生大屏 · 运营后台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1234440"/>
            <a:ext cx="4992624" cy="152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L1+L3 复用最佳实践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L2 双引擎并列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AIP=主路 自研=应急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稳+快 双保险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</a:p>
        </p:txBody>
      </p:sp>
      <p:sp>
        <p:nvSpPr>
          <p:cNvPr id="11" name="Rounded Rectangle 6"/>
          <p:cNvSpPr/>
          <p:nvPr/>
        </p:nvSpPr>
        <p:spPr>
          <a:xfrm>
            <a:off x="3155950" y="3957320"/>
            <a:ext cx="3437255" cy="77978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自研引擎(PPR+ANN+EGB) 应急车道</a:t>
            </a:r>
          </a:p>
        </p:txBody>
      </p:sp>
      <p:sp>
        <p:nvSpPr>
          <p:cNvPr id="12" name="Rounded Rectangle 6"/>
          <p:cNvSpPr/>
          <p:nvPr/>
        </p:nvSpPr>
        <p:spPr>
          <a:xfrm>
            <a:off x="457200" y="3497580"/>
            <a:ext cx="6126480" cy="45974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L2 决策层（双引擎并行）</a:t>
            </a:r>
          </a:p>
        </p:txBody>
      </p:sp>
      <p:sp>
        <p:nvSpPr>
          <p:cNvPr id="13" name="Rounded Rectangle 6"/>
          <p:cNvSpPr/>
          <p:nvPr/>
        </p:nvSpPr>
        <p:spPr>
          <a:xfrm>
            <a:off x="457200" y="3957320"/>
            <a:ext cx="2607310" cy="77978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Palantir AIP(K-LLM) 主路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痛点：AIP 主路在电商洪峰的压力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需要 L2 右引擎应急补位，不是替换 AIP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6126480" cy="1234440"/>
          </a:xfrm>
          <a:prstGeom prst="roundRect">
            <a:avLst/>
          </a:prstGeom>
          <a:solidFill>
            <a:srgbClr val="C0392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高并发</a:t>
            </a:r>
            <a:br/>
            <a:r>
              <a:t>直播间一秒几千弹幕</a:t>
            </a:r>
            <a:br/>
            <a:r>
              <a:t>AIP 检索链路太长 → 卡顿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97480"/>
            <a:ext cx="6126480" cy="123444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新场景</a:t>
            </a:r>
            <a:br/>
            <a:r>
              <a:t>「绝绝子」「City不City」</a:t>
            </a:r>
            <a:br/>
            <a:r>
              <a:t>规则库更新跟不上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6126480" cy="12344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成本高</a:t>
            </a:r>
            <a:br/>
            <a:r>
              <a:t>全量走 AIP 重型接口</a:t>
            </a:r>
            <a:br/>
            <a:r>
              <a:t>财务难以承受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577840"/>
            <a:ext cx="6126480" cy="777240"/>
          </a:xfrm>
          <a:prstGeom prst="roundRect">
            <a:avLst/>
          </a:prstGeom>
          <a:solidFill>
            <a:srgbClr val="2D8A4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结论：L2 并列加速引擎，分流减压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1234440"/>
            <a:ext cx="4992624" cy="1527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AIP 仍是主路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洪峰切右引擎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99% 噪音先过滤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各走各的链路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方案：三层架构详解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★ 重点页 · L2 双引擎并列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6126480" cy="86868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L3 交互界面（对标 Palantir Apollo）</a:t>
            </a:r>
            <a:br/>
            <a:r>
              <a:t>数字孪生大屏 · 运营操作后台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6126480" cy="50292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L2 决策层（双引擎并行）— 两个模块并列，互不冲突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0"/>
            <a:ext cx="2926080" cy="141732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Palantir 原生 AIP</a:t>
            </a:r>
            <a:br/>
            <a:r>
              <a:t>(K-LLM)</a:t>
            </a:r>
            <a:br/>
            <a:r>
              <a:t>通用场景标准化决策</a:t>
            </a:r>
            <a:br/>
            <a:r>
              <a:t>检索→生成 【主路】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743200"/>
            <a:ext cx="2926080" cy="1417320"/>
          </a:xfrm>
          <a:prstGeom prst="roundRect">
            <a:avLst/>
          </a:prstGeom>
          <a:solidFill>
            <a:srgbClr val="2D8A4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自研实时决策引擎</a:t>
            </a:r>
            <a:br/>
            <a:r>
              <a:t>(PPR+ANN+EGB)</a:t>
            </a:r>
            <a:br/>
            <a:r>
              <a:t>高并发场景加速</a:t>
            </a:r>
            <a:br/>
            <a:r>
              <a:t>过滤→提纯→快决策【应急车道】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29000" y="3447288"/>
            <a:ext cx="22860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4343400"/>
            <a:ext cx="6126480" cy="96012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L1 离线本体层（对标 Palantir Ontology）</a:t>
            </a:r>
            <a:br/>
            <a:r>
              <a:t>OKF · 知识底座 · 老板熟悉的「知识底座」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左引擎=AIP主路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右引擎=应急补位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环科院→走AIP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马帮直播→走右引擎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互为备份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L2 双引擎运作逻辑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主路 + 应急车道 · 各走各的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2926080" cy="64008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左引擎 AIP 主路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234440"/>
            <a:ext cx="2926080" cy="640080"/>
          </a:xfrm>
          <a:prstGeom prst="roundRect">
            <a:avLst/>
          </a:prstGeom>
          <a:solidFill>
            <a:srgbClr val="2D8A4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右引擎 自研应急车道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2926080" cy="320040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① Ontology 检索</a:t>
            </a:r>
            <a:br/>
            <a:r>
              <a:t>② K-LLM 生成</a:t>
            </a:r>
            <a:br/>
            <a:r>
              <a:t>③ HITL 审批写回</a:t>
            </a:r>
            <a:br/>
            <a:br/>
            <a:r>
              <a:t>场景：</a:t>
            </a:r>
            <a:br/>
            <a:r>
              <a:t>政策查询</a:t>
            </a:r>
            <a:br/>
            <a:r>
              <a:t>常规客服咨询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965960"/>
            <a:ext cx="2926080" cy="3200400"/>
          </a:xfrm>
          <a:prstGeom prst="roundRect">
            <a:avLst/>
          </a:prstGeom>
          <a:solidFill>
            <a:srgbClr val="2D8A4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① PPR 并行分流</a:t>
            </a:r>
            <a:br/>
            <a:r>
              <a:t>② ANN 特征萃取</a:t>
            </a:r>
            <a:br/>
            <a:r>
              <a:t>③ EGB 动态调优</a:t>
            </a:r>
            <a:br/>
            <a:br/>
            <a:r>
              <a:t>场景：</a:t>
            </a:r>
            <a:br/>
            <a:r>
              <a:t>直播间弹幕</a:t>
            </a:r>
            <a:br/>
            <a:r>
              <a:t>订单洪峰</a:t>
            </a:r>
          </a:p>
          <a:p>
            <a:pPr algn="ctr">
              <a:defRPr sz="1600" b="0">
                <a:solidFill>
                  <a:srgbClr val="FFFFFF"/>
                </a:solidFill>
              </a:defRPr>
            </a:pPr>
            <a:r>
              <a:rPr lang="zh-CN"/>
              <a:t>方言网</a:t>
            </a:r>
            <a:r>
              <a:rPr lang="zh-CN"/>
              <a:t>语</a:t>
            </a:r>
            <a:endParaRPr lang="zh-CN"/>
          </a:p>
        </p:txBody>
      </p:sp>
      <p:sp>
        <p:nvSpPr>
          <p:cNvPr id="9" name="Rounded Rectangle 8"/>
          <p:cNvSpPr/>
          <p:nvPr/>
        </p:nvSpPr>
        <p:spPr>
          <a:xfrm>
            <a:off x="457200" y="5349240"/>
            <a:ext cx="6126480" cy="777240"/>
          </a:xfrm>
          <a:prstGeom prst="roundRect">
            <a:avLst/>
          </a:prstGeom>
          <a:solidFill>
            <a:srgbClr val="1B2A4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平时 AIP 主力 · 洪峰自动切右引擎 · 双保险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0568" y="1234440"/>
            <a:ext cx="4992624" cy="545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b="1"/>
              <a:t>检索→生成</a:t>
            </a:r>
            <a:r>
              <a:rPr b="1">
                <a:sym typeface="+mn-ea"/>
              </a:rPr>
              <a:t>→</a:t>
            </a:r>
            <a:r>
              <a:rPr lang="zh-CN" b="1">
                <a:sym typeface="+mn-ea"/>
              </a:rPr>
              <a:t>审批</a:t>
            </a:r>
            <a:r>
              <a:rPr lang="en-US" b="1"/>
              <a:t>:</a:t>
            </a:r>
            <a:endParaRPr b="1"/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en-US" altLang="zh-CN"/>
              <a:t>AIP</a:t>
            </a:r>
            <a:r>
              <a:rPr lang="zh-CN" altLang="en-US"/>
              <a:t>主路：</a:t>
            </a:r>
            <a:r>
              <a:rPr lang="zh-CN" altLang="en-US"/>
              <a:t>类似“政府行政服务大厅”。它讲究的是流程正规、有据可查、层层审批，绝对不能乱。</a:t>
            </a:r>
            <a:endParaRPr lang="zh-CN" altLang="en-US"/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zh-CN" altLang="en-US"/>
              <a:t>先去</a:t>
            </a:r>
            <a:r>
              <a:rPr lang="en-US" altLang="zh-CN"/>
              <a:t>L1</a:t>
            </a:r>
            <a:r>
              <a:rPr lang="zh-CN" altLang="en-US"/>
              <a:t>层那个建好的“本体知识库”里精准捞数据，按图索骥</a:t>
            </a:r>
            <a:endParaRPr lang="zh-CN" altLang="en-US"/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zh-CN" altLang="en-US"/>
              <a:t>再</a:t>
            </a:r>
            <a:r>
              <a:rPr lang="en-US" altLang="zh-CN"/>
              <a:t> K-LLM</a:t>
            </a:r>
            <a:r>
              <a:rPr lang="zh-CN" altLang="en-US"/>
              <a:t>生成：把刚才捞出来的精准数据，喂给大语言模型（</a:t>
            </a:r>
            <a:r>
              <a:rPr lang="en-US" altLang="zh-CN"/>
              <a:t>LLM）</a:t>
            </a:r>
            <a:endParaRPr lang="en-US" altLang="zh-CN"/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en-US" altLang="zh-CN"/>
              <a:t>AI</a:t>
            </a:r>
            <a:r>
              <a:rPr lang="zh-CN" altLang="en-US"/>
              <a:t>生成的内容，不能直接对外发布，必须经过真人（</a:t>
            </a:r>
            <a:r>
              <a:rPr lang="en-US" altLang="zh-CN"/>
              <a:t>Human-in-the-loop）</a:t>
            </a:r>
            <a:r>
              <a:rPr lang="zh-CN" altLang="en-US"/>
              <a:t>看一眼，审核通过后，这个结果不仅会展示给老板看，还会重新写回到底层的数据库</a:t>
            </a:r>
            <a:endParaRPr lang="zh-CN" altLang="en-US"/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sz="1800" b="1">
                <a:sym typeface="+mn-ea"/>
              </a:rPr>
              <a:t>过滤→提纯→快决策</a:t>
            </a:r>
            <a:r>
              <a:rPr lang="en-US" sz="1800" b="1">
                <a:sym typeface="+mn-ea"/>
              </a:rPr>
              <a:t>:</a:t>
            </a:r>
            <a:endParaRPr lang="en-US" sz="1800" b="1">
              <a:sym typeface="+mn-ea"/>
            </a:endParaRP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zh-CN" altLang="en-US">
                <a:sym typeface="+mn-ea"/>
              </a:rPr>
              <a:t>并行分流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：海量的请求拆解成无数个小任务并行</a:t>
            </a:r>
            <a:r>
              <a:rPr lang="zh-CN" altLang="en-US">
                <a:sym typeface="+mn-ea"/>
              </a:rPr>
              <a:t>处理</a:t>
            </a:r>
            <a:endParaRPr lang="zh-CN" altLang="en-US">
              <a:sym typeface="+mn-ea"/>
            </a:endParaRP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zh-CN" altLang="en-US">
                <a:sym typeface="+mn-ea"/>
              </a:rPr>
              <a:t>特征萃取：向量近似最近邻搜索，在毫秒级时间内</a:t>
            </a:r>
            <a:r>
              <a:rPr lang="zh-CN" altLang="en-US">
                <a:sym typeface="+mn-ea"/>
              </a:rPr>
              <a:t>响应</a:t>
            </a:r>
            <a:endParaRPr lang="zh-CN" altLang="en-US">
              <a:sym typeface="+mn-ea"/>
            </a:endParaRP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rPr lang="zh-CN" altLang="en-US">
                <a:sym typeface="+mn-ea"/>
              </a:rPr>
              <a:t>动态调优：机器学习算法，常用于构建实时的在线学习模型，实时计算最优解。它会根据当前的流量趋势、用户情绪、库存余量，甚至地域方言，动态调整回复的策略、语气和优先级。比如检测到广东地区在抢购，立马优先推送广东现货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定价与交付模式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Land-and-Expand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920240" cy="150876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Layer1</a:t>
            </a:r>
            <a:br/>
            <a:r>
              <a:t>平台年费</a:t>
            </a:r>
            <a:br/>
            <a:r>
              <a:t>$5-25M/年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325880"/>
            <a:ext cx="1920240" cy="150876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Layer2</a:t>
            </a:r>
            <a:br/>
            <a:r>
              <a:t>扩展消费</a:t>
            </a:r>
            <a:br/>
            <a:r>
              <a:t>数据源/用户</a:t>
            </a:r>
            <a:br/>
            <a:r>
              <a:t>Ontology/AIP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25880"/>
            <a:ext cx="1920240" cy="1508760"/>
          </a:xfrm>
          <a:prstGeom prst="roundRect">
            <a:avLst/>
          </a:prstGeom>
          <a:solidFill>
            <a:srgbClr val="E86C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Layer3</a:t>
            </a:r>
            <a:br/>
            <a:r>
              <a:t>专业服务</a:t>
            </a:r>
            <a:br/>
            <a:r>
              <a:t>FDE 驻场</a:t>
            </a:r>
            <a:br/>
            <a:r>
              <a:t>$200-500K/人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6035040" cy="960120"/>
          </a:xfrm>
          <a:prstGeom prst="roundRect">
            <a:avLst/>
          </a:prstGeom>
          <a:solidFill>
            <a:srgbClr val="1B2A4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Pilot $1-5M → Enterprise $50-100M+/年 · NRR&gt;118%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6035040" cy="1828800"/>
          </a:xfrm>
          <a:prstGeom prst="roundRect">
            <a:avLst/>
          </a:prstGeom>
          <a:solidFill>
            <a:srgbClr val="2D8A4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你的接项目建议</a:t>
            </a:r>
            <a:br/>
            <a:r>
              <a:t>年费(平台) + 实施费(本体建模) + 按SKU/店铺扩展</a:t>
            </a:r>
            <a:br/>
            <a:r>
              <a:t>先 2周 POC → 3月 MVP → 年框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Palantir 卖「决策能力」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不是按席位卖 SaaS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FDE 前向部署工程师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高切换成本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你可：本体建模费+年维护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AIP × Ontology 时序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用户提问 → Action 写回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965960"/>
            <a:ext cx="868680" cy="7772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用户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235000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188720" y="1965960"/>
            <a:ext cx="868680" cy="7772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k-LLM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57400" y="235000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03120" y="1965960"/>
            <a:ext cx="868680" cy="7772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Logic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235000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17520" y="1965960"/>
            <a:ext cx="868680" cy="7772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86200" y="235000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31920" y="1965960"/>
            <a:ext cx="868680" cy="777240"/>
          </a:xfrm>
          <a:prstGeom prst="roundRect">
            <a:avLst/>
          </a:prstGeom>
          <a:solidFill>
            <a:srgbClr val="6B4C9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HITL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00600" y="235000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46320" y="1965960"/>
            <a:ext cx="868680" cy="77724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Action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0" y="2350008"/>
            <a:ext cx="45720" cy="0"/>
          </a:xfrm>
          <a:prstGeom prst="line">
            <a:avLst/>
          </a:prstGeom>
          <a:ln w="1905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760720" y="1965960"/>
            <a:ext cx="868680" cy="77724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反馈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71800"/>
            <a:ext cx="6035040" cy="2560320"/>
          </a:xfrm>
          <a:prstGeom prst="roundRect">
            <a:avLst/>
          </a:prstGeom>
          <a:solidFill>
            <a:srgbClr val="D5F0D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0">
                <a:solidFill>
                  <a:srgbClr val="2D2D2D"/>
                </a:solidFill>
              </a:defRPr>
            </a:pPr>
            <a:r>
              <a:t>LLM 提议 → 系统确定性执行 → 人类审批 → Funnel 索引 → 边权演化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完整闭环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权限裁剪后的对象进 Prompt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Draft Action 默认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Decision Lineage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对应导购/文案 Buddy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价值总结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CCEE"/>
                </a:solidFill>
              </a:defRPr>
            </a:pPr>
            <a:r>
              <a:t>双引擎并行 · 稳快双保险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920240" cy="2011680"/>
          </a:xfrm>
          <a:prstGeom prst="roundRect">
            <a:avLst/>
          </a:prstGeom>
          <a:solidFill>
            <a:srgbClr val="2E86A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对外</a:t>
            </a:r>
            <a:br/>
            <a:r>
              <a:t>Palantir 故事</a:t>
            </a:r>
            <a:br/>
            <a:r>
              <a:t>L1本体+L3交互界面</a:t>
            </a:r>
            <a:br/>
            <a:r>
              <a:t>全球最佳实践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2011680"/>
          </a:xfrm>
          <a:prstGeom prst="roundRect">
            <a:avLst/>
          </a:prstGeom>
          <a:solidFill>
            <a:srgbClr val="1A7A6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对内</a:t>
            </a:r>
            <a:br/>
            <a:r>
              <a:t>L2 双引擎</a:t>
            </a:r>
            <a:br/>
            <a:r>
              <a:t>AIP主路+</a:t>
            </a:r>
            <a:br/>
            <a:r>
              <a:t>自研应急补位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280160"/>
            <a:ext cx="1920240" cy="2011680"/>
          </a:xfrm>
          <a:prstGeom prst="roundRect">
            <a:avLst/>
          </a:prstGeom>
          <a:solidFill>
            <a:srgbClr val="2D8A4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结果</a:t>
            </a:r>
            <a:br/>
            <a:r>
              <a:t>高并发实时</a:t>
            </a:r>
            <a:br/>
            <a:r>
              <a:t>决策系统</a:t>
            </a:r>
            <a:br/>
            <a:r>
              <a:t>稳快双保险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20440"/>
            <a:ext cx="6126480" cy="2377440"/>
          </a:xfrm>
          <a:prstGeom prst="roundRect">
            <a:avLst/>
          </a:prstGeom>
          <a:solidFill>
            <a:srgbClr val="1B2A4A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不是替代 AIP，是并列补充</a:t>
            </a:r>
            <a:br/>
            <a:br/>
            <a:r>
              <a:t>AIP 走「检索→生成」主路（政策查询·常规客服）</a:t>
            </a:r>
            <a:br/>
            <a:r>
              <a:t>自研引擎走「过滤→提纯→快决策」应急车道（直播弹幕·洪峰）</a:t>
            </a:r>
            <a:br/>
            <a:br/>
            <a:r>
              <a:t>Palantir 负责「稳」，自研引擎负责「快」</a:t>
            </a:r>
            <a:br/>
            <a:r>
              <a:t>平时 AIP 主力，洪峰自动补位，双保险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143000"/>
            <a:ext cx="5212080" cy="5486400"/>
          </a:xfrm>
          <a:prstGeom prst="round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0568" y="1234440"/>
            <a:ext cx="4992624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M7-5 白皮书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M7-6 v2.0 双引擎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M7-4 BDNS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本 PPT v2.2</a:t>
            </a:r>
          </a:p>
          <a:p>
            <a:pPr>
              <a:spcAft>
                <a:spcPts val="400"/>
              </a:spcAft>
              <a:defRPr sz="1600">
                <a:solidFill>
                  <a:srgbClr val="2D2D2D"/>
                </a:solidFill>
              </a:defRPr>
            </a:pPr>
            <a:r>
              <a:t>解析和优化版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3955</Words>
  <Application>WPS 演示</Application>
  <PresentationFormat>On-screen Show (4:3)</PresentationFormat>
  <Paragraphs>340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杜大同(菜鸟-地网运输技术部 剑笑)</cp:lastModifiedBy>
  <cp:revision>29</cp:revision>
  <dcterms:created xsi:type="dcterms:W3CDTF">2013-01-27T09:14:00Z</dcterms:created>
  <dcterms:modified xsi:type="dcterms:W3CDTF">2026-07-13T01:57:56Z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3CC90496D21F4C5C8D79FDE143EE6105_12</vt:lpwstr>
  </property>
  <property fmtid="{D5CDD505-2E9C-101B-9397-08002B2CF9AE}" pid="3" name="KSOProductBuildVer">
    <vt:lpwstr>2052-12.1.0.26895</vt:lpwstr>
  </property>
</Properties>
</file>