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0.png"/><Relationship Id="rId3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30.png"/><Relationship Id="rId2" Type="http://schemas.openxmlformats.org/officeDocument/2006/relationships/image" Target="../media/image19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91440"/>
            <a:ext cx="2560320" cy="2560320"/>
          </a:xfrm>
          <a:prstGeom prst="ellipse">
            <a:avLst/>
          </a:prstGeom>
          <a:solidFill>
            <a:srgbClr val="00D4FF">
              <a:alpha val="15000"/>
            </a:srgbClr>
          </a:solidFill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548640"/>
            <a:ext cx="1280160" cy="12801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kern="0" spc="14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PALANTIR</a:t>
            </a:r>
            <a:endParaRPr lang="en-US" sz="6000" dirty="0"/>
          </a:p>
        </p:txBody>
      </p:sp>
      <p:sp>
        <p:nvSpPr>
          <p:cNvPr id="24" name="Text 2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80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THE ONE WHO SEES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474720" y="3657600"/>
            <a:ext cx="2194560" cy="2286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6" name="Text 23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从混沌数据到清晰决策 — 下一代企业操作系统的崛起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为传统SaaS决策者准备 · 2026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/ 23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数据的黑暗时代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57200" y="731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企业正在被数据淹没，而不是被数据赋能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1280160"/>
            <a:ext cx="2606040" cy="265176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1280160"/>
            <a:ext cx="45720" cy="2651760"/>
          </a:xfrm>
          <a:prstGeom prst="rect">
            <a:avLst/>
          </a:prstGeom>
          <a:solidFill>
            <a:srgbClr val="FF3B3B"/>
          </a:solidFill>
        </p:spPr>
      </p:sp>
      <p:sp>
        <p:nvSpPr>
          <p:cNvPr id="25" name="Shape 23"/>
          <p:cNvSpPr/>
          <p:nvPr/>
        </p:nvSpPr>
        <p:spPr>
          <a:xfrm>
            <a:off x="1371600" y="1463040"/>
            <a:ext cx="640080" cy="640080"/>
          </a:xfrm>
          <a:prstGeom prst="ellipse">
            <a:avLst/>
          </a:prstGeom>
          <a:solidFill>
            <a:srgbClr val="FF3B3B">
              <a:alpha val="15000"/>
            </a:srgbClr>
          </a:solidFill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08760"/>
            <a:ext cx="457200" cy="4572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94360" y="219456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3B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4000" dirty="0"/>
          </a:p>
        </p:txBody>
      </p:sp>
      <p:sp>
        <p:nvSpPr>
          <p:cNvPr id="28" name="Text 25"/>
          <p:cNvSpPr/>
          <p:nvPr/>
        </p:nvSpPr>
        <p:spPr>
          <a:xfrm>
            <a:off x="594360" y="306324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企业数据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从未被用于分析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91840" y="1280160"/>
            <a:ext cx="2606040" cy="265176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291840" y="1280160"/>
            <a:ext cx="45720" cy="265176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1" name="Shape 28"/>
          <p:cNvSpPr/>
          <p:nvPr/>
        </p:nvSpPr>
        <p:spPr>
          <a:xfrm>
            <a:off x="4206240" y="1463040"/>
            <a:ext cx="640080" cy="640080"/>
          </a:xfrm>
          <a:prstGeom prst="ellipse">
            <a:avLst/>
          </a:prstGeom>
          <a:solidFill>
            <a:srgbClr val="00D4FF">
              <a:alpha val="15000"/>
            </a:srgbClr>
          </a:solidFill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08760"/>
            <a:ext cx="457200" cy="4572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429000" y="219456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2.5 EB</a:t>
            </a:r>
            <a:endParaRPr lang="en-US" sz="4000" dirty="0"/>
          </a:p>
        </p:txBody>
      </p:sp>
      <p:sp>
        <p:nvSpPr>
          <p:cNvPr id="34" name="Text 30"/>
          <p:cNvSpPr/>
          <p:nvPr/>
        </p:nvSpPr>
        <p:spPr>
          <a:xfrm>
            <a:off x="3429000" y="306324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每天全球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产生的数据量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126480" y="1280160"/>
            <a:ext cx="2606040" cy="265176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126480" y="1280160"/>
            <a:ext cx="45720" cy="2651760"/>
          </a:xfrm>
          <a:prstGeom prst="rect">
            <a:avLst/>
          </a:prstGeom>
          <a:solidFill>
            <a:srgbClr val="F0B429"/>
          </a:solidFill>
        </p:spPr>
      </p:sp>
      <p:sp>
        <p:nvSpPr>
          <p:cNvPr id="37" name="Shape 33"/>
          <p:cNvSpPr/>
          <p:nvPr/>
        </p:nvSpPr>
        <p:spPr>
          <a:xfrm>
            <a:off x="7040880" y="1463040"/>
            <a:ext cx="640080" cy="640080"/>
          </a:xfrm>
          <a:prstGeom prst="ellipse">
            <a:avLst/>
          </a:prstGeom>
          <a:solidFill>
            <a:srgbClr val="F0B429">
              <a:alpha val="15000"/>
            </a:srgbClr>
          </a:solidFill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508760"/>
            <a:ext cx="457200" cy="45720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263640" y="2194560"/>
            <a:ext cx="23317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$12.9M</a:t>
            </a:r>
            <a:endParaRPr lang="en-US" sz="4000" dirty="0"/>
          </a:p>
        </p:txBody>
      </p:sp>
      <p:sp>
        <p:nvSpPr>
          <p:cNvPr id="40" name="Text 35"/>
          <p:cNvSpPr/>
          <p:nvPr/>
        </p:nvSpPr>
        <p:spPr>
          <a:xfrm>
            <a:off x="6263640" y="306324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企业每年因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数据质量差的损失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F3B3B">
              <a:alpha val="10000"/>
            </a:srgbClr>
          </a:solidFill>
        </p:spPr>
      </p:sp>
      <p:sp>
        <p:nvSpPr>
          <p:cNvPr id="42" name="Shape 37"/>
          <p:cNvSpPr/>
          <p:nvPr/>
        </p:nvSpPr>
        <p:spPr>
          <a:xfrm>
            <a:off x="457200" y="4206240"/>
            <a:ext cx="45720" cy="640080"/>
          </a:xfrm>
          <a:prstGeom prst="rect">
            <a:avLst/>
          </a:prstGeom>
          <a:solidFill>
            <a:srgbClr val="FF3B3B"/>
          </a:solidFill>
        </p:spPr>
      </p:sp>
      <p:sp>
        <p:nvSpPr>
          <p:cNvPr id="43" name="Text 38"/>
          <p:cNvSpPr/>
          <p:nvPr/>
        </p:nvSpPr>
        <p:spPr>
          <a:xfrm>
            <a:off x="731520" y="425196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企业不缺数据 — 缺的是将数据转化为行动的能力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/ 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传统SaaS的困局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457200" y="1097280"/>
            <a:ext cx="2011680" cy="640080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23" name="Text 21"/>
          <p:cNvSpPr/>
          <p:nvPr/>
        </p:nvSpPr>
        <p:spPr>
          <a:xfrm>
            <a:off x="457200" y="109728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3B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463040" y="1737360"/>
            <a:ext cx="0" cy="228600"/>
          </a:xfrm>
          <a:prstGeom prst="line">
            <a:avLst/>
          </a:prstGeom>
          <a:noFill/>
          <a:ln w="12700">
            <a:solidFill>
              <a:srgbClr val="FF3B3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57200" y="1965960"/>
            <a:ext cx="2011680" cy="640080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26" name="Text 24"/>
          <p:cNvSpPr/>
          <p:nvPr/>
        </p:nvSpPr>
        <p:spPr>
          <a:xfrm>
            <a:off x="457200" y="196596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3B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ERP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463040" y="2606040"/>
            <a:ext cx="0" cy="228600"/>
          </a:xfrm>
          <a:prstGeom prst="line">
            <a:avLst/>
          </a:prstGeom>
          <a:noFill/>
          <a:ln w="12700">
            <a:solidFill>
              <a:srgbClr val="FF3B3B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57200" y="2834640"/>
            <a:ext cx="2011680" cy="640080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29" name="Text 27"/>
          <p:cNvSpPr/>
          <p:nvPr/>
        </p:nvSpPr>
        <p:spPr>
          <a:xfrm>
            <a:off x="457200" y="283464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3B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BI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463040" y="3474720"/>
            <a:ext cx="0" cy="228600"/>
          </a:xfrm>
          <a:prstGeom prst="line">
            <a:avLst/>
          </a:prstGeom>
          <a:noFill/>
          <a:ln w="12700">
            <a:solidFill>
              <a:srgbClr val="FF3B3B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457200" y="3703320"/>
            <a:ext cx="2011680" cy="640080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32" name="Text 30"/>
          <p:cNvSpPr/>
          <p:nvPr/>
        </p:nvSpPr>
        <p:spPr>
          <a:xfrm>
            <a:off x="457200" y="370332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3B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Lake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45720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3B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数据孤岛 · 互不连通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926080" y="1097280"/>
            <a:ext cx="5760720" cy="96012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926080" y="1097280"/>
            <a:ext cx="54864" cy="960120"/>
          </a:xfrm>
          <a:prstGeom prst="rect">
            <a:avLst/>
          </a:prstGeom>
          <a:solidFill>
            <a:srgbClr val="FF3B3B"/>
          </a:solidFill>
        </p:spPr>
      </p:sp>
      <p:sp>
        <p:nvSpPr>
          <p:cNvPr id="36" name="Text 34"/>
          <p:cNvSpPr/>
          <p:nvPr/>
        </p:nvSpPr>
        <p:spPr>
          <a:xfrm>
            <a:off x="3200400" y="1170432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点对点集成陷阱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200400" y="150876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N个系统需要 N×(N-1)/2 个连接器。每增加一个系统，复杂度指数级增长。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926080" y="2240280"/>
            <a:ext cx="5760720" cy="96012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926080" y="2240280"/>
            <a:ext cx="54864" cy="960120"/>
          </a:xfrm>
          <a:prstGeom prst="rect">
            <a:avLst/>
          </a:prstGeom>
          <a:solidFill>
            <a:srgbClr val="F0B429"/>
          </a:solidFill>
        </p:spPr>
      </p:sp>
      <p:sp>
        <p:nvSpPr>
          <p:cNvPr id="40" name="Text 38"/>
          <p:cNvSpPr/>
          <p:nvPr/>
        </p:nvSpPr>
        <p:spPr>
          <a:xfrm>
            <a:off x="3200400" y="2313432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功能堆叠 ≠ 价值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3200400" y="265176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SaaS卖的是Feature，不是决策。用户在10个工具间切换，无法形成统一业务视图。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926080" y="3383280"/>
            <a:ext cx="5760720" cy="96012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926080" y="3383280"/>
            <a:ext cx="54864" cy="9601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44" name="Text 42"/>
          <p:cNvSpPr/>
          <p:nvPr/>
        </p:nvSpPr>
        <p:spPr>
          <a:xfrm>
            <a:off x="3200400" y="3456432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AI停留在「玩具」阶段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3200400" y="379476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大模型无法触及真实业务数据和流程，成了高级Chatbot而非决策引擎。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/ 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起源：从反恐到商业世界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1280160" y="1234440"/>
            <a:ext cx="6583680" cy="0"/>
          </a:xfrm>
          <a:prstGeom prst="line">
            <a:avLst/>
          </a:prstGeom>
          <a:noFill/>
          <a:ln w="25400">
            <a:solidFill>
              <a:srgbClr val="F0B42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1097280"/>
            <a:ext cx="274320" cy="274320"/>
          </a:xfrm>
          <a:prstGeom prst="ellipse">
            <a:avLst/>
          </a:prstGeom>
          <a:solidFill>
            <a:srgbClr val="F0B429"/>
          </a:solidFill>
        </p:spPr>
      </p:sp>
      <p:sp>
        <p:nvSpPr>
          <p:cNvPr id="24" name="Text 22"/>
          <p:cNvSpPr/>
          <p:nvPr/>
        </p:nvSpPr>
        <p:spPr>
          <a:xfrm>
            <a:off x="365760" y="1463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2003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rgbClr val="F0B429">
              <a:alpha val="15000"/>
            </a:srgbClr>
          </a:solidFill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11680"/>
            <a:ext cx="548640" cy="54864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411480" y="2880360"/>
            <a:ext cx="1737360" cy="146304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02920" y="2971800"/>
            <a:ext cx="15544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Peter Thiel 创立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PayPal Mafia成员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「魔戒」真知晶石命名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337560" y="1097280"/>
            <a:ext cx="274320" cy="274320"/>
          </a:xfrm>
          <a:prstGeom prst="ellipse">
            <a:avLst/>
          </a:prstGeom>
          <a:solidFill>
            <a:srgbClr val="FF3B3B"/>
          </a:solidFill>
        </p:spPr>
      </p:sp>
      <p:sp>
        <p:nvSpPr>
          <p:cNvPr id="30" name="Text 27"/>
          <p:cNvSpPr/>
          <p:nvPr/>
        </p:nvSpPr>
        <p:spPr>
          <a:xfrm>
            <a:off x="2560320" y="1463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3B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2005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3063240" y="1920240"/>
            <a:ext cx="822960" cy="822960"/>
          </a:xfrm>
          <a:prstGeom prst="ellipse">
            <a:avLst/>
          </a:prstGeom>
          <a:solidFill>
            <a:srgbClr val="FF3B3B">
              <a:alpha val="15000"/>
            </a:srgbClr>
          </a:solidFill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011680"/>
            <a:ext cx="548640" cy="548640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2606040" y="2880360"/>
            <a:ext cx="1737360" cy="146304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Text 30"/>
          <p:cNvSpPr/>
          <p:nvPr/>
        </p:nvSpPr>
        <p:spPr>
          <a:xfrm>
            <a:off x="2697480" y="2971800"/>
            <a:ext cx="15544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首个客户 CIA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反恐情报分析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证明数据整合价值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5532120" y="1097280"/>
            <a:ext cx="274320" cy="274320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36" name="Text 32"/>
          <p:cNvSpPr/>
          <p:nvPr/>
        </p:nvSpPr>
        <p:spPr>
          <a:xfrm>
            <a:off x="4754880" y="1463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2016</a:t>
            </a:r>
            <a:endParaRPr lang="en-US" sz="2200" dirty="0"/>
          </a:p>
        </p:txBody>
      </p:sp>
      <p:sp>
        <p:nvSpPr>
          <p:cNvPr id="37" name="Shape 33"/>
          <p:cNvSpPr/>
          <p:nvPr/>
        </p:nvSpPr>
        <p:spPr>
          <a:xfrm>
            <a:off x="5257800" y="1920240"/>
            <a:ext cx="822960" cy="822960"/>
          </a:xfrm>
          <a:prstGeom prst="ellipse">
            <a:avLst/>
          </a:prstGeom>
          <a:solidFill>
            <a:srgbClr val="00D4FF">
              <a:alpha val="15000"/>
            </a:srgbClr>
          </a:solidFill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011680"/>
            <a:ext cx="548640" cy="548640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4800600" y="2880360"/>
            <a:ext cx="1737360" cy="146304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Text 35"/>
          <p:cNvSpPr/>
          <p:nvPr/>
        </p:nvSpPr>
        <p:spPr>
          <a:xfrm>
            <a:off x="4892040" y="2971800"/>
            <a:ext cx="15544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推出 Foundry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进军商业市场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 Fortune 500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7726680" y="1097280"/>
            <a:ext cx="274320" cy="274320"/>
          </a:xfrm>
          <a:prstGeom prst="ellipse">
            <a:avLst/>
          </a:prstGeom>
          <a:solidFill>
            <a:srgbClr val="F0B429"/>
          </a:solidFill>
        </p:spPr>
      </p:sp>
      <p:sp>
        <p:nvSpPr>
          <p:cNvPr id="42" name="Text 37"/>
          <p:cNvSpPr/>
          <p:nvPr/>
        </p:nvSpPr>
        <p:spPr>
          <a:xfrm>
            <a:off x="6949440" y="1463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2023</a:t>
            </a:r>
            <a:endParaRPr lang="en-US" sz="2200" dirty="0"/>
          </a:p>
        </p:txBody>
      </p:sp>
      <p:sp>
        <p:nvSpPr>
          <p:cNvPr id="43" name="Shape 38"/>
          <p:cNvSpPr/>
          <p:nvPr/>
        </p:nvSpPr>
        <p:spPr>
          <a:xfrm>
            <a:off x="7452360" y="1920240"/>
            <a:ext cx="822960" cy="822960"/>
          </a:xfrm>
          <a:prstGeom prst="ellipse">
            <a:avLst/>
          </a:prstGeom>
          <a:solidFill>
            <a:srgbClr val="F0B429">
              <a:alpha val="15000"/>
            </a:srgbClr>
          </a:solidFill>
        </p:spPr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011680"/>
            <a:ext cx="548640" cy="548640"/>
          </a:xfrm>
          <a:prstGeom prst="rect">
            <a:avLst/>
          </a:prstGeom>
        </p:spPr>
      </p:pic>
      <p:sp>
        <p:nvSpPr>
          <p:cNvPr id="45" name="Shape 39"/>
          <p:cNvSpPr/>
          <p:nvPr/>
        </p:nvSpPr>
        <p:spPr>
          <a:xfrm>
            <a:off x="6995160" y="2880360"/>
            <a:ext cx="1737360" cy="146304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6" name="Text 40"/>
          <p:cNvSpPr/>
          <p:nvPr/>
        </p:nvSpPr>
        <p:spPr>
          <a:xfrm>
            <a:off x="7086600" y="2971800"/>
            <a:ext cx="15544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 AIP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+ Ontology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引爆AI落地革命</a:t>
            </a:r>
            <a:endParaRPr lang="en-US" sz="1050" dirty="0"/>
          </a:p>
        </p:txBody>
      </p:sp>
      <p:sp>
        <p:nvSpPr>
          <p:cNvPr id="47" name="Text 41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"我们构建的软件让组织能够整合数据、决策和运营" — Alex Karp, CEO</a:t>
            </a:r>
            <a:endParaRPr lang="en-US" sz="1000" dirty="0"/>
          </a:p>
        </p:txBody>
      </p:sp>
      <p:sp>
        <p:nvSpPr>
          <p:cNvPr id="48" name="Text 42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/ 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核心理念：增强人类，而非替代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320040" y="1051560"/>
            <a:ext cx="2697480" cy="365760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1051560"/>
            <a:ext cx="2697480" cy="54864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4" name="Shape 22"/>
          <p:cNvSpPr/>
          <p:nvPr/>
        </p:nvSpPr>
        <p:spPr>
          <a:xfrm>
            <a:off x="1097280" y="1280160"/>
            <a:ext cx="1097280" cy="1097280"/>
          </a:xfrm>
          <a:prstGeom prst="ellipse">
            <a:avLst/>
          </a:prstGeom>
          <a:solidFill>
            <a:srgbClr val="00D4FF">
              <a:alpha val="15000"/>
            </a:srgbClr>
          </a:solidFill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417320"/>
            <a:ext cx="731520" cy="7315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11480" y="246888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本体论思维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Ontology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11480" y="3291840"/>
            <a:ext cx="2514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用「数字孪生」映射真实世界的人、事、物及其关系。不是表格，是活的业务模型。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46120" y="1051560"/>
            <a:ext cx="2697480" cy="365760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246120" y="1051560"/>
            <a:ext cx="2697480" cy="54864"/>
          </a:xfrm>
          <a:prstGeom prst="rect">
            <a:avLst/>
          </a:prstGeom>
          <a:solidFill>
            <a:srgbClr val="F0B429"/>
          </a:solidFill>
        </p:spPr>
      </p:sp>
      <p:sp>
        <p:nvSpPr>
          <p:cNvPr id="30" name="Shape 27"/>
          <p:cNvSpPr/>
          <p:nvPr/>
        </p:nvSpPr>
        <p:spPr>
          <a:xfrm>
            <a:off x="4023360" y="1280160"/>
            <a:ext cx="1097280" cy="1097280"/>
          </a:xfrm>
          <a:prstGeom prst="ellipse">
            <a:avLst/>
          </a:prstGeom>
          <a:solidFill>
            <a:srgbClr val="F0B429">
              <a:alpha val="15000"/>
            </a:srgbClr>
          </a:solidFill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17320"/>
            <a:ext cx="731520" cy="73152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3337560" y="246888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人机协同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3337560" y="3291840"/>
            <a:ext cx="2514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AI负责分析推荐，人类负责判断决策。不是自动驾驶，是战斗机的HUD。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6172200" y="1051560"/>
            <a:ext cx="2697480" cy="365760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172200" y="1051560"/>
            <a:ext cx="2697480" cy="54864"/>
          </a:xfrm>
          <a:prstGeom prst="rect">
            <a:avLst/>
          </a:prstGeom>
          <a:solidFill>
            <a:srgbClr val="00E676"/>
          </a:solidFill>
        </p:spPr>
      </p:sp>
      <p:sp>
        <p:nvSpPr>
          <p:cNvPr id="36" name="Shape 32"/>
          <p:cNvSpPr/>
          <p:nvPr/>
        </p:nvSpPr>
        <p:spPr>
          <a:xfrm>
            <a:off x="6949440" y="1280160"/>
            <a:ext cx="1097280" cy="1097280"/>
          </a:xfrm>
          <a:prstGeom prst="ellipse">
            <a:avLst/>
          </a:prstGeom>
          <a:solidFill>
            <a:srgbClr val="00E676">
              <a:alpha val="15000"/>
            </a:srgbClr>
          </a:solidFill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417320"/>
            <a:ext cx="731520" cy="73152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6263640" y="246888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数据→决策→行动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Data → Action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6263640" y="3291840"/>
            <a:ext cx="2514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不止看到洞察，直接触发业务操作。从「我知道了」到「我做了」。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/ 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Palantir ≠ 传统SaaS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1C3356"/>
          </a:solidFill>
        </p:spPr>
      </p:sp>
      <p:sp>
        <p:nvSpPr>
          <p:cNvPr id="23" name="Text 21"/>
          <p:cNvSpPr/>
          <p:nvPr/>
        </p:nvSpPr>
        <p:spPr>
          <a:xfrm>
            <a:off x="548640" y="10058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100584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3B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传统SaaS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10058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Palantir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27" name="Text 25"/>
          <p:cNvSpPr/>
          <p:nvPr/>
        </p:nvSpPr>
        <p:spPr>
          <a:xfrm>
            <a:off x="548640" y="150876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核心逻辑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86000" y="150876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功能模块（卖Feature）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03520" y="150876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数字孪生操作系统（卖Ontology）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solidFill>
            <a:srgbClr val="121929"/>
          </a:solidFill>
        </p:spPr>
      </p:sp>
      <p:sp>
        <p:nvSpPr>
          <p:cNvPr id="31" name="Text 29"/>
          <p:cNvSpPr/>
          <p:nvPr/>
        </p:nvSpPr>
        <p:spPr>
          <a:xfrm>
            <a:off x="548640" y="205740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数据处理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286000" y="205740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ETL + 数据仓库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303520" y="205740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 Pipeline + 语义层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35" name="Text 33"/>
          <p:cNvSpPr/>
          <p:nvPr/>
        </p:nvSpPr>
        <p:spPr>
          <a:xfrm>
            <a:off x="548640" y="260604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AI策略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286000" y="260604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独立AI助手 / Chatbot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303520" y="260604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AI嵌入业务流程 + 决策链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solidFill>
            <a:srgbClr val="121929"/>
          </a:solidFill>
        </p:spPr>
      </p:sp>
      <p:sp>
        <p:nvSpPr>
          <p:cNvPr id="39" name="Text 37"/>
          <p:cNvSpPr/>
          <p:nvPr/>
        </p:nvSpPr>
        <p:spPr>
          <a:xfrm>
            <a:off x="548640" y="315468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集成方式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286000" y="315468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API点对点连接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303520" y="315468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统一Ontology + 自动映射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3703320"/>
            <a:ext cx="8229600" cy="502920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43" name="Text 41"/>
          <p:cNvSpPr/>
          <p:nvPr/>
        </p:nvSpPr>
        <p:spPr>
          <a:xfrm>
            <a:off x="548640" y="370332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扩展模式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286000" y="370332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增加License / 购买新模块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303520" y="370332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复用Ontology + 零边际成本扩展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121929"/>
          </a:solidFill>
        </p:spPr>
      </p:sp>
      <p:sp>
        <p:nvSpPr>
          <p:cNvPr id="47" name="Text 45"/>
          <p:cNvSpPr/>
          <p:nvPr/>
        </p:nvSpPr>
        <p:spPr>
          <a:xfrm>
            <a:off x="548640" y="425196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最终价值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2286000" y="425196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数据可视化 → 看报表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303520" y="425196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数据行动化 → 做决策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194560" y="1005840"/>
            <a:ext cx="0" cy="3794760"/>
          </a:xfrm>
          <a:prstGeom prst="line">
            <a:avLst/>
          </a:prstGeom>
          <a:noFill/>
          <a:ln w="12700">
            <a:solidFill>
              <a:srgbClr val="1F2B4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12080" y="1005840"/>
            <a:ext cx="0" cy="3794760"/>
          </a:xfrm>
          <a:prstGeom prst="line">
            <a:avLst/>
          </a:prstGeom>
          <a:noFill/>
          <a:ln w="12700">
            <a:solidFill>
              <a:srgbClr val="1F2B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/ 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三大平台：Gotham · Foundry · AIP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320040" y="1005840"/>
            <a:ext cx="2697480" cy="356616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1005840"/>
            <a:ext cx="2697480" cy="54864"/>
          </a:xfrm>
          <a:prstGeom prst="rect">
            <a:avLst/>
          </a:prstGeom>
          <a:solidFill>
            <a:srgbClr val="FF3B3B"/>
          </a:solidFill>
        </p:spPr>
      </p:sp>
      <p:sp>
        <p:nvSpPr>
          <p:cNvPr id="24" name="Shape 22"/>
          <p:cNvSpPr/>
          <p:nvPr/>
        </p:nvSpPr>
        <p:spPr>
          <a:xfrm>
            <a:off x="1097280" y="1188720"/>
            <a:ext cx="1097280" cy="1097280"/>
          </a:xfrm>
          <a:prstGeom prst="ellipse">
            <a:avLst/>
          </a:prstGeom>
          <a:solidFill>
            <a:srgbClr val="FF3B3B">
              <a:alpha val="15000"/>
            </a:srgbClr>
          </a:solidFill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325880"/>
            <a:ext cx="731520" cy="7315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11480" y="23774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kern="0" spc="400" dirty="0">
                <a:solidFill>
                  <a:srgbClr val="FF3B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GOTHAM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411480" y="278892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情报与国防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11480" y="3154680"/>
            <a:ext cx="2514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实时态势感知、目标追踪、任务规划。美军TITAN系统核心。Maven AI战场引擎。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246120" y="1005840"/>
            <a:ext cx="2697480" cy="356616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246120" y="1005840"/>
            <a:ext cx="2697480" cy="54864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1" name="Shape 28"/>
          <p:cNvSpPr/>
          <p:nvPr/>
        </p:nvSpPr>
        <p:spPr>
          <a:xfrm>
            <a:off x="4023360" y="1188720"/>
            <a:ext cx="1097280" cy="1097280"/>
          </a:xfrm>
          <a:prstGeom prst="ellipse">
            <a:avLst/>
          </a:prstGeom>
          <a:solidFill>
            <a:srgbClr val="00D4FF">
              <a:alpha val="15000"/>
            </a:srgbClr>
          </a:solidFill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325880"/>
            <a:ext cx="731520" cy="73152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3337560" y="23774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kern="0" spc="40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FOUNDRY</a:t>
            </a:r>
            <a:endParaRPr lang="en-US" sz="2400" dirty="0"/>
          </a:p>
        </p:txBody>
      </p:sp>
      <p:sp>
        <p:nvSpPr>
          <p:cNvPr id="34" name="Text 30"/>
          <p:cNvSpPr/>
          <p:nvPr/>
        </p:nvSpPr>
        <p:spPr>
          <a:xfrm>
            <a:off x="3337560" y="278892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企业数据OS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3337560" y="3154680"/>
            <a:ext cx="2514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统一数据管道、Ontology本体层、应用构建。编织所有数据源为可操作数字孪生。</a:t>
            </a:r>
            <a:endParaRPr lang="en-US" sz="1050" dirty="0"/>
          </a:p>
        </p:txBody>
      </p:sp>
      <p:sp>
        <p:nvSpPr>
          <p:cNvPr id="36" name="Shape 32"/>
          <p:cNvSpPr/>
          <p:nvPr/>
        </p:nvSpPr>
        <p:spPr>
          <a:xfrm>
            <a:off x="6172200" y="1005840"/>
            <a:ext cx="2697480" cy="356616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172200" y="1005840"/>
            <a:ext cx="2697480" cy="54864"/>
          </a:xfrm>
          <a:prstGeom prst="rect">
            <a:avLst/>
          </a:prstGeom>
          <a:solidFill>
            <a:srgbClr val="F0B429"/>
          </a:solidFill>
        </p:spPr>
      </p:sp>
      <p:sp>
        <p:nvSpPr>
          <p:cNvPr id="38" name="Shape 34"/>
          <p:cNvSpPr/>
          <p:nvPr/>
        </p:nvSpPr>
        <p:spPr>
          <a:xfrm>
            <a:off x="6949440" y="1188720"/>
            <a:ext cx="1097280" cy="1097280"/>
          </a:xfrm>
          <a:prstGeom prst="ellipse">
            <a:avLst/>
          </a:prstGeom>
          <a:solidFill>
            <a:srgbClr val="F0B429">
              <a:alpha val="15000"/>
            </a:srgbClr>
          </a:solidFill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25880"/>
            <a:ext cx="731520" cy="73152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263640" y="2377440"/>
            <a:ext cx="2514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kern="0" spc="400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AIP</a:t>
            </a:r>
            <a:endParaRPr lang="en-US" sz="2400" dirty="0"/>
          </a:p>
        </p:txBody>
      </p:sp>
      <p:sp>
        <p:nvSpPr>
          <p:cNvPr id="41" name="Text 36"/>
          <p:cNvSpPr/>
          <p:nvPr/>
        </p:nvSpPr>
        <p:spPr>
          <a:xfrm>
            <a:off x="6263640" y="278892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AI决策引擎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6263640" y="3154680"/>
            <a:ext cx="25146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LLM+Ontology深度融合。Agent Studio构建AI代理，Logic编排决策，Evals持续优化。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1C3356"/>
          </a:solidFill>
        </p:spPr>
      </p:sp>
      <p:sp>
        <p:nvSpPr>
          <p:cNvPr id="44" name="Text 3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共享基座: Ontology（本体层）+ Apollo（自治部署）+ 数据安全与治理框架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 / 23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Foundry 架构：三层引擎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457200" y="1005840"/>
            <a:ext cx="8229600" cy="105156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1005840"/>
            <a:ext cx="64008" cy="1051560"/>
          </a:xfrm>
          <a:prstGeom prst="rect">
            <a:avLst/>
          </a:prstGeom>
          <a:solidFill>
            <a:srgbClr val="F0B429"/>
          </a:solidFill>
        </p:spPr>
      </p:sp>
      <p:sp>
        <p:nvSpPr>
          <p:cNvPr id="24" name="Shape 22"/>
          <p:cNvSpPr/>
          <p:nvPr/>
        </p:nvSpPr>
        <p:spPr>
          <a:xfrm>
            <a:off x="731520" y="1143000"/>
            <a:ext cx="777240" cy="777240"/>
          </a:xfrm>
          <a:prstGeom prst="ellipse">
            <a:avLst/>
          </a:prstGeom>
          <a:solidFill>
            <a:srgbClr val="F0B429">
              <a:alpha val="15000"/>
            </a:srgbClr>
          </a:solidFill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34440"/>
            <a:ext cx="502920" cy="5029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691640" y="1097280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应用层 Application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691640" y="150876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Workshop可视化 / 自定义App / 决策看板 / AIP Agent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114800" y="20574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A"/>
                </a:solidFill>
              </a:rPr>
              <a:t>▲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57200" y="2331720"/>
            <a:ext cx="8229600" cy="105156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57200" y="2331720"/>
            <a:ext cx="64008" cy="105156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1" name="Shape 28"/>
          <p:cNvSpPr/>
          <p:nvPr/>
        </p:nvSpPr>
        <p:spPr>
          <a:xfrm>
            <a:off x="731520" y="2468880"/>
            <a:ext cx="777240" cy="777240"/>
          </a:xfrm>
          <a:prstGeom prst="ellipse">
            <a:avLst/>
          </a:prstGeom>
          <a:solidFill>
            <a:srgbClr val="00D4FF">
              <a:alpha val="15000"/>
            </a:srgbClr>
          </a:solidFill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560320"/>
            <a:ext cx="502920" cy="50292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691640" y="2423160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本体层 Ontology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1691640" y="283464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数字孪生：Objects（对象）+ Links（关系）+ Actions（操作）→ 业务数字映射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4114800" y="33832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C6B7A"/>
                </a:solidFill>
              </a:rPr>
              <a:t>▲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457200" y="3657600"/>
            <a:ext cx="64008" cy="1051560"/>
          </a:xfrm>
          <a:prstGeom prst="rect">
            <a:avLst/>
          </a:prstGeom>
          <a:solidFill>
            <a:srgbClr val="00E676"/>
          </a:solidFill>
        </p:spPr>
      </p:sp>
      <p:sp>
        <p:nvSpPr>
          <p:cNvPr id="38" name="Shape 34"/>
          <p:cNvSpPr/>
          <p:nvPr/>
        </p:nvSpPr>
        <p:spPr>
          <a:xfrm>
            <a:off x="731520" y="3794760"/>
            <a:ext cx="777240" cy="777240"/>
          </a:xfrm>
          <a:prstGeom prst="ellipse">
            <a:avLst/>
          </a:prstGeom>
          <a:solidFill>
            <a:srgbClr val="00E676">
              <a:alpha val="15000"/>
            </a:srgbClr>
          </a:solidFill>
        </p:spPr>
      </p:sp>
      <p:pic>
        <p:nvPicPr>
          <p:cNvPr id="3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886200"/>
            <a:ext cx="502920" cy="50292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1691640" y="3749040"/>
            <a:ext cx="6766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6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数据层 Pipeline</a:t>
            </a:r>
            <a:endParaRPr lang="en-US" sz="1600" dirty="0"/>
          </a:p>
        </p:txBody>
      </p:sp>
      <p:sp>
        <p:nvSpPr>
          <p:cNvPr id="41" name="Text 36"/>
          <p:cNvSpPr/>
          <p:nvPr/>
        </p:nvSpPr>
        <p:spPr>
          <a:xfrm>
            <a:off x="1691640" y="416052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200+ 数据连接器 / 实时 &amp; 批量管道 / 数据质量 &amp; 血缘追踪 / 安全治理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/ 23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Ontology：Palantir的灵魂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不是数据库，不是数据湖 — 是真实世界的数字映射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1234440"/>
            <a:ext cx="3977640" cy="338328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1234440"/>
            <a:ext cx="3977640" cy="45720"/>
          </a:xfrm>
          <a:prstGeom prst="rect">
            <a:avLst/>
          </a:prstGeom>
          <a:solidFill>
            <a:srgbClr val="FF3B3B"/>
          </a:solidFill>
        </p:spPr>
      </p:sp>
      <p:sp>
        <p:nvSpPr>
          <p:cNvPr id="25" name="Text 23"/>
          <p:cNvSpPr/>
          <p:nvPr/>
        </p:nvSpPr>
        <p:spPr>
          <a:xfrm>
            <a:off x="548640" y="14173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3B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传统数据模型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" y="192024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  数据存储在表格和行列中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2414016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  关系通过 JOIN 临时拼接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2907792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  业务语义散落在SQL和代码里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340156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  数据与操作完全分离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89534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  每个应用看到不同的「真相」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1234440"/>
            <a:ext cx="3977640" cy="338328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1234440"/>
            <a:ext cx="397764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3" name="Text 31"/>
          <p:cNvSpPr/>
          <p:nvPr/>
        </p:nvSpPr>
        <p:spPr>
          <a:xfrm>
            <a:off x="4983480" y="14173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Palantir Ontology</a:t>
            </a:r>
            <a:endParaRPr lang="en-US" sz="160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920240"/>
            <a:ext cx="274320" cy="27432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394960" y="192024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Objects：映射真实实体（客户、设备、订单）</a:t>
            </a:r>
            <a:endParaRPr lang="en-US" sz="1050" dirty="0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414016"/>
            <a:ext cx="274320" cy="27432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394960" y="2414016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Links：实体间的动态连接（供应→消费）</a:t>
            </a:r>
            <a:endParaRPr lang="en-US" sz="1050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907792"/>
            <a:ext cx="274320" cy="27432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394960" y="290779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Actions：可直接触发的业务动作</a:t>
            </a:r>
            <a:endParaRPr lang="en-US" sz="1050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401568"/>
            <a:ext cx="274320" cy="27432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5394960" y="3401568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统一视图：所有应用共享同一个真相来源</a:t>
            </a:r>
            <a:endParaRPr lang="en-US" sz="1050" dirty="0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895344"/>
            <a:ext cx="274320" cy="27432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394960" y="3895344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安全嵌入：每个对象自带权限与审计轨迹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4160520" y="2560320"/>
            <a:ext cx="457200" cy="457200"/>
          </a:xfrm>
          <a:prstGeom prst="ellipse">
            <a:avLst/>
          </a:prstGeom>
          <a:solidFill>
            <a:srgbClr val="1C3356"/>
          </a:solidFill>
        </p:spPr>
      </p:sp>
      <p:sp>
        <p:nvSpPr>
          <p:cNvPr id="45" name="Text 38"/>
          <p:cNvSpPr/>
          <p:nvPr/>
        </p:nvSpPr>
        <p:spPr>
          <a:xfrm>
            <a:off x="4160520" y="2560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365760" y="4709160"/>
            <a:ext cx="8412480" cy="301752"/>
          </a:xfrm>
          <a:prstGeom prst="rect">
            <a:avLst/>
          </a:prstGeom>
          <a:solidFill>
            <a:srgbClr val="1C3356"/>
          </a:solidFill>
        </p:spPr>
      </p:sp>
      <p:sp>
        <p:nvSpPr>
          <p:cNvPr id="47" name="Text 40"/>
          <p:cNvSpPr/>
          <p:nvPr/>
        </p:nvSpPr>
        <p:spPr>
          <a:xfrm>
            <a:off x="457200" y="4709160"/>
            <a:ext cx="82296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Ontology是让AI和人类共同理解业务的「语言层」— 也是Palantir不可复制的护城河</a:t>
            </a:r>
            <a:endParaRPr lang="en-US" sz="1000" dirty="0"/>
          </a:p>
        </p:txBody>
      </p:sp>
      <p:sp>
        <p:nvSpPr>
          <p:cNvPr id="48" name="Text 41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 / 23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Ontology 的飞轮效应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365760" y="1051560"/>
            <a:ext cx="4023360" cy="141732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1051560"/>
            <a:ext cx="54864" cy="14173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4" name="Text 22"/>
          <p:cNvSpPr/>
          <p:nvPr/>
        </p:nvSpPr>
        <p:spPr>
          <a:xfrm>
            <a:off x="548640" y="118872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28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234440"/>
            <a:ext cx="411480" cy="4114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691640" y="116128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数据融合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691640" y="150876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200+连接器将孤立数据源汇入统一管道，自动清洗、标准化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663440" y="1051560"/>
            <a:ext cx="4023360" cy="141732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663440" y="1051560"/>
            <a:ext cx="54864" cy="1417320"/>
          </a:xfrm>
          <a:prstGeom prst="rect">
            <a:avLst/>
          </a:prstGeom>
          <a:solidFill>
            <a:srgbClr val="F0B429"/>
          </a:solidFill>
        </p:spPr>
      </p:sp>
      <p:sp>
        <p:nvSpPr>
          <p:cNvPr id="30" name="Text 27"/>
          <p:cNvSpPr/>
          <p:nvPr/>
        </p:nvSpPr>
        <p:spPr>
          <a:xfrm>
            <a:off x="4846320" y="118872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280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234440"/>
            <a:ext cx="411480" cy="41148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989320" y="116128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语义建模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5989320" y="150876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将原始数据映射为Objects+Links+Actions，构建业务数字孪生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365760" y="2743200"/>
            <a:ext cx="4023360" cy="141732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365760" y="2743200"/>
            <a:ext cx="54864" cy="1417320"/>
          </a:xfrm>
          <a:prstGeom prst="rect">
            <a:avLst/>
          </a:prstGeom>
          <a:solidFill>
            <a:srgbClr val="00E676"/>
          </a:solidFill>
        </p:spPr>
      </p:sp>
      <p:sp>
        <p:nvSpPr>
          <p:cNvPr id="36" name="Text 32"/>
          <p:cNvSpPr/>
          <p:nvPr/>
        </p:nvSpPr>
        <p:spPr>
          <a:xfrm>
            <a:off x="548640" y="288036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E6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280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926080"/>
            <a:ext cx="411480" cy="41148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691640" y="285292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应用赋能</a:t>
            </a:r>
            <a:endParaRPr lang="en-US" sz="1500" dirty="0"/>
          </a:p>
        </p:txBody>
      </p:sp>
      <p:sp>
        <p:nvSpPr>
          <p:cNvPr id="39" name="Text 34"/>
          <p:cNvSpPr/>
          <p:nvPr/>
        </p:nvSpPr>
        <p:spPr>
          <a:xfrm>
            <a:off x="1691640" y="320040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基于Ontology零代码构建决策应用，每个新应用边际成本趋近于零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4663440" y="2743200"/>
            <a:ext cx="4023360" cy="141732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4663440" y="2743200"/>
            <a:ext cx="54864" cy="1417320"/>
          </a:xfrm>
          <a:prstGeom prst="rect">
            <a:avLst/>
          </a:prstGeom>
          <a:solidFill>
            <a:srgbClr val="F0B429"/>
          </a:solidFill>
        </p:spPr>
      </p:sp>
      <p:sp>
        <p:nvSpPr>
          <p:cNvPr id="42" name="Text 37"/>
          <p:cNvSpPr/>
          <p:nvPr/>
        </p:nvSpPr>
        <p:spPr>
          <a:xfrm>
            <a:off x="4846320" y="288036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2800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2926080"/>
            <a:ext cx="411480" cy="41148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5989320" y="2852928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增强</a:t>
            </a:r>
            <a:endParaRPr lang="en-US" sz="1500" dirty="0"/>
          </a:p>
        </p:txBody>
      </p:sp>
      <p:sp>
        <p:nvSpPr>
          <p:cNvPr id="45" name="Text 39"/>
          <p:cNvSpPr/>
          <p:nvPr/>
        </p:nvSpPr>
        <p:spPr>
          <a:xfrm>
            <a:off x="5989320" y="320040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LLM通过Ontology理解业务语境，生成可操作决策建议并触发Actions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4160520" y="13716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600" dirty="0"/>
          </a:p>
        </p:txBody>
      </p:sp>
      <p:sp>
        <p:nvSpPr>
          <p:cNvPr id="47" name="Text 41"/>
          <p:cNvSpPr/>
          <p:nvPr/>
        </p:nvSpPr>
        <p:spPr>
          <a:xfrm>
            <a:off x="6492240" y="23774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2600" dirty="0"/>
          </a:p>
        </p:txBody>
      </p:sp>
      <p:sp>
        <p:nvSpPr>
          <p:cNvPr id="48" name="Text 42"/>
          <p:cNvSpPr/>
          <p:nvPr/>
        </p:nvSpPr>
        <p:spPr>
          <a:xfrm>
            <a:off x="4160520" y="310896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E6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←</a:t>
            </a:r>
            <a:endParaRPr lang="en-US" sz="2600" dirty="0"/>
          </a:p>
        </p:txBody>
      </p:sp>
      <p:sp>
        <p:nvSpPr>
          <p:cNvPr id="49" name="Text 43"/>
          <p:cNvSpPr/>
          <p:nvPr/>
        </p:nvSpPr>
        <p:spPr>
          <a:xfrm>
            <a:off x="2103120" y="23774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↑</a:t>
            </a:r>
            <a:endParaRPr lang="en-US" sz="2600" dirty="0"/>
          </a:p>
        </p:txBody>
      </p:sp>
      <p:sp>
        <p:nvSpPr>
          <p:cNvPr id="50" name="Shape 44"/>
          <p:cNvSpPr/>
          <p:nvPr/>
        </p:nvSpPr>
        <p:spPr>
          <a:xfrm>
            <a:off x="365760" y="4389120"/>
            <a:ext cx="8412480" cy="502920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51" name="Text 45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飞轮效果：</a:t>
            </a: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留存率 </a:t>
            </a:r>
            <a:r>
              <a:rPr lang="en-US" sz="1050" b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98%</a:t>
            </a: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净扩展率 </a:t>
            </a:r>
            <a:r>
              <a:rPr lang="en-US" sz="1050" b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124%</a:t>
            </a: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平均合同 </a:t>
            </a:r>
            <a:r>
              <a:rPr lang="en-US" sz="1050" b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3-4年</a:t>
            </a: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· 用得越多，价值越大，越离不开</a:t>
            </a:r>
            <a:endParaRPr lang="en-US" sz="1050" dirty="0"/>
          </a:p>
        </p:txBody>
      </p:sp>
      <p:sp>
        <p:nvSpPr>
          <p:cNvPr id="52" name="Text 46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/ 23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Ontology的三大构件：名词 · 关系 · 动词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不是抽象数据模型 — 每一个构件都直接映射到真实业务操作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1188720"/>
            <a:ext cx="2697480" cy="347472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1188720"/>
            <a:ext cx="2697480" cy="54864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5" name="Shape 23"/>
          <p:cNvSpPr/>
          <p:nvPr/>
        </p:nvSpPr>
        <p:spPr>
          <a:xfrm>
            <a:off x="1051560" y="1371600"/>
            <a:ext cx="640080" cy="640080"/>
          </a:xfrm>
          <a:prstGeom prst="ellipse">
            <a:avLst/>
          </a:prstGeom>
          <a:solidFill>
            <a:srgbClr val="00D4FF">
              <a:alpha val="15000"/>
            </a:srgbClr>
          </a:solidFill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417320"/>
            <a:ext cx="365760" cy="3657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11480" y="205740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Objects 对象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11480" y="233172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= 业务世界的「名词」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11480" y="2651760"/>
            <a:ext cx="25146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每个Object代表一个真实实体：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客户 → 张三, ID:10086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设备 → 涡轮机 #T-4271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订单 → PO-2025-09887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航班 → CX888 2/28出发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每个对象携带属性（Properties）：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名称、状态、位置、温度…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218688" y="1188720"/>
            <a:ext cx="2697480" cy="347472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218688" y="1188720"/>
            <a:ext cx="2697480" cy="54864"/>
          </a:xfrm>
          <a:prstGeom prst="rect">
            <a:avLst/>
          </a:prstGeom>
          <a:solidFill>
            <a:srgbClr val="F0B429"/>
          </a:solidFill>
        </p:spPr>
      </p:sp>
      <p:sp>
        <p:nvSpPr>
          <p:cNvPr id="32" name="Shape 29"/>
          <p:cNvSpPr/>
          <p:nvPr/>
        </p:nvSpPr>
        <p:spPr>
          <a:xfrm>
            <a:off x="3950208" y="1371600"/>
            <a:ext cx="640080" cy="640080"/>
          </a:xfrm>
          <a:prstGeom prst="ellipse">
            <a:avLst/>
          </a:prstGeom>
          <a:solidFill>
            <a:srgbClr val="F0B429">
              <a:alpha val="15000"/>
            </a:srgbClr>
          </a:solidFill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368" y="1417320"/>
            <a:ext cx="365760" cy="36576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3310128" y="205740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Links 关系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3310128" y="233172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= 实体间的「连接线」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3310128" y="2651760"/>
            <a:ext cx="25146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Link定义实体间的动态关系：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航班 → 分配飞机 → B737-123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客户 → 下单 → 订单PO-xxx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设备 → 属于 → 工厂A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员工 → 汇报给 → 经理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关系不是临时JOIN —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而是持久化、可查询、有权限的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第一公民（First-class Citizen）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6126480" y="1188720"/>
            <a:ext cx="2697480" cy="347472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6126480" y="1188720"/>
            <a:ext cx="2697480" cy="54864"/>
          </a:xfrm>
          <a:prstGeom prst="rect">
            <a:avLst/>
          </a:prstGeom>
          <a:solidFill>
            <a:srgbClr val="00E676"/>
          </a:solidFill>
        </p:spPr>
      </p:sp>
      <p:sp>
        <p:nvSpPr>
          <p:cNvPr id="39" name="Shape 35"/>
          <p:cNvSpPr/>
          <p:nvPr/>
        </p:nvSpPr>
        <p:spPr>
          <a:xfrm>
            <a:off x="6858000" y="1371600"/>
            <a:ext cx="640080" cy="640080"/>
          </a:xfrm>
          <a:prstGeom prst="ellipse">
            <a:avLst/>
          </a:prstGeom>
          <a:solidFill>
            <a:srgbClr val="00E676">
              <a:alpha val="15000"/>
            </a:srgbClr>
          </a:solidFill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417320"/>
            <a:ext cx="365760" cy="36576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217920" y="205740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E6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Actions 操作</a:t>
            </a:r>
            <a:endParaRPr lang="en-US" sz="1500" dirty="0"/>
          </a:p>
        </p:txBody>
      </p:sp>
      <p:sp>
        <p:nvSpPr>
          <p:cNvPr id="42" name="Text 37"/>
          <p:cNvSpPr/>
          <p:nvPr/>
        </p:nvSpPr>
        <p:spPr>
          <a:xfrm>
            <a:off x="6217920" y="2331720"/>
            <a:ext cx="2514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= 改变世界的「动词」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6217920" y="2651760"/>
            <a:ext cx="25146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Action是可直接触发的业务变更：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调岗员工 → 更新角色+通知经理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审批订单 → 检查权限+写回ERP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调度航班 → 重新分配飞机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 关停设备 → 触发维护工单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每个Action内置：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验证规则+审计日志+权限控制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+副作用(通知/回写/触发下游)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1C3356"/>
          </a:solidFill>
        </p:spPr>
      </p:sp>
      <p:sp>
        <p:nvSpPr>
          <p:cNvPr id="45" name="Text 40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传统系统：名词在数据库，关系在代码，动词在应用层 → 三层割裂。Ontology：三者统一，一次定义，处处可用。</a:t>
            </a:r>
            <a:endParaRPr lang="en-US" sz="950" dirty="0"/>
          </a:p>
        </p:txBody>
      </p:sp>
      <p:sp>
        <p:nvSpPr>
          <p:cNvPr id="46" name="Text 41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/ 23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为什么AI必须有Ontology才能落地？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365760" y="1005840"/>
            <a:ext cx="3977640" cy="256032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1005840"/>
            <a:ext cx="3977640" cy="45720"/>
          </a:xfrm>
          <a:prstGeom prst="rect">
            <a:avLst/>
          </a:prstGeom>
          <a:solidFill>
            <a:srgbClr val="FF3B3B"/>
          </a:solidFill>
        </p:spPr>
      </p:sp>
      <p:sp>
        <p:nvSpPr>
          <p:cNvPr id="24" name="Text 22"/>
          <p:cNvSpPr/>
          <p:nvPr/>
        </p:nvSpPr>
        <p:spPr>
          <a:xfrm>
            <a:off x="548640" y="114300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3B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没有Ontology的AI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155448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  LLM只能读文档、写摘要 → 高级Chatbot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192024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  不知道「客户」「订单」「设备」是什么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228600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  无法区分哪些数据你有权看、哪些没有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265176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  回答了问题，但无法触发任何业务动作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017520"/>
            <a:ext cx="3611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  幻觉无法被业务上下文约束和纠正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1005840"/>
            <a:ext cx="3977640" cy="256032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1005840"/>
            <a:ext cx="397764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2" name="Text 30"/>
          <p:cNvSpPr/>
          <p:nvPr/>
        </p:nvSpPr>
        <p:spPr>
          <a:xfrm>
            <a:off x="4983480" y="114300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有Ontology的AI (AIP)</a:t>
            </a:r>
            <a:endParaRPr lang="en-US" sz="150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572768"/>
            <a:ext cx="201168" cy="20116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303520" y="155448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LLM理解「客户A的订单逾期3天」的语义</a:t>
            </a:r>
            <a:endParaRPr lang="en-US" sz="100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938528"/>
            <a:ext cx="201168" cy="20116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303520" y="19202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Agent自动查询Ontology获取实时数据</a:t>
            </a:r>
            <a:endParaRPr lang="en-US" sz="100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2304288"/>
            <a:ext cx="201168" cy="20116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303520" y="22860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基于角色权限，精确控制AI能看到什么</a:t>
            </a:r>
            <a:endParaRPr lang="en-US" sz="100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2670048"/>
            <a:ext cx="201168" cy="201168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303520" y="265176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AI生成建议后直接触发Action（审批/调度）</a:t>
            </a:r>
            <a:endParaRPr lang="en-US" sz="10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3035808"/>
            <a:ext cx="201168" cy="20116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303520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Ontology约束AI输出，幻觉大幅降低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4160520" y="1920240"/>
            <a:ext cx="457200" cy="457200"/>
          </a:xfrm>
          <a:prstGeom prst="ellipse">
            <a:avLst/>
          </a:prstGeom>
          <a:solidFill>
            <a:srgbClr val="1C3356"/>
          </a:solidFill>
        </p:spPr>
      </p:sp>
      <p:sp>
        <p:nvSpPr>
          <p:cNvPr id="44" name="Text 37"/>
          <p:cNvSpPr/>
          <p:nvPr/>
        </p:nvSpPr>
        <p:spPr>
          <a:xfrm>
            <a:off x="4160520" y="1920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VS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Ontology 系统架构：Language + Engine + Toolchain</a:t>
            </a:r>
            <a:endParaRPr lang="en-US" sz="1300" dirty="0"/>
          </a:p>
        </p:txBody>
      </p:sp>
      <p:sp>
        <p:nvSpPr>
          <p:cNvPr id="46" name="Shape 39"/>
          <p:cNvSpPr/>
          <p:nvPr/>
        </p:nvSpPr>
        <p:spPr>
          <a:xfrm>
            <a:off x="365760" y="4114800"/>
            <a:ext cx="2697480" cy="822960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47" name="Shape 40"/>
          <p:cNvSpPr/>
          <p:nvPr/>
        </p:nvSpPr>
        <p:spPr>
          <a:xfrm>
            <a:off x="365760" y="4114800"/>
            <a:ext cx="2697480" cy="36576"/>
          </a:xfrm>
          <a:prstGeom prst="rect">
            <a:avLst/>
          </a:prstGeom>
          <a:solidFill>
            <a:srgbClr val="00D4FF"/>
          </a:solidFill>
        </p:spPr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206240"/>
            <a:ext cx="274320" cy="274320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822960" y="4178808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Language 语言层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822960" y="440740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定义Objects/Links/Actions语义 + 业务逻辑 + 安全策略</a:t>
            </a:r>
            <a:endParaRPr lang="en-US" sz="850" dirty="0"/>
          </a:p>
        </p:txBody>
      </p:sp>
      <p:sp>
        <p:nvSpPr>
          <p:cNvPr id="51" name="Shape 43"/>
          <p:cNvSpPr/>
          <p:nvPr/>
        </p:nvSpPr>
        <p:spPr>
          <a:xfrm>
            <a:off x="3246120" y="4114800"/>
            <a:ext cx="2697480" cy="822960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52" name="Shape 44"/>
          <p:cNvSpPr/>
          <p:nvPr/>
        </p:nvSpPr>
        <p:spPr>
          <a:xfrm>
            <a:off x="3246120" y="4114800"/>
            <a:ext cx="2697480" cy="36576"/>
          </a:xfrm>
          <a:prstGeom prst="rect">
            <a:avLst/>
          </a:prstGeom>
          <a:solidFill>
            <a:srgbClr val="F0B429"/>
          </a:solidFill>
        </p:spPr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4206240"/>
            <a:ext cx="274320" cy="274320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3703320" y="4178808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Engine 引擎层</a:t>
            </a:r>
            <a:endParaRPr lang="en-US" sz="1000" dirty="0"/>
          </a:p>
        </p:txBody>
      </p:sp>
      <p:sp>
        <p:nvSpPr>
          <p:cNvPr id="55" name="Text 46"/>
          <p:cNvSpPr/>
          <p:nvPr/>
        </p:nvSpPr>
        <p:spPr>
          <a:xfrm>
            <a:off x="3703320" y="440740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高并发SQL + 实时订阅 + 原子事务写入 + CDC变更捕获</a:t>
            </a:r>
            <a:endParaRPr lang="en-US" sz="850" dirty="0"/>
          </a:p>
        </p:txBody>
      </p:sp>
      <p:sp>
        <p:nvSpPr>
          <p:cNvPr id="56" name="Shape 47"/>
          <p:cNvSpPr/>
          <p:nvPr/>
        </p:nvSpPr>
        <p:spPr>
          <a:xfrm>
            <a:off x="6126480" y="4114800"/>
            <a:ext cx="2697480" cy="822960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57" name="Shape 48"/>
          <p:cNvSpPr/>
          <p:nvPr/>
        </p:nvSpPr>
        <p:spPr>
          <a:xfrm>
            <a:off x="6126480" y="4114800"/>
            <a:ext cx="2697480" cy="36576"/>
          </a:xfrm>
          <a:prstGeom prst="rect">
            <a:avLst/>
          </a:prstGeom>
          <a:solidFill>
            <a:srgbClr val="00E676"/>
          </a:solidFill>
        </p:spPr>
      </p:sp>
      <p:pic>
        <p:nvPicPr>
          <p:cNvPr id="5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206240"/>
            <a:ext cx="274320" cy="274320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6583680" y="4178808"/>
            <a:ext cx="21031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6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Toolchain 工具链</a:t>
            </a:r>
            <a:endParaRPr lang="en-US" sz="1000" dirty="0"/>
          </a:p>
        </p:txBody>
      </p:sp>
      <p:sp>
        <p:nvSpPr>
          <p:cNvPr id="60" name="Text 50"/>
          <p:cNvSpPr/>
          <p:nvPr/>
        </p:nvSpPr>
        <p:spPr>
          <a:xfrm>
            <a:off x="6583680" y="440740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Ontology Manager + SDK + Workshop + AIP Agent Studio</a:t>
            </a:r>
            <a:endParaRPr lang="en-US" sz="850" dirty="0"/>
          </a:p>
        </p:txBody>
      </p:sp>
      <p:sp>
        <p:nvSpPr>
          <p:cNvPr id="61" name="Text 51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/ 23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Ontology：不可复制的终极护城河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为什么竞争对手无法模仿，客户无法离开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1097280"/>
            <a:ext cx="4023360" cy="141732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1097280"/>
            <a:ext cx="54864" cy="14173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5" name="Text 23"/>
          <p:cNvSpPr/>
          <p:nvPr/>
        </p:nvSpPr>
        <p:spPr>
          <a:xfrm>
            <a:off x="502920" y="118872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1005840" y="1170432"/>
            <a:ext cx="548640" cy="548640"/>
          </a:xfrm>
          <a:prstGeom prst="ellipse">
            <a:avLst/>
          </a:prstGeom>
          <a:solidFill>
            <a:srgbClr val="00D4FF">
              <a:alpha val="15000"/>
            </a:srgbClr>
          </a:solidFill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234440"/>
            <a:ext cx="347472" cy="34747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508760" y="117043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数据网络效应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508760" y="150876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每接入一个新数据源，所有已有对象的关系网都更丰富。100个数据源的Ontology不是100倍价值 — 而是指数级价值。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663440" y="1097280"/>
            <a:ext cx="4023360" cy="141732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663440" y="1097280"/>
            <a:ext cx="54864" cy="1417320"/>
          </a:xfrm>
          <a:prstGeom prst="rect">
            <a:avLst/>
          </a:prstGeom>
          <a:solidFill>
            <a:srgbClr val="F0B429"/>
          </a:solidFill>
        </p:spPr>
      </p:sp>
      <p:sp>
        <p:nvSpPr>
          <p:cNvPr id="32" name="Text 29"/>
          <p:cNvSpPr/>
          <p:nvPr/>
        </p:nvSpPr>
        <p:spPr>
          <a:xfrm>
            <a:off x="4800600" y="118872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2600" dirty="0"/>
          </a:p>
        </p:txBody>
      </p:sp>
      <p:sp>
        <p:nvSpPr>
          <p:cNvPr id="33" name="Shape 30"/>
          <p:cNvSpPr/>
          <p:nvPr/>
        </p:nvSpPr>
        <p:spPr>
          <a:xfrm>
            <a:off x="5303520" y="1170432"/>
            <a:ext cx="548640" cy="548640"/>
          </a:xfrm>
          <a:prstGeom prst="ellipse">
            <a:avLst/>
          </a:prstGeom>
          <a:solidFill>
            <a:srgbClr val="F0B429">
              <a:alpha val="15000"/>
            </a:srgbClr>
          </a:solidFill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34440"/>
            <a:ext cx="347472" cy="34747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5806440" y="117043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应用零边际成本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5806440" y="150876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第一个应用花3个月。第二个花3周。第十个花3天。Ontology已定义好语义，新应用只是新的「视角」。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65760" y="2743200"/>
            <a:ext cx="4023360" cy="141732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365760" y="2743200"/>
            <a:ext cx="54864" cy="14173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9" name="Text 35"/>
          <p:cNvSpPr/>
          <p:nvPr/>
        </p:nvSpPr>
        <p:spPr>
          <a:xfrm>
            <a:off x="502920" y="283464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2600" dirty="0"/>
          </a:p>
        </p:txBody>
      </p:sp>
      <p:sp>
        <p:nvSpPr>
          <p:cNvPr id="40" name="Shape 36"/>
          <p:cNvSpPr/>
          <p:nvPr/>
        </p:nvSpPr>
        <p:spPr>
          <a:xfrm>
            <a:off x="1005840" y="2816352"/>
            <a:ext cx="548640" cy="548640"/>
          </a:xfrm>
          <a:prstGeom prst="ellipse">
            <a:avLst/>
          </a:prstGeom>
          <a:solidFill>
            <a:srgbClr val="00D4FF">
              <a:alpha val="15000"/>
            </a:srgbClr>
          </a:solidFill>
        </p:spPr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880360"/>
            <a:ext cx="347472" cy="347472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1508760" y="28163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组织知识固化</a:t>
            </a:r>
            <a:endParaRPr lang="en-US" sz="1400" dirty="0"/>
          </a:p>
        </p:txBody>
      </p:sp>
      <p:sp>
        <p:nvSpPr>
          <p:cNvPr id="43" name="Text 38"/>
          <p:cNvSpPr/>
          <p:nvPr/>
        </p:nvSpPr>
        <p:spPr>
          <a:xfrm>
            <a:off x="1508760" y="315468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Ontology编码了企业几十年积累的业务逻辑、规则和关系。这些「隐性知识」一旦建模，替换成本近乎无限。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4663440" y="2743200"/>
            <a:ext cx="4023360" cy="141732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4663440" y="2743200"/>
            <a:ext cx="54864" cy="1417320"/>
          </a:xfrm>
          <a:prstGeom prst="rect">
            <a:avLst/>
          </a:prstGeom>
          <a:solidFill>
            <a:srgbClr val="F0B429"/>
          </a:solidFill>
        </p:spPr>
      </p:sp>
      <p:sp>
        <p:nvSpPr>
          <p:cNvPr id="46" name="Text 41"/>
          <p:cNvSpPr/>
          <p:nvPr/>
        </p:nvSpPr>
        <p:spPr>
          <a:xfrm>
            <a:off x="4800600" y="283464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2600" dirty="0"/>
          </a:p>
        </p:txBody>
      </p:sp>
      <p:sp>
        <p:nvSpPr>
          <p:cNvPr id="47" name="Shape 42"/>
          <p:cNvSpPr/>
          <p:nvPr/>
        </p:nvSpPr>
        <p:spPr>
          <a:xfrm>
            <a:off x="5303520" y="2816352"/>
            <a:ext cx="548640" cy="548640"/>
          </a:xfrm>
          <a:prstGeom prst="ellipse">
            <a:avLst/>
          </a:prstGeom>
          <a:solidFill>
            <a:srgbClr val="F0B429">
              <a:alpha val="15000"/>
            </a:srgbClr>
          </a:solidFill>
        </p:spPr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880360"/>
            <a:ext cx="347472" cy="347472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5806440" y="281635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AI能力倍增器</a:t>
            </a:r>
            <a:endParaRPr lang="en-US" sz="1400" dirty="0"/>
          </a:p>
        </p:txBody>
      </p:sp>
      <p:sp>
        <p:nvSpPr>
          <p:cNvPr id="50" name="Text 44"/>
          <p:cNvSpPr/>
          <p:nvPr/>
        </p:nvSpPr>
        <p:spPr>
          <a:xfrm>
            <a:off x="5806440" y="315468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没有Ontology的LLM是通用助手。有Ontology的LLM是领域专家。迁移到其他平台意味着AI从零开始理解你的业务。</a:t>
            </a:r>
            <a:endParaRPr 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365760" y="4343400"/>
            <a:ext cx="8412480" cy="640080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52" name="Shape 46"/>
          <p:cNvSpPr/>
          <p:nvPr/>
        </p:nvSpPr>
        <p:spPr>
          <a:xfrm>
            <a:off x="365760" y="4343400"/>
            <a:ext cx="8412480" cy="36576"/>
          </a:xfrm>
          <a:prstGeom prst="rect">
            <a:avLst/>
          </a:prstGeom>
          <a:solidFill>
            <a:srgbClr val="F0B429"/>
          </a:solidFill>
        </p:spPr>
      </p:sp>
      <p:sp>
        <p:nvSpPr>
          <p:cNvPr id="53" name="Text 47"/>
          <p:cNvSpPr/>
          <p:nvPr/>
        </p:nvSpPr>
        <p:spPr>
          <a:xfrm>
            <a:off x="502920" y="438912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竞争者困境：</a:t>
            </a: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Snowflake有数据湖，Salesforce有CRM，ServiceNow有工作流 — 但没有人把</a:t>
            </a:r>
            <a:r>
              <a:rPr lang="en-US" sz="1000" b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数据+关系+操作+安全+AI </a:t>
            </a: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统一在一个语义层。这就是Palantir的不可替代性。</a:t>
            </a:r>
            <a:endParaRPr lang="en-US" sz="1000" dirty="0"/>
          </a:p>
        </p:txBody>
      </p:sp>
      <p:sp>
        <p:nvSpPr>
          <p:cNvPr id="54" name="Text 48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/ 23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实战验证：从猎杀本拉登到伊朗AI战争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365760" y="960120"/>
            <a:ext cx="3977640" cy="338328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960120"/>
            <a:ext cx="3977640" cy="54864"/>
          </a:xfrm>
          <a:prstGeom prst="rect">
            <a:avLst/>
          </a:prstGeom>
          <a:solidFill>
            <a:srgbClr val="FF3B3B"/>
          </a:solidFill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411480" cy="4114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43000" y="11887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3B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2011 · 猎杀本拉登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548640" y="1691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Gotham 平台被广泛认为发挥了关键作用：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94360" y="2103120"/>
            <a:ext cx="91440" cy="91440"/>
          </a:xfrm>
          <a:prstGeom prst="ellipse">
            <a:avLst/>
          </a:prstGeom>
          <a:solidFill>
            <a:srgbClr val="FF3B3B"/>
          </a:solidFill>
        </p:spPr>
      </p:sp>
      <p:sp>
        <p:nvSpPr>
          <p:cNvPr id="28" name="Text 25"/>
          <p:cNvSpPr/>
          <p:nvPr/>
        </p:nvSpPr>
        <p:spPr>
          <a:xfrm>
            <a:off x="822960" y="2029968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整合CIA/NSA碎片情报，发现代号「科威特」的核心信使线索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94360" y="2606040"/>
            <a:ext cx="91440" cy="91440"/>
          </a:xfrm>
          <a:prstGeom prst="ellipse">
            <a:avLst/>
          </a:prstGeom>
          <a:solidFill>
            <a:srgbClr val="FF3B3B"/>
          </a:solidFill>
        </p:spPr>
      </p:sp>
      <p:sp>
        <p:nvSpPr>
          <p:cNvPr id="30" name="Text 27"/>
          <p:cNvSpPr/>
          <p:nvPr/>
        </p:nvSpPr>
        <p:spPr>
          <a:xfrm>
            <a:off x="822960" y="2532888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关联分析锁定阿伯塔巴德一座无网络无电话的神秘院落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94360" y="3108960"/>
            <a:ext cx="91440" cy="91440"/>
          </a:xfrm>
          <a:prstGeom prst="ellipse">
            <a:avLst/>
          </a:prstGeom>
          <a:solidFill>
            <a:srgbClr val="FF3B3B"/>
          </a:solidFill>
        </p:spPr>
      </p:sp>
      <p:sp>
        <p:nvSpPr>
          <p:cNvPr id="32" name="Text 29"/>
          <p:cNvSpPr/>
          <p:nvPr/>
        </p:nvSpPr>
        <p:spPr>
          <a:xfrm>
            <a:off x="822960" y="3035808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卫星图像构建1:64仿真模型，为海豹突击队精确演练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94360" y="3611880"/>
            <a:ext cx="91440" cy="91440"/>
          </a:xfrm>
          <a:prstGeom prst="ellipse">
            <a:avLst/>
          </a:prstGeom>
          <a:solidFill>
            <a:srgbClr val="FF3B3B"/>
          </a:solidFill>
        </p:spPr>
      </p:sp>
      <p:sp>
        <p:nvSpPr>
          <p:cNvPr id="34" name="Text 31"/>
          <p:cNvSpPr/>
          <p:nvPr/>
        </p:nvSpPr>
        <p:spPr>
          <a:xfrm>
            <a:off x="822960" y="3538728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便携数据链路实时同步，白宫全程监控决策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800600" y="960120"/>
            <a:ext cx="3977640" cy="338328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800600" y="960120"/>
            <a:ext cx="3977640" cy="54864"/>
          </a:xfrm>
          <a:prstGeom prst="rect">
            <a:avLst/>
          </a:prstGeom>
          <a:solidFill>
            <a:srgbClr val="00D4FF"/>
          </a:solidFill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43000"/>
            <a:ext cx="411480" cy="41148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5577840" y="11887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· 伊朗AI战争</a:t>
            </a:r>
            <a:endParaRPr lang="en-US" sz="1700" dirty="0"/>
          </a:p>
        </p:txBody>
      </p:sp>
      <p:sp>
        <p:nvSpPr>
          <p:cNvPr id="39" name="Text 35"/>
          <p:cNvSpPr/>
          <p:nvPr/>
        </p:nvSpPr>
        <p:spPr>
          <a:xfrm>
            <a:off x="4983480" y="1691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Maven Smart System 首次大规模实战部署：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5029200" y="2103120"/>
            <a:ext cx="91440" cy="91440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41" name="Text 37"/>
          <p:cNvSpPr/>
          <p:nvPr/>
        </p:nvSpPr>
        <p:spPr>
          <a:xfrm>
            <a:off x="5257800" y="2029968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2月28日12小时内精确打击900+目标，AI实时分析数百万情报对象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5029200" y="2606040"/>
            <a:ext cx="91440" cy="91440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43" name="Text 39"/>
          <p:cNvSpPr/>
          <p:nvPr/>
        </p:nvSpPr>
        <p:spPr>
          <a:xfrm>
            <a:off x="5257800" y="2532888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定位并击杀伊朗最高领袖哈梅内伊，AI协助分析其护卫行程与藏匿路径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5029200" y="3108960"/>
            <a:ext cx="91440" cy="91440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45" name="Text 41"/>
          <p:cNvSpPr/>
          <p:nvPr/>
        </p:nvSpPr>
        <p:spPr>
          <a:xfrm>
            <a:off x="5257800" y="3035808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2000人团队工作量压缩至20人完成，效率提升100倍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5029200" y="3611880"/>
            <a:ext cx="91440" cy="91440"/>
          </a:xfrm>
          <a:prstGeom prst="ellipse">
            <a:avLst/>
          </a:prstGeom>
          <a:solidFill>
            <a:srgbClr val="00D4FF"/>
          </a:solidFill>
        </p:spPr>
      </p:sp>
      <p:sp>
        <p:nvSpPr>
          <p:cNvPr id="47" name="Text 43"/>
          <p:cNvSpPr/>
          <p:nvPr/>
        </p:nvSpPr>
        <p:spPr>
          <a:xfrm>
            <a:off x="5257800" y="3538728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合同总额升至$13亿，NATO同步采购MSS用于联盟作战</a:t>
            </a:r>
            <a:endParaRPr lang="en-US" sz="950" dirty="0"/>
          </a:p>
        </p:txBody>
      </p:sp>
      <p:sp>
        <p:nvSpPr>
          <p:cNvPr id="48" name="Shape 44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FF3B3B">
              <a:alpha val="12000"/>
            </a:srgbClr>
          </a:solidFill>
        </p:spPr>
      </p:sp>
      <p:sp>
        <p:nvSpPr>
          <p:cNvPr id="49" name="Text 45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如果它能在人类最极端的决策场景中可靠运行 — 就能在你的企业中工作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 / 23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商业客户成功案例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457200" y="914400"/>
            <a:ext cx="8229600" cy="114300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914400"/>
            <a:ext cx="64008" cy="1143000"/>
          </a:xfrm>
          <a:prstGeom prst="rect">
            <a:avLst/>
          </a:prstGeom>
          <a:solidFill>
            <a:srgbClr val="F0B429"/>
          </a:solidFill>
        </p:spPr>
      </p:sp>
      <p:sp>
        <p:nvSpPr>
          <p:cNvPr id="24" name="Shape 22"/>
          <p:cNvSpPr/>
          <p:nvPr/>
        </p:nvSpPr>
        <p:spPr>
          <a:xfrm>
            <a:off x="640080" y="1051560"/>
            <a:ext cx="777240" cy="777240"/>
          </a:xfrm>
          <a:prstGeom prst="ellipse">
            <a:avLst/>
          </a:prstGeom>
          <a:solidFill>
            <a:srgbClr val="F0B429">
              <a:alpha val="15000"/>
            </a:srgbClr>
          </a:solidFill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43000"/>
            <a:ext cx="502920" cy="5029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508760" y="98755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航空制造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508760" y="123444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AIRBUS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3108960" y="987552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$8.5亿+</a:t>
            </a:r>
            <a:endParaRPr lang="en-US" sz="3000" dirty="0"/>
          </a:p>
        </p:txBody>
      </p:sp>
      <p:sp>
        <p:nvSpPr>
          <p:cNvPr id="29" name="Text 26"/>
          <p:cNvSpPr/>
          <p:nvPr/>
        </p:nvSpPr>
        <p:spPr>
          <a:xfrm>
            <a:off x="3108960" y="15544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年收入机会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120640" y="105156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Skywise平台整合100+航空公司数据，优化A350生产，供应链数字孪生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2240280"/>
            <a:ext cx="8229600" cy="114300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57200" y="2240280"/>
            <a:ext cx="64008" cy="114300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3" name="Shape 30"/>
          <p:cNvSpPr/>
          <p:nvPr/>
        </p:nvSpPr>
        <p:spPr>
          <a:xfrm>
            <a:off x="640080" y="2377440"/>
            <a:ext cx="777240" cy="777240"/>
          </a:xfrm>
          <a:prstGeom prst="ellipse">
            <a:avLst/>
          </a:prstGeom>
          <a:solidFill>
            <a:srgbClr val="00D4FF">
              <a:alpha val="15000"/>
            </a:srgbClr>
          </a:solidFill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68880"/>
            <a:ext cx="502920" cy="50292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508760" y="231343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能源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508760" y="25603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BP</a:t>
            </a:r>
            <a:endParaRPr lang="en-US" sz="2200" dirty="0"/>
          </a:p>
        </p:txBody>
      </p:sp>
      <p:sp>
        <p:nvSpPr>
          <p:cNvPr id="37" name="Text 33"/>
          <p:cNvSpPr/>
          <p:nvPr/>
        </p:nvSpPr>
        <p:spPr>
          <a:xfrm>
            <a:off x="3108960" y="2313432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$10亿</a:t>
            </a:r>
            <a:endParaRPr lang="en-US" sz="3000" dirty="0"/>
          </a:p>
        </p:txBody>
      </p:sp>
      <p:sp>
        <p:nvSpPr>
          <p:cNvPr id="38" name="Text 34"/>
          <p:cNvSpPr/>
          <p:nvPr/>
        </p:nvSpPr>
        <p:spPr>
          <a:xfrm>
            <a:off x="3108960" y="288036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运营成本节省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5120640" y="237744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油气运营全流程数字化，实时优化生产决策，预测性维护减少停机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457200" y="3566160"/>
            <a:ext cx="8229600" cy="114300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457200" y="3566160"/>
            <a:ext cx="64008" cy="1143000"/>
          </a:xfrm>
          <a:prstGeom prst="rect">
            <a:avLst/>
          </a:prstGeom>
          <a:solidFill>
            <a:srgbClr val="00E676"/>
          </a:solidFill>
        </p:spPr>
      </p:sp>
      <p:sp>
        <p:nvSpPr>
          <p:cNvPr id="42" name="Shape 38"/>
          <p:cNvSpPr/>
          <p:nvPr/>
        </p:nvSpPr>
        <p:spPr>
          <a:xfrm>
            <a:off x="640080" y="3703320"/>
            <a:ext cx="777240" cy="777240"/>
          </a:xfrm>
          <a:prstGeom prst="ellipse">
            <a:avLst/>
          </a:prstGeom>
          <a:solidFill>
            <a:srgbClr val="00E676">
              <a:alpha val="15000"/>
            </a:srgbClr>
          </a:solidFill>
        </p:spPr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94760"/>
            <a:ext cx="502920" cy="50292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1508760" y="363931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6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医疗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1508760" y="38862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NHS</a:t>
            </a:r>
            <a:endParaRPr lang="en-US" sz="2200" dirty="0"/>
          </a:p>
        </p:txBody>
      </p:sp>
      <p:sp>
        <p:nvSpPr>
          <p:cNvPr id="46" name="Text 41"/>
          <p:cNvSpPr/>
          <p:nvPr/>
        </p:nvSpPr>
        <p:spPr>
          <a:xfrm>
            <a:off x="3108960" y="3639312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E6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拯救生命</a:t>
            </a:r>
            <a:endParaRPr lang="en-US" sz="3000" dirty="0"/>
          </a:p>
        </p:txBody>
      </p:sp>
      <p:sp>
        <p:nvSpPr>
          <p:cNvPr id="47" name="Text 42"/>
          <p:cNvSpPr/>
          <p:nvPr/>
        </p:nvSpPr>
        <p:spPr>
          <a:xfrm>
            <a:off x="3108960" y="42062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疫情决策中枢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5120640" y="370332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COVID期间统一管理全国医疗资源、疫苗分发、ICU床位调配</a:t>
            </a:r>
            <a:endParaRPr lang="en-US" sz="1050" dirty="0"/>
          </a:p>
        </p:txBody>
      </p:sp>
      <p:sp>
        <p:nvSpPr>
          <p:cNvPr id="49" name="Shape 4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1C3356"/>
          </a:solidFill>
        </p:spPr>
      </p:sp>
      <p:sp>
        <p:nvSpPr>
          <p:cNvPr id="50" name="Text 45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更多客户: American Airlines · Novartis · Lowe's · Morgan Stanley · Ferrari · Merck · Waste Management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/ 23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资本市场的疯狂认可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从IPO到全球第29大上市公司 — 五年增长超20倍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207301"/>
            <a:ext cx="1051560" cy="724619"/>
          </a:xfrm>
          <a:prstGeom prst="rect">
            <a:avLst/>
          </a:prstGeom>
          <a:solidFill>
            <a:srgbClr val="5C6B7A"/>
          </a:solidFill>
        </p:spPr>
      </p:sp>
      <p:sp>
        <p:nvSpPr>
          <p:cNvPr id="24" name="Text 22"/>
          <p:cNvSpPr/>
          <p:nvPr/>
        </p:nvSpPr>
        <p:spPr>
          <a:xfrm>
            <a:off x="640080" y="2887261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$150亿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97764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2020 IPO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011680" y="3545457"/>
            <a:ext cx="1051560" cy="386463"/>
          </a:xfrm>
          <a:prstGeom prst="rect">
            <a:avLst/>
          </a:prstGeom>
          <a:solidFill>
            <a:srgbClr val="5C6B7A"/>
          </a:solidFill>
        </p:spPr>
      </p:sp>
      <p:sp>
        <p:nvSpPr>
          <p:cNvPr id="27" name="Text 25"/>
          <p:cNvSpPr/>
          <p:nvPr/>
        </p:nvSpPr>
        <p:spPr>
          <a:xfrm>
            <a:off x="2011680" y="3225417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$100亿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11680" y="397764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2022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83280" y="2965762"/>
            <a:ext cx="1051560" cy="966158"/>
          </a:xfrm>
          <a:prstGeom prst="rect">
            <a:avLst/>
          </a:prstGeom>
          <a:solidFill>
            <a:srgbClr val="1C3356"/>
          </a:solidFill>
        </p:spPr>
      </p:sp>
      <p:sp>
        <p:nvSpPr>
          <p:cNvPr id="30" name="Text 28"/>
          <p:cNvSpPr/>
          <p:nvPr/>
        </p:nvSpPr>
        <p:spPr>
          <a:xfrm>
            <a:off x="3383280" y="2645722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335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$200亿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397764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2096219"/>
            <a:ext cx="1051560" cy="1835701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3" name="Text 31"/>
          <p:cNvSpPr/>
          <p:nvPr/>
        </p:nvSpPr>
        <p:spPr>
          <a:xfrm>
            <a:off x="4754880" y="1776179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$600亿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397764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2024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26480" y="1371600"/>
            <a:ext cx="1051560" cy="2560320"/>
          </a:xfrm>
          <a:prstGeom prst="rect">
            <a:avLst/>
          </a:prstGeom>
          <a:solidFill>
            <a:srgbClr val="F0B429"/>
          </a:solidFill>
        </p:spPr>
      </p:sp>
      <p:sp>
        <p:nvSpPr>
          <p:cNvPr id="36" name="Text 34"/>
          <p:cNvSpPr/>
          <p:nvPr/>
        </p:nvSpPr>
        <p:spPr>
          <a:xfrm>
            <a:off x="6126480" y="105156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$4200亿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26480" y="397764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 Peak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98080" y="1661448"/>
            <a:ext cx="1051560" cy="2270472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9" name="Text 37"/>
          <p:cNvSpPr/>
          <p:nvPr/>
        </p:nvSpPr>
        <p:spPr>
          <a:xfrm>
            <a:off x="7498080" y="1341408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$3750亿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98080" y="3977640"/>
            <a:ext cx="1051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2026.3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42" name="Text 40"/>
          <p:cNvSpPr/>
          <p:nvPr/>
        </p:nvSpPr>
        <p:spPr>
          <a:xfrm>
            <a:off x="640080" y="440740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40080" y="470916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IPO价格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697480" y="440740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$156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2697480" y="470916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当前股价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54880" y="440740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1460%+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754880" y="470916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涨幅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12280" y="440740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6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第29位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812280" y="470916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全球排名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/ 23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财务核弹：AI时代的增长奇迹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365760" y="1005840"/>
            <a:ext cx="2697480" cy="160020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1005840"/>
            <a:ext cx="2697480" cy="45720"/>
          </a:xfrm>
          <a:prstGeom prst="rect">
            <a:avLst/>
          </a:prstGeom>
          <a:solidFill>
            <a:srgbClr val="F0B429"/>
          </a:solidFill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05840" y="11430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2025年营收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05840" y="14173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$44.8亿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1005840" y="19659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YoY +56%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46120" y="1005840"/>
            <a:ext cx="2697480" cy="160020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246120" y="1005840"/>
            <a:ext cx="2697480" cy="45720"/>
          </a:xfrm>
          <a:prstGeom prst="rect">
            <a:avLst/>
          </a:prstGeom>
          <a:solidFill>
            <a:srgbClr val="00E676"/>
          </a:solidFill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188720"/>
            <a:ext cx="365760" cy="36576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3886200" y="11430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2026年指引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3886200" y="14173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E6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$71.9亿</a:t>
            </a:r>
            <a:endParaRPr lang="en-US" sz="3000" dirty="0"/>
          </a:p>
        </p:txBody>
      </p:sp>
      <p:sp>
        <p:nvSpPr>
          <p:cNvPr id="33" name="Text 29"/>
          <p:cNvSpPr/>
          <p:nvPr/>
        </p:nvSpPr>
        <p:spPr>
          <a:xfrm>
            <a:off x="3886200" y="19659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YoY +61%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126480" y="1005840"/>
            <a:ext cx="2697480" cy="160020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126480" y="1005840"/>
            <a:ext cx="2697480" cy="45720"/>
          </a:xfrm>
          <a:prstGeom prst="rect">
            <a:avLst/>
          </a:prstGeom>
          <a:solidFill>
            <a:srgbClr val="00D4FF"/>
          </a:solidFill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365760" cy="36576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6766560" y="11430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Q4美国商业增长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6766560" y="14173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137%</a:t>
            </a:r>
            <a:endParaRPr lang="en-US" sz="3000" dirty="0"/>
          </a:p>
        </p:txBody>
      </p:sp>
      <p:sp>
        <p:nvSpPr>
          <p:cNvPr id="39" name="Text 34"/>
          <p:cNvSpPr/>
          <p:nvPr/>
        </p:nvSpPr>
        <p:spPr>
          <a:xfrm>
            <a:off x="6766560" y="19659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首次超越政府收入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365760" y="2834640"/>
            <a:ext cx="2697480" cy="160020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365760" y="2834640"/>
            <a:ext cx="2697480" cy="45720"/>
          </a:xfrm>
          <a:prstGeom prst="rect">
            <a:avLst/>
          </a:prstGeom>
          <a:solidFill>
            <a:srgbClr val="F0B429"/>
          </a:solidFill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17520"/>
            <a:ext cx="365760" cy="36576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1005840" y="2971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Rule of 40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1005840" y="32461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127%</a:t>
            </a:r>
            <a:endParaRPr lang="en-US" sz="3000" dirty="0"/>
          </a:p>
        </p:txBody>
      </p:sp>
      <p:sp>
        <p:nvSpPr>
          <p:cNvPr id="45" name="Text 39"/>
          <p:cNvSpPr/>
          <p:nvPr/>
        </p:nvSpPr>
        <p:spPr>
          <a:xfrm>
            <a:off x="1005840" y="3794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SaaS健康度指标的3倍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3246120" y="2834640"/>
            <a:ext cx="2697480" cy="160020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7" name="Shape 41"/>
          <p:cNvSpPr/>
          <p:nvPr/>
        </p:nvSpPr>
        <p:spPr>
          <a:xfrm>
            <a:off x="3246120" y="2834640"/>
            <a:ext cx="2697480" cy="45720"/>
          </a:xfrm>
          <a:prstGeom prst="rect">
            <a:avLst/>
          </a:prstGeom>
          <a:solidFill>
            <a:srgbClr val="00D4FF"/>
          </a:solidFill>
        </p:spPr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017520"/>
            <a:ext cx="365760" cy="365760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3886200" y="2971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毛利率</a:t>
            </a:r>
            <a:endParaRPr lang="en-US" sz="1000" dirty="0"/>
          </a:p>
        </p:txBody>
      </p:sp>
      <p:sp>
        <p:nvSpPr>
          <p:cNvPr id="50" name="Text 43"/>
          <p:cNvSpPr/>
          <p:nvPr/>
        </p:nvSpPr>
        <p:spPr>
          <a:xfrm>
            <a:off x="3886200" y="32461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82.4%</a:t>
            </a:r>
            <a:endParaRPr lang="en-US" sz="3000" dirty="0"/>
          </a:p>
        </p:txBody>
      </p:sp>
      <p:sp>
        <p:nvSpPr>
          <p:cNvPr id="51" name="Text 44"/>
          <p:cNvSpPr/>
          <p:nvPr/>
        </p:nvSpPr>
        <p:spPr>
          <a:xfrm>
            <a:off x="3886200" y="3794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软件行业顶尖水平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6126480" y="2834640"/>
            <a:ext cx="2697480" cy="160020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3" name="Shape 46"/>
          <p:cNvSpPr/>
          <p:nvPr/>
        </p:nvSpPr>
        <p:spPr>
          <a:xfrm>
            <a:off x="6126480" y="2834640"/>
            <a:ext cx="2697480" cy="45720"/>
          </a:xfrm>
          <a:prstGeom prst="rect">
            <a:avLst/>
          </a:prstGeom>
          <a:solidFill>
            <a:srgbClr val="00D4FF"/>
          </a:solidFill>
        </p:spPr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017520"/>
            <a:ext cx="365760" cy="365760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6766560" y="2971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Q4签约TCV</a:t>
            </a:r>
            <a:endParaRPr lang="en-US" sz="1000" dirty="0"/>
          </a:p>
        </p:txBody>
      </p:sp>
      <p:sp>
        <p:nvSpPr>
          <p:cNvPr id="56" name="Text 48"/>
          <p:cNvSpPr/>
          <p:nvPr/>
        </p:nvSpPr>
        <p:spPr>
          <a:xfrm>
            <a:off x="6766560" y="324612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$42.6亿</a:t>
            </a:r>
            <a:endParaRPr lang="en-US" sz="3000" dirty="0"/>
          </a:p>
        </p:txBody>
      </p:sp>
      <p:sp>
        <p:nvSpPr>
          <p:cNvPr id="57" name="Text 49"/>
          <p:cNvSpPr/>
          <p:nvPr/>
        </p:nvSpPr>
        <p:spPr>
          <a:xfrm>
            <a:off x="6766560" y="3794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YoY +138%</a:t>
            </a:r>
            <a:endParaRPr lang="en-US" sz="1000" dirty="0"/>
          </a:p>
        </p:txBody>
      </p:sp>
      <p:sp>
        <p:nvSpPr>
          <p:cNvPr id="58" name="Text 5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"We are an n of 1, and these numbers prove it." — Alex Karp, CEO</a:t>
            </a:r>
            <a:endParaRPr lang="en-US" sz="1000" dirty="0"/>
          </a:p>
        </p:txBody>
      </p:sp>
      <p:sp>
        <p:nvSpPr>
          <p:cNvPr id="59" name="Text 51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 / 23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范式革命：企业正在长出「神经系统」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Palantir 不是在卖软件 — 它在为企业注入一套全新的决策基础设施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1143000"/>
            <a:ext cx="2697480" cy="365760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1143000"/>
            <a:ext cx="2697480" cy="54864"/>
          </a:xfrm>
          <a:prstGeom prst="rect">
            <a:avLst/>
          </a:prstGeom>
          <a:solidFill>
            <a:srgbClr val="FF3B3B"/>
          </a:solidFill>
        </p:spPr>
      </p:sp>
      <p:sp>
        <p:nvSpPr>
          <p:cNvPr id="25" name="Shape 23"/>
          <p:cNvSpPr/>
          <p:nvPr/>
        </p:nvSpPr>
        <p:spPr>
          <a:xfrm>
            <a:off x="1188720" y="1280160"/>
            <a:ext cx="822960" cy="822960"/>
          </a:xfrm>
          <a:prstGeom prst="ellipse">
            <a:avLst/>
          </a:prstGeom>
          <a:solidFill>
            <a:srgbClr val="FF3B3B">
              <a:alpha val="15000"/>
            </a:srgbClr>
          </a:solidFill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371600"/>
            <a:ext cx="548640" cy="5486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11480" y="214884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3B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1.0 时代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3B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肌肉型企业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11480" y="2743200"/>
            <a:ext cx="251460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SaaS工具=独立器官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各部门各自采购CRM、ERP、BI。数据在管道中流动，但没有统一的感知和响应。如同一个人有强壮的四肢，但没有神经系统连接大脑。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结果：决策靠人工传递，响应以天/周计。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926080" y="256032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3246120" y="1143000"/>
            <a:ext cx="2697480" cy="365760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3246120" y="1143000"/>
            <a:ext cx="2697480" cy="54864"/>
          </a:xfrm>
          <a:prstGeom prst="rect">
            <a:avLst/>
          </a:prstGeom>
          <a:solidFill>
            <a:srgbClr val="F0B429"/>
          </a:solidFill>
        </p:spPr>
      </p:sp>
      <p:sp>
        <p:nvSpPr>
          <p:cNvPr id="32" name="Shape 29"/>
          <p:cNvSpPr/>
          <p:nvPr/>
        </p:nvSpPr>
        <p:spPr>
          <a:xfrm>
            <a:off x="4114800" y="1280160"/>
            <a:ext cx="822960" cy="822960"/>
          </a:xfrm>
          <a:prstGeom prst="ellipse">
            <a:avLst/>
          </a:prstGeom>
          <a:solidFill>
            <a:srgbClr val="F0B429">
              <a:alpha val="15000"/>
            </a:srgbClr>
          </a:solidFill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371600"/>
            <a:ext cx="548640" cy="54864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3337560" y="214884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2.0 时代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感知型企业</a:t>
            </a:r>
            <a:endParaRPr lang="en-US" sz="1300" dirty="0"/>
          </a:p>
        </p:txBody>
      </p:sp>
      <p:sp>
        <p:nvSpPr>
          <p:cNvPr id="35" name="Text 31"/>
          <p:cNvSpPr/>
          <p:nvPr/>
        </p:nvSpPr>
        <p:spPr>
          <a:xfrm>
            <a:off x="3337560" y="2743200"/>
            <a:ext cx="251460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数据平台=初级神经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数据湖/仓打通了信息孤岛，BI看板让管理层「看到」正在发生什么。但看到 ≠ 行动。如同有了眼睛和耳朵，但手脚还是各自为政。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结果：能发现问题，但响应仍需人工闭环。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5852160" y="256032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200" dirty="0"/>
          </a:p>
        </p:txBody>
      </p:sp>
      <p:sp>
        <p:nvSpPr>
          <p:cNvPr id="37" name="Shape 33"/>
          <p:cNvSpPr/>
          <p:nvPr/>
        </p:nvSpPr>
        <p:spPr>
          <a:xfrm>
            <a:off x="6172200" y="1143000"/>
            <a:ext cx="2697480" cy="365760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6172200" y="1143000"/>
            <a:ext cx="2697480" cy="54864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9" name="Shape 35"/>
          <p:cNvSpPr/>
          <p:nvPr/>
        </p:nvSpPr>
        <p:spPr>
          <a:xfrm>
            <a:off x="7040880" y="1280160"/>
            <a:ext cx="822960" cy="822960"/>
          </a:xfrm>
          <a:prstGeom prst="ellipse">
            <a:avLst/>
          </a:prstGeom>
          <a:solidFill>
            <a:srgbClr val="00D4FF">
              <a:alpha val="15000"/>
            </a:srgbClr>
          </a:solidFill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371600"/>
            <a:ext cx="548640" cy="54864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6263640" y="2148840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3.0 时代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Ontology型企业</a:t>
            </a:r>
            <a:endParaRPr lang="en-US" sz="1300" dirty="0"/>
          </a:p>
        </p:txBody>
      </p:sp>
      <p:sp>
        <p:nvSpPr>
          <p:cNvPr id="42" name="Text 37"/>
          <p:cNvSpPr/>
          <p:nvPr/>
        </p:nvSpPr>
        <p:spPr>
          <a:xfrm>
            <a:off x="6263640" y="2743200"/>
            <a:ext cx="251460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Palantir=完整神经系统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感知(数据) → 理解(Ontology) → 思考(AI) → 行动(Actions) → 反馈(学习) — 形成完整的决策闭环。数字孪生不再是地图，而是活的控制系统。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结果：从洞察到行动以分钟/秒计。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 / 23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传统企业架构正在死亡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365760" y="960120"/>
            <a:ext cx="3977640" cy="379476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960120"/>
            <a:ext cx="3977640" cy="45720"/>
          </a:xfrm>
          <a:prstGeom prst="rect">
            <a:avLst/>
          </a:prstGeom>
          <a:solidFill>
            <a:srgbClr val="FF3B3B"/>
          </a:solidFill>
        </p:spPr>
      </p:sp>
      <p:sp>
        <p:nvSpPr>
          <p:cNvPr id="24" name="Text 22"/>
          <p:cNvSpPr/>
          <p:nvPr/>
        </p:nvSpPr>
        <p:spPr>
          <a:xfrm>
            <a:off x="548640" y="10972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3B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正在消亡的模式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155448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  「按座位收费」的SaaS订阅模式 — 被按消耗计费的AI Agent模式取代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219456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  「功能驱动」的产品路线图 — 客户不再为Feature买单，而是为Decision买单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283464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  「人工中间层」的决策链 — 中层管理者的信息传递角色正被Ontology+AI压缩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347472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  「静态报表」的BI时代 — 从「我看到了」到「系统已经替我行动了」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114800"/>
            <a:ext cx="3611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✕  「点对点API」的集成方式 — N²复杂度的集成噩梦被统一语义层终结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960120"/>
            <a:ext cx="3977640" cy="379476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960120"/>
            <a:ext cx="397764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32" name="Text 30"/>
          <p:cNvSpPr/>
          <p:nvPr/>
        </p:nvSpPr>
        <p:spPr>
          <a:xfrm>
            <a:off x="4983480" y="10972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正在崛起的范式</a:t>
            </a:r>
            <a:endParaRPr lang="en-US" sz="160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572768"/>
            <a:ext cx="228600" cy="2286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349240" y="155448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企业操作系统：一个平台承载无限应用，Ontology是统一语义内核</a:t>
            </a:r>
            <a:endParaRPr lang="en-US" sz="95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2212848"/>
            <a:ext cx="228600" cy="22860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349240" y="219456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决策智能（Decision Intelligence）：AI不止分析，更直接编排业务操作</a:t>
            </a:r>
            <a:endParaRPr lang="en-US" sz="950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2852928"/>
            <a:ext cx="228600" cy="22860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349240" y="283464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Agentic AI：自主Agent在Ontology上巡逻、发现异常、提出并执行修复</a:t>
            </a:r>
            <a:endParaRPr lang="en-US" sz="95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3493008"/>
            <a:ext cx="228600" cy="22860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349240" y="347472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数字孪生控制系统：不再是静态地图，而是持续学习的自动驾驶仪</a:t>
            </a:r>
            <a:endParaRPr lang="en-US" sz="95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4133088"/>
            <a:ext cx="228600" cy="22860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349240" y="411480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跨企业Ontology网络：从单一企业扩展到产业链级别的协同决策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solidFill>
            <a:srgbClr val="FF3B3B">
              <a:alpha val="20000"/>
            </a:srgbClr>
          </a:solidFill>
        </p:spPr>
      </p:sp>
      <p:sp>
        <p:nvSpPr>
          <p:cNvPr id="44" name="Text 37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Legacy SaaS企业不是在与Palantir竞争 — 而是在与一个全新的企业运营范式竞争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 / 23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数字孪生：从「地图」到「自动驾驶仪」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Palantir 正在将企业的数字孪生从被动观察器进化为主动控制系统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1188720"/>
            <a:ext cx="1600200" cy="329184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1188720"/>
            <a:ext cx="16002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5" name="Text 23"/>
          <p:cNvSpPr/>
          <p:nvPr/>
        </p:nvSpPr>
        <p:spPr>
          <a:xfrm>
            <a:off x="274320" y="128016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85800" y="1691640"/>
            <a:ext cx="685800" cy="685800"/>
          </a:xfrm>
          <a:prstGeom prst="ellipse">
            <a:avLst/>
          </a:prstGeom>
          <a:solidFill>
            <a:srgbClr val="00D4FF">
              <a:alpha val="15000"/>
            </a:srgbClr>
          </a:solidFill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457200" cy="4572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320040" y="242316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感知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20040" y="2743200"/>
            <a:ext cx="150876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实时接入传感器、ERP、CRM、物联网等200+数据源，数字孪生与现实世界保持秒级同步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783080" y="210312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2029968" y="1188720"/>
            <a:ext cx="1600200" cy="329184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2029968" y="1188720"/>
            <a:ext cx="1600200" cy="45720"/>
          </a:xfrm>
          <a:prstGeom prst="rect">
            <a:avLst/>
          </a:prstGeom>
          <a:solidFill>
            <a:srgbClr val="F0B429"/>
          </a:solidFill>
        </p:spPr>
      </p:sp>
      <p:sp>
        <p:nvSpPr>
          <p:cNvPr id="33" name="Text 30"/>
          <p:cNvSpPr/>
          <p:nvPr/>
        </p:nvSpPr>
        <p:spPr>
          <a:xfrm>
            <a:off x="2029968" y="128016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2600" dirty="0"/>
          </a:p>
        </p:txBody>
      </p:sp>
      <p:sp>
        <p:nvSpPr>
          <p:cNvPr id="34" name="Shape 31"/>
          <p:cNvSpPr/>
          <p:nvPr/>
        </p:nvSpPr>
        <p:spPr>
          <a:xfrm>
            <a:off x="2441448" y="1691640"/>
            <a:ext cx="685800" cy="685800"/>
          </a:xfrm>
          <a:prstGeom prst="ellipse">
            <a:avLst/>
          </a:prstGeom>
          <a:solidFill>
            <a:srgbClr val="F0B429">
              <a:alpha val="15000"/>
            </a:srgbClr>
          </a:solidFill>
        </p:spPr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1783080"/>
            <a:ext cx="457200" cy="45720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2075688" y="242316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2075688" y="2743200"/>
            <a:ext cx="150876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Ontology将原始数据转化为业务语义：不是「温度85°C」而是「涡轮机T-4271过热，属于工厂A的3号产线」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3538728" y="210312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3785616" y="1188720"/>
            <a:ext cx="1600200" cy="329184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3785616" y="1188720"/>
            <a:ext cx="1600200" cy="45720"/>
          </a:xfrm>
          <a:prstGeom prst="rect">
            <a:avLst/>
          </a:prstGeom>
          <a:solidFill>
            <a:srgbClr val="00E676"/>
          </a:solidFill>
        </p:spPr>
      </p:sp>
      <p:sp>
        <p:nvSpPr>
          <p:cNvPr id="41" name="Text 37"/>
          <p:cNvSpPr/>
          <p:nvPr/>
        </p:nvSpPr>
        <p:spPr>
          <a:xfrm>
            <a:off x="3785616" y="128016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6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2600" dirty="0"/>
          </a:p>
        </p:txBody>
      </p:sp>
      <p:sp>
        <p:nvSpPr>
          <p:cNvPr id="42" name="Shape 38"/>
          <p:cNvSpPr/>
          <p:nvPr/>
        </p:nvSpPr>
        <p:spPr>
          <a:xfrm>
            <a:off x="4197096" y="1691640"/>
            <a:ext cx="685800" cy="685800"/>
          </a:xfrm>
          <a:prstGeom prst="ellipse">
            <a:avLst/>
          </a:prstGeom>
          <a:solidFill>
            <a:srgbClr val="00E676">
              <a:alpha val="15000"/>
            </a:srgbClr>
          </a:solidFill>
        </p:spPr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783080"/>
            <a:ext cx="457200" cy="45720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3831336" y="242316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推理</a:t>
            </a:r>
            <a:endParaRPr lang="en-US" sz="1300" dirty="0"/>
          </a:p>
        </p:txBody>
      </p:sp>
      <p:sp>
        <p:nvSpPr>
          <p:cNvPr id="45" name="Text 40"/>
          <p:cNvSpPr/>
          <p:nvPr/>
        </p:nvSpPr>
        <p:spPr>
          <a:xfrm>
            <a:off x="3831336" y="2743200"/>
            <a:ext cx="150876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Agent在Ontology上持续巡逻：检测异常、预测趋势、模拟场景。提出自然语言建议并量化影响</a:t>
            </a:r>
            <a:endParaRPr lang="en-US" sz="850" dirty="0"/>
          </a:p>
        </p:txBody>
      </p:sp>
      <p:sp>
        <p:nvSpPr>
          <p:cNvPr id="46" name="Text 41"/>
          <p:cNvSpPr/>
          <p:nvPr/>
        </p:nvSpPr>
        <p:spPr>
          <a:xfrm>
            <a:off x="5294376" y="210312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47" name="Shape 42"/>
          <p:cNvSpPr/>
          <p:nvPr/>
        </p:nvSpPr>
        <p:spPr>
          <a:xfrm>
            <a:off x="5541264" y="1188720"/>
            <a:ext cx="1600200" cy="329184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5541264" y="1188720"/>
            <a:ext cx="1600200" cy="45720"/>
          </a:xfrm>
          <a:prstGeom prst="rect">
            <a:avLst/>
          </a:prstGeom>
          <a:solidFill>
            <a:srgbClr val="FF3B3B"/>
          </a:solidFill>
        </p:spPr>
      </p:sp>
      <p:sp>
        <p:nvSpPr>
          <p:cNvPr id="49" name="Text 44"/>
          <p:cNvSpPr/>
          <p:nvPr/>
        </p:nvSpPr>
        <p:spPr>
          <a:xfrm>
            <a:off x="5541264" y="128016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3B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2600" dirty="0"/>
          </a:p>
        </p:txBody>
      </p:sp>
      <p:sp>
        <p:nvSpPr>
          <p:cNvPr id="50" name="Shape 45"/>
          <p:cNvSpPr/>
          <p:nvPr/>
        </p:nvSpPr>
        <p:spPr>
          <a:xfrm>
            <a:off x="5952744" y="1691640"/>
            <a:ext cx="685800" cy="685800"/>
          </a:xfrm>
          <a:prstGeom prst="ellipse">
            <a:avLst/>
          </a:prstGeom>
          <a:solidFill>
            <a:srgbClr val="FF3B3B">
              <a:alpha val="15000"/>
            </a:srgbClr>
          </a:solidFill>
        </p:spPr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4" y="1783080"/>
            <a:ext cx="457200" cy="457200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5586984" y="242316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3B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行动</a:t>
            </a:r>
            <a:endParaRPr lang="en-US" sz="1300" dirty="0"/>
          </a:p>
        </p:txBody>
      </p:sp>
      <p:sp>
        <p:nvSpPr>
          <p:cNvPr id="53" name="Text 47"/>
          <p:cNvSpPr/>
          <p:nvPr/>
        </p:nvSpPr>
        <p:spPr>
          <a:xfrm>
            <a:off x="5586984" y="2743200"/>
            <a:ext cx="150876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AI建议经人类确认后，直接触发Ontology Actions：重新调度产线、下发维护工单、调整库存策略</a:t>
            </a:r>
            <a:endParaRPr lang="en-US" sz="850" dirty="0"/>
          </a:p>
        </p:txBody>
      </p:sp>
      <p:sp>
        <p:nvSpPr>
          <p:cNvPr id="54" name="Text 48"/>
          <p:cNvSpPr/>
          <p:nvPr/>
        </p:nvSpPr>
        <p:spPr>
          <a:xfrm>
            <a:off x="7050024" y="210312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600" dirty="0"/>
          </a:p>
        </p:txBody>
      </p:sp>
      <p:sp>
        <p:nvSpPr>
          <p:cNvPr id="55" name="Shape 49"/>
          <p:cNvSpPr/>
          <p:nvPr/>
        </p:nvSpPr>
        <p:spPr>
          <a:xfrm>
            <a:off x="7296912" y="1188720"/>
            <a:ext cx="1600200" cy="329184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6" name="Shape 50"/>
          <p:cNvSpPr/>
          <p:nvPr/>
        </p:nvSpPr>
        <p:spPr>
          <a:xfrm>
            <a:off x="7296912" y="1188720"/>
            <a:ext cx="1600200" cy="457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57" name="Text 51"/>
          <p:cNvSpPr/>
          <p:nvPr/>
        </p:nvSpPr>
        <p:spPr>
          <a:xfrm>
            <a:off x="7296912" y="1280160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2600" dirty="0"/>
          </a:p>
        </p:txBody>
      </p:sp>
      <p:sp>
        <p:nvSpPr>
          <p:cNvPr id="58" name="Shape 52"/>
          <p:cNvSpPr/>
          <p:nvPr/>
        </p:nvSpPr>
        <p:spPr>
          <a:xfrm>
            <a:off x="7708392" y="1691640"/>
            <a:ext cx="685800" cy="685800"/>
          </a:xfrm>
          <a:prstGeom prst="ellipse">
            <a:avLst/>
          </a:prstGeom>
          <a:solidFill>
            <a:srgbClr val="00D4FF">
              <a:alpha val="15000"/>
            </a:srgbClr>
          </a:solidFill>
        </p:spPr>
      </p:sp>
      <p:pic>
        <p:nvPicPr>
          <p:cNvPr id="5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2" y="1783080"/>
            <a:ext cx="457200" cy="457200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7342632" y="242316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</a:t>
            </a:r>
            <a:endParaRPr lang="en-US" sz="1300" dirty="0"/>
          </a:p>
        </p:txBody>
      </p:sp>
      <p:sp>
        <p:nvSpPr>
          <p:cNvPr id="61" name="Text 54"/>
          <p:cNvSpPr/>
          <p:nvPr/>
        </p:nvSpPr>
        <p:spPr>
          <a:xfrm>
            <a:off x="7342632" y="2743200"/>
            <a:ext cx="150876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每次决策的结果被回写到Ontology，AI Agent持续校准模型。从「人教AI」进化到「AI提议、人审批」</a:t>
            </a:r>
            <a:endParaRPr lang="en-US" sz="850" dirty="0"/>
          </a:p>
        </p:txBody>
      </p:sp>
      <p:sp>
        <p:nvSpPr>
          <p:cNvPr id="62" name="Shape 55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1C3356"/>
          </a:solidFill>
        </p:spPr>
      </p:sp>
      <p:sp>
        <p:nvSpPr>
          <p:cNvPr id="63" name="Text 56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Wendy's案例：3500辆卡车+34个配送中心+6450家门店的实时数字孪生 — 糖浆短缺从发现到解决只需几分钟</a:t>
            </a:r>
            <a:endParaRPr lang="en-US" sz="1000" dirty="0"/>
          </a:p>
        </p:txBody>
      </p:sp>
      <p:sp>
        <p:nvSpPr>
          <p:cNvPr id="64" name="Text 57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 / 23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终局推演：AI原生企业的诞生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当Ontology成为企业标配，整个商业世界将发生什么？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1097280"/>
            <a:ext cx="4114800" cy="164592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1097280"/>
            <a:ext cx="54864" cy="164592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5" name="Shape 23"/>
          <p:cNvSpPr/>
          <p:nvPr/>
        </p:nvSpPr>
        <p:spPr>
          <a:xfrm>
            <a:off x="502920" y="1207008"/>
            <a:ext cx="594360" cy="594360"/>
          </a:xfrm>
          <a:prstGeom prst="ellipse">
            <a:avLst/>
          </a:prstGeom>
          <a:solidFill>
            <a:srgbClr val="00D4FF">
              <a:alpha val="15000"/>
            </a:srgbClr>
          </a:solidFill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384048" cy="38404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097280" y="11887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组织结构坍缩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097280" y="1554480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中层管理的「信息中继」功能被Ontology+AI替代。组织从金字塔变为网状：一线人员直接与AI Agent协作决策，管理层聚焦战略和例外处理。企业人效提升不是30% — 而是10倍。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663440" y="1097280"/>
            <a:ext cx="4114800" cy="164592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663440" y="1097280"/>
            <a:ext cx="54864" cy="1645920"/>
          </a:xfrm>
          <a:prstGeom prst="rect">
            <a:avLst/>
          </a:prstGeom>
          <a:solidFill>
            <a:srgbClr val="F0B429"/>
          </a:solidFill>
        </p:spPr>
      </p:sp>
      <p:sp>
        <p:nvSpPr>
          <p:cNvPr id="31" name="Shape 28"/>
          <p:cNvSpPr/>
          <p:nvPr/>
        </p:nvSpPr>
        <p:spPr>
          <a:xfrm>
            <a:off x="4800600" y="1207008"/>
            <a:ext cx="594360" cy="594360"/>
          </a:xfrm>
          <a:prstGeom prst="ellipse">
            <a:avLst/>
          </a:prstGeom>
          <a:solidFill>
            <a:srgbClr val="F0B429">
              <a:alpha val="15000"/>
            </a:srgbClr>
          </a:solidFill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80160"/>
            <a:ext cx="384048" cy="384048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394960" y="118872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跨企业Ontology网络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5394960" y="1554480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当供应商、客户、合作伙伴的Ontology互联，产业链级别的实时优化成为可能。Airbus的Skywise已连接100+航空公司。未来每个行业都将出现这样的「产业神经网络」。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365760" y="2971800"/>
            <a:ext cx="4114800" cy="164592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365760" y="2971800"/>
            <a:ext cx="54864" cy="1645920"/>
          </a:xfrm>
          <a:prstGeom prst="rect">
            <a:avLst/>
          </a:prstGeom>
          <a:solidFill>
            <a:srgbClr val="00E676"/>
          </a:solidFill>
        </p:spPr>
      </p:sp>
      <p:sp>
        <p:nvSpPr>
          <p:cNvPr id="37" name="Shape 33"/>
          <p:cNvSpPr/>
          <p:nvPr/>
        </p:nvSpPr>
        <p:spPr>
          <a:xfrm>
            <a:off x="502920" y="3081528"/>
            <a:ext cx="594360" cy="594360"/>
          </a:xfrm>
          <a:prstGeom prst="ellipse">
            <a:avLst/>
          </a:prstGeom>
          <a:solidFill>
            <a:srgbClr val="00E676">
              <a:alpha val="15000"/>
            </a:srgbClr>
          </a:solidFill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54680"/>
            <a:ext cx="384048" cy="38404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1097280" y="3063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软件的终极形态变迁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1097280" y="3429000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传统SaaS：人适应软件的逻辑。Ontology型OS：软件映射人的业务逻辑。这意味着「买软件」的时代结束，「建自己的操作系统」的时代开始。每家企业都需要自己的Ontology。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4663440" y="2971800"/>
            <a:ext cx="4114800" cy="164592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4663440" y="2971800"/>
            <a:ext cx="54864" cy="1645920"/>
          </a:xfrm>
          <a:prstGeom prst="rect">
            <a:avLst/>
          </a:prstGeom>
          <a:solidFill>
            <a:srgbClr val="FF3B3B"/>
          </a:solidFill>
        </p:spPr>
      </p:sp>
      <p:sp>
        <p:nvSpPr>
          <p:cNvPr id="43" name="Shape 38"/>
          <p:cNvSpPr/>
          <p:nvPr/>
        </p:nvSpPr>
        <p:spPr>
          <a:xfrm>
            <a:off x="4800600" y="3081528"/>
            <a:ext cx="594360" cy="594360"/>
          </a:xfrm>
          <a:prstGeom prst="ellipse">
            <a:avLst/>
          </a:prstGeom>
          <a:solidFill>
            <a:srgbClr val="FF3B3B">
              <a:alpha val="15000"/>
            </a:srgbClr>
          </a:solidFill>
        </p:spPr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54680"/>
            <a:ext cx="384048" cy="384048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5394960" y="306324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B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决策速度=竞争优势</a:t>
            </a:r>
            <a:endParaRPr lang="en-US" sz="1400" dirty="0"/>
          </a:p>
        </p:txBody>
      </p:sp>
      <p:sp>
        <p:nvSpPr>
          <p:cNvPr id="46" name="Text 40"/>
          <p:cNvSpPr/>
          <p:nvPr/>
        </p:nvSpPr>
        <p:spPr>
          <a:xfrm>
            <a:off x="5394960" y="3429000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当对手的决策链是「看报表→开会→分配任务→执行→反馈」需要两周时，你的决策链是「AI发现→Agent提议→人类审批→自动执行」只需两分钟 — 这不是效率提升，是降维打击。</a:t>
            </a:r>
            <a:endParaRPr lang="en-US" sz="900" dirty="0"/>
          </a:p>
        </p:txBody>
      </p:sp>
      <p:sp>
        <p:nvSpPr>
          <p:cNvPr id="47" name="Shape 41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solidFill>
            <a:srgbClr val="F0B429">
              <a:alpha val="20000"/>
            </a:srgbClr>
          </a:solidFill>
        </p:spPr>
      </p:sp>
      <p:sp>
        <p:nvSpPr>
          <p:cNvPr id="48" name="Text 42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问题不是「要不要用Palantir」— 而是「你的企业准备好拥有自己的Ontology了吗？」</a:t>
            </a:r>
            <a:endParaRPr lang="en-US" sz="1050" dirty="0"/>
          </a:p>
        </p:txBody>
      </p:sp>
      <p:sp>
        <p:nvSpPr>
          <p:cNvPr id="49" name="Text 43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 / 23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传统SaaS的觉醒时刻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Palantir 学到的三件事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1188720"/>
            <a:ext cx="8229600" cy="105156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1188720"/>
            <a:ext cx="64008" cy="105156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5" name="Text 23"/>
          <p:cNvSpPr/>
          <p:nvPr/>
        </p:nvSpPr>
        <p:spPr>
          <a:xfrm>
            <a:off x="640080" y="13258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3400" dirty="0"/>
          </a:p>
        </p:txBody>
      </p:sp>
      <p:sp>
        <p:nvSpPr>
          <p:cNvPr id="26" name="Shape 24"/>
          <p:cNvSpPr/>
          <p:nvPr/>
        </p:nvSpPr>
        <p:spPr>
          <a:xfrm>
            <a:off x="1280160" y="1325880"/>
            <a:ext cx="777240" cy="777240"/>
          </a:xfrm>
          <a:prstGeom prst="ellipse">
            <a:avLst/>
          </a:prstGeom>
          <a:solidFill>
            <a:srgbClr val="00D4FF">
              <a:alpha val="15000"/>
            </a:srgbClr>
          </a:solidFill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17320"/>
            <a:ext cx="502920" cy="5029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2148840" y="1261872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构建Ontology，而非堆叠Feature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2148840" y="1600200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建立统一业务语义层，让所有应用共享同一个「真相来源」。每增加一个应用，Ontology的价值增强一分 — 这是护城河，不是产品线。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57200" y="2423160"/>
            <a:ext cx="64008" cy="1051560"/>
          </a:xfrm>
          <a:prstGeom prst="rect">
            <a:avLst/>
          </a:prstGeom>
          <a:solidFill>
            <a:srgbClr val="F0B429"/>
          </a:solidFill>
        </p:spPr>
      </p:sp>
      <p:sp>
        <p:nvSpPr>
          <p:cNvPr id="32" name="Text 29"/>
          <p:cNvSpPr/>
          <p:nvPr/>
        </p:nvSpPr>
        <p:spPr>
          <a:xfrm>
            <a:off x="640080" y="25603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0B42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3400" dirty="0"/>
          </a:p>
        </p:txBody>
      </p:sp>
      <p:sp>
        <p:nvSpPr>
          <p:cNvPr id="33" name="Shape 30"/>
          <p:cNvSpPr/>
          <p:nvPr/>
        </p:nvSpPr>
        <p:spPr>
          <a:xfrm>
            <a:off x="1280160" y="2560320"/>
            <a:ext cx="777240" cy="777240"/>
          </a:xfrm>
          <a:prstGeom prst="ellipse">
            <a:avLst/>
          </a:prstGeom>
          <a:solidFill>
            <a:srgbClr val="F0B429">
              <a:alpha val="15000"/>
            </a:srgbClr>
          </a:solidFill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0"/>
            <a:ext cx="502920" cy="50292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2148840" y="2496312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让AI连接业务流程，而非停留在Chat</a:t>
            </a:r>
            <a:endParaRPr lang="en-US" sz="1500" dirty="0"/>
          </a:p>
        </p:txBody>
      </p:sp>
      <p:sp>
        <p:nvSpPr>
          <p:cNvPr id="36" name="Text 32"/>
          <p:cNvSpPr/>
          <p:nvPr/>
        </p:nvSpPr>
        <p:spPr>
          <a:xfrm>
            <a:off x="2148840" y="2834640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LLM必须嵌入业务对象、决策链和操作流。AIP证明：AI的真正价值在于「行动化」，而非「对话化」。</a:t>
            </a:r>
            <a:endParaRPr lang="en-US" sz="1050" dirty="0"/>
          </a:p>
        </p:txBody>
      </p:sp>
      <p:sp>
        <p:nvSpPr>
          <p:cNvPr id="37" name="Shape 33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131C2E"/>
          </a:solidFill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457200" y="3657600"/>
            <a:ext cx="64008" cy="1051560"/>
          </a:xfrm>
          <a:prstGeom prst="rect">
            <a:avLst/>
          </a:prstGeom>
          <a:solidFill>
            <a:srgbClr val="00E676"/>
          </a:solidFill>
        </p:spPr>
      </p:sp>
      <p:sp>
        <p:nvSpPr>
          <p:cNvPr id="39" name="Text 35"/>
          <p:cNvSpPr/>
          <p:nvPr/>
        </p:nvSpPr>
        <p:spPr>
          <a:xfrm>
            <a:off x="640080" y="37947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E67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3400" dirty="0"/>
          </a:p>
        </p:txBody>
      </p:sp>
      <p:sp>
        <p:nvSpPr>
          <p:cNvPr id="40" name="Shape 36"/>
          <p:cNvSpPr/>
          <p:nvPr/>
        </p:nvSpPr>
        <p:spPr>
          <a:xfrm>
            <a:off x="1280160" y="3794760"/>
            <a:ext cx="777240" cy="777240"/>
          </a:xfrm>
          <a:prstGeom prst="ellipse">
            <a:avLst/>
          </a:prstGeom>
          <a:solidFill>
            <a:srgbClr val="00E676">
              <a:alpha val="15000"/>
            </a:srgbClr>
          </a:solidFill>
        </p:spPr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886200"/>
            <a:ext cx="502920" cy="502920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2148840" y="3730752"/>
            <a:ext cx="6309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用「操作系统」思维取代「工具」思维</a:t>
            </a:r>
            <a:endParaRPr lang="en-US" sz="1500" dirty="0"/>
          </a:p>
        </p:txBody>
      </p:sp>
      <p:sp>
        <p:nvSpPr>
          <p:cNvPr id="43" name="Text 38"/>
          <p:cNvSpPr/>
          <p:nvPr/>
        </p:nvSpPr>
        <p:spPr>
          <a:xfrm>
            <a:off x="2148840" y="4069080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传统SaaS是瑞士军刀，Palantir是操作系统。一个平台支撑无限应用。留存率98%、净扩展率124%证明了这种模式。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 / 23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46888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0"/>
            <a:ext cx="0" cy="5143500"/>
          </a:xfrm>
          <a:prstGeom prst="line">
            <a:avLst/>
          </a:prstGeom>
          <a:noFill/>
          <a:ln w="3175">
            <a:solidFill>
              <a:srgbClr val="14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432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432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4869180"/>
            <a:ext cx="54864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69680" y="4320540"/>
            <a:ext cx="0" cy="54864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08960" y="182880"/>
            <a:ext cx="2926080" cy="2926080"/>
          </a:xfrm>
          <a:prstGeom prst="ellipse">
            <a:avLst/>
          </a:prstGeom>
          <a:solidFill>
            <a:srgbClr val="00D4FF">
              <a:alpha val="15000"/>
            </a:srgbClr>
          </a:solidFill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640080"/>
            <a:ext cx="1463040" cy="1463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7200" y="246888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800" kern="0" spc="4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THE FUTURE BELONGS TO</a:t>
            </a:r>
            <a:endParaRPr lang="en-US" sz="3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800" kern="0" spc="4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THOSE WHO CAN SEE</a:t>
            </a:r>
            <a:endParaRPr lang="en-US" sz="3800" dirty="0"/>
          </a:p>
        </p:txBody>
      </p:sp>
      <p:sp>
        <p:nvSpPr>
          <p:cNvPr id="24" name="Shape 21"/>
          <p:cNvSpPr/>
          <p:nvPr/>
        </p:nvSpPr>
        <p:spPr>
          <a:xfrm>
            <a:off x="3200400" y="3566160"/>
            <a:ext cx="2743200" cy="22860"/>
          </a:xfrm>
          <a:prstGeom prst="rect">
            <a:avLst/>
          </a:prstGeom>
          <a:solidFill>
            <a:srgbClr val="00D4FF"/>
          </a:solidFill>
        </p:spPr>
      </p:sp>
      <p:sp>
        <p:nvSpPr>
          <p:cNvPr id="25" name="Text 22"/>
          <p:cNvSpPr/>
          <p:nvPr/>
        </p:nvSpPr>
        <p:spPr>
          <a:xfrm>
            <a:off x="914400" y="374904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4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未来属于那些「看得见」的人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C7D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你的企业，准备好了吗？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863840" y="475488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C6B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 / 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6438</Words>
  <Application>WPS 演示</Application>
  <PresentationFormat>On-screen Show (16:9)</PresentationFormat>
  <Paragraphs>722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7" baseType="lpstr">
      <vt:lpstr>Arial</vt:lpstr>
      <vt:lpstr>宋体</vt:lpstr>
      <vt:lpstr>Wingdings</vt:lpstr>
      <vt:lpstr>PingFang SC</vt:lpstr>
      <vt:lpstr>FFont-Family</vt:lpstr>
      <vt:lpstr>PingFang SC</vt:lpstr>
      <vt:lpstr>PingFang SC</vt:lpstr>
      <vt:lpstr>Calibri</vt:lpstr>
      <vt:lpstr>微软雅黑</vt:lpstr>
      <vt:lpstr>Arial Unicode MS</vt:lpstr>
      <vt:lpstr>等线</vt:lpstr>
      <vt:lpstr>MS PGothic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Palantir: The One Who Sees</dc:title>
  <dc:creator>Claude</dc:creator>
  <dc:subject>PptxGenJS Presentation</dc:subject>
  <cp:lastModifiedBy>杜大同(菜鸟-地网运输技术部 剑笑)</cp:lastModifiedBy>
  <cp:revision>2</cp:revision>
  <dcterms:created xsi:type="dcterms:W3CDTF">2026-03-11T00:18:00Z</dcterms:created>
  <dcterms:modified xsi:type="dcterms:W3CDTF">2026-07-07T06:20:26Z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F3AA5785F6524CA49AB1D0B937F85BD9_13</vt:lpwstr>
  </property>
  <property fmtid="{D5CDD505-2E9C-101B-9397-08002B2CF9AE}" pid="3" name="KSOProductBuildVer">
    <vt:lpwstr>2052-12.1.0.26895</vt:lpwstr>
  </property>
</Properties>
</file>