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331720"/>
            <a:ext cx="41148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9144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00B4D8"/>
                </a:solidFill>
                <a:latin typeface="Microsoft YaHei"/>
              </a:defRPr>
            </a:pPr>
            <a:r>
              <a:t>谛听  DITING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146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让每一条多肽工艺都被「看见」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37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>
                <a:solidFill>
                  <a:srgbClr val="CCD6E0"/>
                </a:solidFill>
                <a:latin typeface="Microsoft YaHei"/>
              </a:defRPr>
            </a:pPr>
            <a:r>
              <a:t>生物-数字双模态知识网 × 神经扩散智能体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3035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8A9BAD"/>
                </a:solidFill>
                <a:latin typeface="Microsoft YaHei"/>
              </a:defRPr>
            </a:pPr>
            <a:r>
              <a:t>湃肽生物（ZPC）研发中心合作方案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064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8A9BAD"/>
                </a:solidFill>
                <a:latin typeface="Microsoft YaHei"/>
              </a:defRPr>
            </a:pPr>
            <a:r>
              <a:t>2026 · 谛听科技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合作方 · 湃肽生物（ZPC）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01168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8A9BAD"/>
                </a:solidFill>
                <a:latin typeface="Microsoft YaHei"/>
              </a:defRPr>
            </a:pPr>
            <a:r>
              <a:t>谛听 × 湃肽生物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8A9BAD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30352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CCD6E0"/>
                </a:solidFill>
                <a:latin typeface="Microsoft YaHei"/>
              </a:defRPr>
            </a:pPr>
            <a:r>
              <a:t>国家级专精特新「小巨人」企业</a:t>
            </a:r>
          </a:p>
          <a:p>
            <a:pPr>
              <a:spcAft>
                <a:spcPts val="900"/>
              </a:spcAft>
              <a:defRPr sz="1500">
                <a:solidFill>
                  <a:srgbClr val="CCD6E0"/>
                </a:solidFill>
                <a:latin typeface="Microsoft YaHei"/>
              </a:defRPr>
            </a:pPr>
            <a:r>
              <a:t>双轮驱动：药物肽 + 化妆品肽</a:t>
            </a:r>
          </a:p>
          <a:p>
            <a:pPr>
              <a:spcAft>
                <a:spcPts val="900"/>
              </a:spcAft>
              <a:defRPr sz="1500">
                <a:solidFill>
                  <a:srgbClr val="CCD6E0"/>
                </a:solidFill>
                <a:latin typeface="Microsoft YaHei"/>
              </a:defRPr>
            </a:pPr>
            <a:r>
              <a:t>cGMP / FDA 双认证生产体系</a:t>
            </a:r>
          </a:p>
          <a:p>
            <a:pPr>
              <a:spcAft>
                <a:spcPts val="900"/>
              </a:spcAft>
              <a:defRPr sz="1500">
                <a:solidFill>
                  <a:srgbClr val="CCD6E0"/>
                </a:solidFill>
                <a:latin typeface="Microsoft YaHei"/>
              </a:defRPr>
            </a:pPr>
            <a:r>
              <a:t>浙江省多肽生物工程研究中心</a:t>
            </a:r>
          </a:p>
          <a:p>
            <a:pPr>
              <a:spcAft>
                <a:spcPts val="900"/>
              </a:spcAft>
              <a:defRPr sz="1500">
                <a:solidFill>
                  <a:srgbClr val="CCD6E0"/>
                </a:solidFill>
                <a:latin typeface="Microsoft YaHei"/>
              </a:defRPr>
            </a:pPr>
            <a:r>
              <a:t>核心技术：固相合成 · 液相合成 · 环肽 · 修饰肽</a:t>
            </a:r>
          </a:p>
          <a:p>
            <a:pPr>
              <a:spcAft>
                <a:spcPts val="900"/>
              </a:spcAft>
              <a:defRPr sz="1500">
                <a:solidFill>
                  <a:srgbClr val="CCD6E0"/>
                </a:solidFill>
                <a:latin typeface="Microsoft YaHei"/>
              </a:defRPr>
            </a:pPr>
            <a:r>
              <a:t>在研管线：司美格鲁肽、利拉鲁肽、替尔泊肽等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Microsoft YaHei"/>
              </a:defRPr>
            </a:pPr>
            <a:r>
              <a:t>核心痛点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920240"/>
            <a:ext cx="53035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40"/>
              </a:spcAft>
              <a:defRPr sz="1400">
                <a:solidFill>
                  <a:srgbClr val="CCD6E0"/>
                </a:solidFill>
                <a:latin typeface="Microsoft YaHei"/>
              </a:defRPr>
            </a:pPr>
            <a:r>
              <a:t>20 年工艺经验沉淀在专家脑中，难以传承</a:t>
            </a:r>
          </a:p>
          <a:p>
            <a:pPr>
              <a:spcAft>
                <a:spcPts val="840"/>
              </a:spcAft>
              <a:defRPr sz="1400">
                <a:solidFill>
                  <a:srgbClr val="CCD6E0"/>
                </a:solidFill>
                <a:latin typeface="Microsoft YaHei"/>
              </a:defRPr>
            </a:pPr>
            <a:r>
              <a:t>LIMS / ELN / 文献 / 专利数据各自为政</a:t>
            </a:r>
          </a:p>
          <a:p>
            <a:pPr>
              <a:spcAft>
                <a:spcPts val="840"/>
              </a:spcAft>
              <a:defRPr sz="1400">
                <a:solidFill>
                  <a:srgbClr val="CCD6E0"/>
                </a:solidFill>
                <a:latin typeface="Microsoft YaHei"/>
              </a:defRPr>
            </a:pPr>
            <a:r>
              <a:t>新人培养周期长，关键决策高度依赖资深工程师</a:t>
            </a:r>
          </a:p>
          <a:p>
            <a:pPr>
              <a:spcAft>
                <a:spcPts val="840"/>
              </a:spcAft>
              <a:defRPr sz="1400">
                <a:solidFill>
                  <a:srgbClr val="CCD6E0"/>
                </a:solidFill>
                <a:latin typeface="Microsoft YaHei"/>
              </a:defRPr>
            </a:pPr>
            <a:r>
              <a:t>AI 工具缺乏领域本体约束，难以进入核心研发流程</a:t>
            </a:r>
          </a:p>
          <a:p>
            <a:pPr>
              <a:spcAft>
                <a:spcPts val="840"/>
              </a:spcAft>
              <a:defRPr sz="1400">
                <a:solidFill>
                  <a:srgbClr val="CCD6E0"/>
                </a:solidFill>
                <a:latin typeface="Microsoft YaHei"/>
              </a:defRPr>
            </a:pPr>
            <a:r>
              <a:t>实验数据与知识资产未形成可复用的智能网络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多肽研发「黑盒时代」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01168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8A9BAD"/>
                </a:solidFill>
                <a:latin typeface="Microsoft YaHei"/>
              </a:defRPr>
            </a:pPr>
            <a:r>
              <a:t>谛听 × 湃肽生物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8A9BAD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3200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600" b="1">
                <a:solidFill>
                  <a:srgbClr val="00B4D8"/>
                </a:solidFill>
                <a:latin typeface="Microsoft YaHei"/>
              </a:defRPr>
            </a:pPr>
            <a:r>
              <a:t>20+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CCD6E0"/>
                </a:solidFill>
                <a:latin typeface="Microsoft YaHei"/>
              </a:defRPr>
            </a:pPr>
            <a:r>
              <a:t>年工艺经验沉淀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59" y="1828800"/>
            <a:ext cx="3200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600" b="1">
                <a:solidFill>
                  <a:srgbClr val="00B4D8"/>
                </a:solidFill>
                <a:latin typeface="Microsoft YaHei"/>
              </a:defRPr>
            </a:pPr>
            <a:r>
              <a:t>70%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59" y="283464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CCD6E0"/>
                </a:solidFill>
                <a:latin typeface="Microsoft YaHei"/>
              </a:defRPr>
            </a:pPr>
            <a:r>
              <a:t>关键决策依赖专家直觉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200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600" b="1">
                <a:solidFill>
                  <a:srgbClr val="00B4D8"/>
                </a:solidFill>
                <a:latin typeface="Microsoft YaHei"/>
              </a:defRPr>
            </a:pPr>
            <a:r>
              <a:t>5+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83464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CCD6E0"/>
                </a:solidFill>
                <a:latin typeface="Microsoft YaHei"/>
              </a:defRPr>
            </a:pPr>
            <a:r>
              <a:t>异构数据源孤岛并存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40480"/>
            <a:ext cx="109728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CCD6E0"/>
                </a:solidFill>
                <a:latin typeface="Microsoft YaHei"/>
              </a:defRPr>
            </a:pPr>
            <a:r>
              <a:t>工艺卡片、实验记录、HPLC 谱图、专利文献——信息丰富但彼此割裂</a:t>
            </a:r>
          </a:p>
          <a:p>
            <a:pPr>
              <a:spcAft>
                <a:spcPts val="900"/>
              </a:spcAft>
              <a:defRPr sz="1500">
                <a:solidFill>
                  <a:srgbClr val="CCD6E0"/>
                </a:solidFill>
                <a:latin typeface="Microsoft YaHei"/>
              </a:defRPr>
            </a:pPr>
            <a:r>
              <a:t>资深工程师退休或转岗，隐性知识随之流失，组织记忆出现断层</a:t>
            </a:r>
          </a:p>
          <a:p>
            <a:pPr>
              <a:spcAft>
                <a:spcPts val="900"/>
              </a:spcAft>
              <a:defRPr sz="1500">
                <a:solidFill>
                  <a:srgbClr val="CCD6E0"/>
                </a:solidFill>
                <a:latin typeface="Microsoft YaHei"/>
              </a:defRPr>
            </a:pPr>
            <a:r>
              <a:t>通用大模型无法「理解」多肽领域的因果链：参数 → 收率 → 杂质谱</a:t>
            </a:r>
          </a:p>
          <a:p>
            <a:pPr>
              <a:spcAft>
                <a:spcPts val="900"/>
              </a:spcAft>
              <a:defRPr sz="1500">
                <a:solidFill>
                  <a:srgbClr val="CCD6E0"/>
                </a:solidFill>
                <a:latin typeface="Microsoft YaHei"/>
              </a:defRPr>
            </a:pPr>
            <a:r>
              <a:t>研发效率的瓶颈不在算力，而在于知识不可见、不可传导、不可行动化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传统信息化困局：数据孤岛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01168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8A9BAD"/>
                </a:solidFill>
                <a:latin typeface="Microsoft YaHei"/>
              </a:defRPr>
            </a:pPr>
            <a:r>
              <a:t>谛听 × 湃肽生物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8A9BAD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5394960" cy="2011680"/>
          </a:xfrm>
          <a:prstGeom prst="roundRect">
            <a:avLst/>
          </a:prstGeom>
          <a:solidFill>
            <a:srgbClr val="12223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Microsoft YaHei"/>
              </a:defRPr>
            </a:pPr>
            <a:r>
              <a:t>LIMS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8A9BAD"/>
                </a:solidFill>
                <a:latin typeface="Microsoft YaHei"/>
              </a:defRPr>
            </a:pPr>
            <a:r>
              <a:t>实验流程管理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4846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CD6E0"/>
                </a:solidFill>
                <a:latin typeface="Microsoft YaHei"/>
              </a:defRPr>
            </a:pPr>
            <a:r>
              <a:t>批次数据难关联工艺知识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63040"/>
            <a:ext cx="5394960" cy="2011680"/>
          </a:xfrm>
          <a:prstGeom prst="roundRect">
            <a:avLst/>
          </a:prstGeom>
          <a:solidFill>
            <a:srgbClr val="12223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4592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Microsoft YaHei"/>
              </a:defRPr>
            </a:pPr>
            <a:r>
              <a:t>ELN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8A9BAD"/>
                </a:solidFill>
                <a:latin typeface="Microsoft YaHei"/>
              </a:defRPr>
            </a:pPr>
            <a:r>
              <a:t>电子实验记录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560320"/>
            <a:ext cx="4846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CD6E0"/>
                </a:solidFill>
                <a:latin typeface="Microsoft YaHei"/>
              </a:defRPr>
            </a:pPr>
            <a:r>
              <a:t>记录与检索分离，难成网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40480"/>
            <a:ext cx="5394960" cy="2011680"/>
          </a:xfrm>
          <a:prstGeom prst="roundRect">
            <a:avLst/>
          </a:prstGeom>
          <a:solidFill>
            <a:srgbClr val="12223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2336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Microsoft YaHei"/>
              </a:defRPr>
            </a:pPr>
            <a:r>
              <a:t>专利库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2628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8A9BAD"/>
                </a:solidFill>
                <a:latin typeface="Microsoft YaHei"/>
              </a:defRPr>
            </a:pPr>
            <a:r>
              <a:t>知识产权资产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937760"/>
            <a:ext cx="4846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CD6E0"/>
                </a:solidFill>
                <a:latin typeface="Microsoft YaHei"/>
              </a:defRPr>
            </a:pPr>
            <a:r>
              <a:t>全文难结构化，难迁移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840480"/>
            <a:ext cx="5394960" cy="2011680"/>
          </a:xfrm>
          <a:prstGeom prst="roundRect">
            <a:avLst/>
          </a:prstGeom>
          <a:solidFill>
            <a:srgbClr val="12223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402336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Microsoft YaHei"/>
              </a:defRPr>
            </a:pPr>
            <a:r>
              <a:t>文献库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52628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8A9BAD"/>
                </a:solidFill>
                <a:latin typeface="Microsoft YaHei"/>
              </a:defRPr>
            </a:pPr>
            <a:r>
              <a:t>外部知识输入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937760"/>
            <a:ext cx="4846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CD6E0"/>
                </a:solidFill>
                <a:latin typeface="Microsoft YaHei"/>
              </a:defRPr>
            </a:pPr>
            <a:r>
              <a:t>与内部工艺缺乏映射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0B4D8"/>
                </a:solidFill>
                <a:latin typeface="Microsoft YaHei"/>
              </a:defRPr>
            </a:pPr>
            <a:r>
              <a:t>→ 系统越多，孤岛越多；知识依然「看不见」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我们的定位：L1 / L2 / L3 传导架构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01168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8A9BAD"/>
                </a:solidFill>
                <a:latin typeface="Microsoft YaHei"/>
              </a:defRPr>
            </a:pPr>
            <a:r>
              <a:t>谛听 × 湃肽生物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8A9BAD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731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Microsoft YaHei"/>
              </a:defRPr>
            </a:pPr>
            <a:r>
              <a:t>L1  数据管道层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8A9BAD"/>
                </a:solidFill>
                <a:latin typeface="Microsoft YaHei"/>
              </a:defRPr>
            </a:pPr>
            <a:r>
              <a:t>采集 · 解析 · 结构化入库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371600"/>
            <a:ext cx="6858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CCD6E0"/>
                </a:solidFill>
                <a:latin typeface="Microsoft YaHei"/>
              </a:defRPr>
            </a:pPr>
            <a:r>
              <a:t>工艺卡片 / 实验记录 / 谱图 / 专利 / 文献 → 统一语义切片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063240"/>
            <a:ext cx="731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01752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Microsoft YaHei"/>
              </a:defRPr>
            </a:pPr>
            <a:r>
              <a:t>L2  知识网本体层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2900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8A9BAD"/>
                </a:solidFill>
                <a:latin typeface="Microsoft YaHei"/>
              </a:defRPr>
            </a:pPr>
            <a:r>
              <a:t>节点 · 边 · 突触权重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063240"/>
            <a:ext cx="6858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CCD6E0"/>
                </a:solidFill>
                <a:latin typeface="Microsoft YaHei"/>
              </a:defRPr>
            </a:pPr>
            <a:r>
              <a:t>document / section / concept / media / experiment 映射多肽世界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754880"/>
            <a:ext cx="731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70916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Microsoft YaHei"/>
              </a:defRPr>
            </a:pPr>
            <a:r>
              <a:t>L3  智能体行动层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1206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8A9BAD"/>
                </a:solidFill>
                <a:latin typeface="Microsoft YaHei"/>
              </a:defRPr>
            </a:pPr>
            <a:r>
              <a:t>PPR 扩散 + Skill 调度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4754880"/>
            <a:ext cx="6858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CCD6E0"/>
                </a:solidFill>
                <a:latin typeface="Microsoft YaHei"/>
              </a:defRPr>
            </a:pPr>
            <a:r>
              <a:t>纯化推荐 · 路线选型 · 失效诊断 · 人机协同决策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0B4D8"/>
                </a:solidFill>
                <a:latin typeface="Microsoft YaHei"/>
              </a:defRPr>
            </a:pPr>
            <a:r>
              <a:t>生物-数字双模态知识网：让数据流动，让经验传导，让决策可行动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核心理念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01168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8A9BAD"/>
                </a:solidFill>
                <a:latin typeface="Microsoft YaHei"/>
              </a:defRPr>
            </a:pPr>
            <a:r>
              <a:t>谛听 × 湃肽生物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8A9BAD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Microsoft YaHei"/>
              </a:defRPr>
            </a:pPr>
            <a:r>
              <a:t>01  增强专家，而非替代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CCD6E0"/>
                </a:solidFill>
                <a:latin typeface="Microsoft YaHei"/>
              </a:defRPr>
            </a:pPr>
            <a:r>
              <a:t>AI 是资深工程师的「第二大脑」，每条建议附可追溯来源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Microsoft YaHei"/>
              </a:defRPr>
            </a:pPr>
            <a:r>
              <a:t>02  知识网本体先行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632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CCD6E0"/>
                </a:solidFill>
                <a:latin typeface="Microsoft YaHei"/>
              </a:defRPr>
            </a:pPr>
            <a:r>
              <a:t>先建业务语义层，再谈大模型；本体是 AI 落地的地基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8620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Microsoft YaHei"/>
              </a:defRPr>
            </a:pPr>
            <a:r>
              <a:t>03  人机协同闭环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976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CCD6E0"/>
                </a:solidFill>
                <a:latin typeface="Microsoft YaHei"/>
              </a:defRPr>
            </a:pPr>
            <a:r>
              <a:t>Human-in-the-Loop：专家审核 → 反馈 → 边权强化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12064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Microsoft YaHei"/>
              </a:defRPr>
            </a:pPr>
            <a:r>
              <a:t>04  数据 → 决策 → 实验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53212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CCD6E0"/>
                </a:solidFill>
                <a:latin typeface="Microsoft YaHei"/>
              </a:defRPr>
            </a:pPr>
            <a:r>
              <a:t>从被动检索升级为主动推荐，驱动下一轮实验设计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谛听方案 vs 传统信息化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01168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8A9BAD"/>
                </a:solidFill>
                <a:latin typeface="Microsoft YaHei"/>
              </a:defRPr>
            </a:pPr>
            <a:r>
              <a:t>谛听 × 湃肽生物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8A9BAD"/>
                </a:solidFill>
                <a:latin typeface="Microsoft YaHei"/>
              </a:defRPr>
            </a:pPr>
            <a: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25880"/>
          <a:ext cx="110642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389120"/>
                <a:gridCol w="4663440"/>
              </a:tblGrid>
              <a:tr h="67926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B4D8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B4D8"/>
                          </a:solidFill>
                          <a:latin typeface="Microsoft YaHei"/>
                        </a:defRPr>
                      </a:pPr>
                      <a:r>
                        <a:t>传统方案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B4D8"/>
                          </a:solidFill>
                          <a:latin typeface="Microsoft YaHei"/>
                        </a:defRPr>
                      </a:pPr>
                      <a:r>
                        <a:t>谛听知识网方案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数据模型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表格 + 全文检索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节点/边/技能 本体图谱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知识传承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文档归档，依赖人工翻阅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PPR 扩散，相似工艺自动迁移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AI 接入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通用 ChatBot，易幻觉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meta-path 约束 + 来源溯源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专家角色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AI 替代焦虑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增强专家，审核即训练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实验闭环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记录与分析割裂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干湿闭环，实验回流强化边权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部署模式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SaaS 数据出境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私有化部署，数据不出域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三大能力层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01168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8A9BAD"/>
                </a:solidFill>
                <a:latin typeface="Microsoft YaHei"/>
              </a:defRPr>
            </a:pPr>
            <a:r>
              <a:t>谛听 × 湃肽生物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8A9BAD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566160" cy="4389120"/>
          </a:xfrm>
          <a:prstGeom prst="roundRect">
            <a:avLst/>
          </a:prstGeom>
          <a:solidFill>
            <a:srgbClr val="12223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00B4D8"/>
                </a:solidFill>
                <a:latin typeface="Microsoft YaHei"/>
              </a:defRPr>
            </a:pPr>
            <a:r>
              <a:t>知识网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8A9BAD"/>
                </a:solidFill>
                <a:latin typeface="Microsoft YaHei"/>
              </a:defRPr>
            </a:pPr>
            <a:r>
              <a:t>Knowledge 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34640"/>
            <a:ext cx="31089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CD6E0"/>
                </a:solidFill>
                <a:latin typeface="Microsoft YaHei"/>
              </a:defRPr>
            </a:pPr>
            <a:r>
              <a:t>多肽领域专属本体：文档、段落、概念、谱图、实验、分子节点互联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554480"/>
            <a:ext cx="3566160" cy="4389120"/>
          </a:xfrm>
          <a:prstGeom prst="roundRect">
            <a:avLst/>
          </a:prstGeom>
          <a:solidFill>
            <a:srgbClr val="12223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7373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00B4D8"/>
                </a:solidFill>
                <a:latin typeface="Microsoft YaHei"/>
              </a:defRPr>
            </a:pPr>
            <a:r>
              <a:t>传导引擎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24028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8A9BAD"/>
                </a:solidFill>
                <a:latin typeface="Microsoft YaHei"/>
              </a:defRPr>
            </a:pPr>
            <a:r>
              <a:t>PPR Diffusion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834640"/>
            <a:ext cx="31089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CD6E0"/>
                </a:solidFill>
                <a:latin typeface="Microsoft YaHei"/>
              </a:defRPr>
            </a:pPr>
            <a:r>
              <a:t>个性化 PageRank 沿 meta-path 扩散，模拟神经突触信号传导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554480"/>
            <a:ext cx="3566160" cy="4389120"/>
          </a:xfrm>
          <a:prstGeom prst="roundRect">
            <a:avLst/>
          </a:prstGeom>
          <a:solidFill>
            <a:srgbClr val="12223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7373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00B4D8"/>
                </a:solidFill>
                <a:latin typeface="Microsoft YaHei"/>
              </a:defRPr>
            </a:pPr>
            <a:r>
              <a:t>领域智能体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24028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8A9BAD"/>
                </a:solidFill>
                <a:latin typeface="Microsoft YaHei"/>
              </a:defRPr>
            </a:pPr>
            <a:r>
              <a:t>Domain Agents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834640"/>
            <a:ext cx="31089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CD6E0"/>
                </a:solidFill>
                <a:latin typeface="Microsoft YaHei"/>
              </a:defRPr>
            </a:pPr>
            <a:r>
              <a:t>纯化选型 · 合成路线 · 失效诊断 · 文献检索 · 方案生成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三层架构：应用 / 本体 / 管道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01168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8A9BAD"/>
                </a:solidFill>
                <a:latin typeface="Microsoft YaHei"/>
              </a:defRPr>
            </a:pPr>
            <a:r>
              <a:t>谛听 × 湃肽生物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8A9BAD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1417320"/>
          </a:xfrm>
          <a:prstGeom prst="rect">
            <a:avLst/>
          </a:prstGeom>
          <a:solidFill>
            <a:srgbClr val="12223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Microsoft YaHei"/>
              </a:defRPr>
            </a:pPr>
            <a:r>
              <a:t>应用层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55448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对话检索 · 智能推荐 · 实验方案生成 · 知识图谱可视化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057400"/>
            <a:ext cx="8046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8A9BAD"/>
                </a:solidFill>
                <a:latin typeface="Microsoft YaHei"/>
              </a:defRPr>
            </a:pPr>
            <a:r>
              <a:t>研发人员日常交互入口，专家审核与反馈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08960"/>
            <a:ext cx="11064240" cy="1417320"/>
          </a:xfrm>
          <a:prstGeom prst="rect">
            <a:avLst/>
          </a:prstGeom>
          <a:solidFill>
            <a:srgbClr val="12223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246120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Microsoft YaHei"/>
              </a:defRPr>
            </a:pPr>
            <a:r>
              <a:t>本体层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24612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节点 / 边 / 技能 / meta-path / 突触权重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749040"/>
            <a:ext cx="8046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8A9BAD"/>
                </a:solidFill>
                <a:latin typeface="Microsoft YaHei"/>
              </a:defRPr>
            </a:pPr>
            <a:r>
              <a:t>多肽业务语义核心，连接数据与行动的桥梁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800600"/>
            <a:ext cx="11064240" cy="1417320"/>
          </a:xfrm>
          <a:prstGeom prst="rect">
            <a:avLst/>
          </a:prstGeom>
          <a:solidFill>
            <a:srgbClr val="12223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937760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Microsoft YaHei"/>
              </a:defRPr>
            </a:pPr>
            <a:r>
              <a:t>管道层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93776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采集 → 解析 → 分段 → 向量化 → 成网 → 回流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5440680"/>
            <a:ext cx="8046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8A9BAD"/>
                </a:solidFill>
                <a:latin typeface="Microsoft YaHei"/>
              </a:defRPr>
            </a:pPr>
            <a:r>
              <a:t>LIMS/ELN/文献/专利/谱图统一入库与持续更新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知识网本体 vs 传统数据模型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01168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8A9BAD"/>
                </a:solidFill>
                <a:latin typeface="Microsoft YaHei"/>
              </a:defRPr>
            </a:pPr>
            <a:r>
              <a:t>谛听 × 湃肽生物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8A9BAD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5303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8A9BAD"/>
                </a:solidFill>
                <a:latin typeface="Microsoft YaHei"/>
              </a:defRPr>
            </a:pPr>
            <a:r>
              <a:t>传统数据模型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53035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40"/>
              </a:spcAft>
              <a:defRPr sz="1400">
                <a:solidFill>
                  <a:srgbClr val="8A9BAD"/>
                </a:solidFill>
                <a:latin typeface="Microsoft YaHei"/>
              </a:defRPr>
            </a:pPr>
            <a:r>
              <a:t>关系型表：行与列，缺乏语义</a:t>
            </a:r>
          </a:p>
          <a:p>
            <a:pPr>
              <a:spcAft>
                <a:spcPts val="840"/>
              </a:spcAft>
              <a:defRPr sz="1400">
                <a:solidFill>
                  <a:srgbClr val="8A9BAD"/>
                </a:solidFill>
                <a:latin typeface="Microsoft YaHei"/>
              </a:defRPr>
            </a:pPr>
            <a:r>
              <a:t>全文索引：关键词匹配，无语境</a:t>
            </a:r>
          </a:p>
          <a:p>
            <a:pPr>
              <a:spcAft>
                <a:spcPts val="840"/>
              </a:spcAft>
              <a:defRPr sz="1400">
                <a:solidFill>
                  <a:srgbClr val="8A9BAD"/>
                </a:solidFill>
                <a:latin typeface="Microsoft YaHei"/>
              </a:defRPr>
            </a:pPr>
            <a:r>
              <a:t>文件夹：树状层级，跨文档断裂</a:t>
            </a:r>
          </a:p>
          <a:p>
            <a:pPr>
              <a:spcAft>
                <a:spcPts val="840"/>
              </a:spcAft>
              <a:defRPr sz="1400">
                <a:solidFill>
                  <a:srgbClr val="8A9BAD"/>
                </a:solidFill>
                <a:latin typeface="Microsoft YaHei"/>
              </a:defRPr>
            </a:pPr>
            <a:r>
              <a:t>向量库：语义相近但因果不明</a:t>
            </a:r>
          </a:p>
          <a:p>
            <a:pPr>
              <a:spcAft>
                <a:spcPts val="840"/>
              </a:spcAft>
              <a:defRPr sz="1400">
                <a:solidFill>
                  <a:srgbClr val="8A9BAD"/>
                </a:solidFill>
                <a:latin typeface="Microsoft YaHei"/>
              </a:defRPr>
            </a:pPr>
            <a:r>
              <a:t>→ 知道「有什么」，不知道「为什么」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325880"/>
            <a:ext cx="5303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Microsoft YaHei"/>
              </a:defRPr>
            </a:pPr>
            <a:r>
              <a:t>知识网本体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828800"/>
            <a:ext cx="53035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40"/>
              </a:spcAft>
              <a:defRPr sz="1400">
                <a:solidFill>
                  <a:srgbClr val="CCD6E0"/>
                </a:solidFill>
                <a:latin typeface="Microsoft YaHei"/>
              </a:defRPr>
            </a:pPr>
            <a:r>
              <a:t>节点：document / section / concept / media / experiment</a:t>
            </a:r>
          </a:p>
          <a:p>
            <a:pPr>
              <a:spcAft>
                <a:spcPts val="840"/>
              </a:spcAft>
              <a:defRPr sz="1400">
                <a:solidFill>
                  <a:srgbClr val="CCD6E0"/>
                </a:solidFill>
                <a:latin typeface="Microsoft YaHei"/>
              </a:defRPr>
            </a:pPr>
            <a:r>
              <a:t>边：contains / references / similar_to / leads_to / failed_with</a:t>
            </a:r>
          </a:p>
          <a:p>
            <a:pPr>
              <a:spcAft>
                <a:spcPts val="840"/>
              </a:spcAft>
              <a:defRPr sz="1400">
                <a:solidFill>
                  <a:srgbClr val="CCD6E0"/>
                </a:solidFill>
                <a:latin typeface="Microsoft YaHei"/>
              </a:defRPr>
            </a:pPr>
            <a:r>
              <a:t>技能：纯化推荐、路线选型、失效诊断等可触发操作</a:t>
            </a:r>
          </a:p>
          <a:p>
            <a:pPr>
              <a:spcAft>
                <a:spcPts val="840"/>
              </a:spcAft>
              <a:defRPr sz="1400">
                <a:solidFill>
                  <a:srgbClr val="CCD6E0"/>
                </a:solidFill>
                <a:latin typeface="Microsoft YaHei"/>
              </a:defRPr>
            </a:pPr>
            <a:r>
              <a:t>meta-path：约束 PPR 扩散路径，保障领域逻辑</a:t>
            </a:r>
          </a:p>
          <a:p>
            <a:pPr>
              <a:spcAft>
                <a:spcPts val="840"/>
              </a:spcAft>
              <a:defRPr sz="1400">
                <a:solidFill>
                  <a:srgbClr val="CCD6E0"/>
                </a:solidFill>
                <a:latin typeface="Microsoft YaHei"/>
              </a:defRPr>
            </a:pPr>
            <a:r>
              <a:t>→ 理解结构、因果与行动，支撑 AI 决策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飞轮效应：知识网持续强化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01168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8A9BAD"/>
                </a:solidFill>
                <a:latin typeface="Microsoft YaHei"/>
              </a:defRPr>
            </a:pPr>
            <a:r>
              <a:t>谛听 × 湃肽生物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8A9BAD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6" name="Oval 5"/>
          <p:cNvSpPr/>
          <p:nvPr/>
        </p:nvSpPr>
        <p:spPr>
          <a:xfrm>
            <a:off x="1280160" y="1828800"/>
            <a:ext cx="1280160" cy="1280160"/>
          </a:xfrm>
          <a:prstGeom prst="ellipse">
            <a:avLst/>
          </a:prstGeom>
          <a:solidFill>
            <a:srgbClr val="12223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148840"/>
            <a:ext cx="1280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1">
                <a:solidFill>
                  <a:srgbClr val="00B4D8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01  入库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49039"/>
            <a:ext cx="2834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CCD6E0"/>
                </a:solidFill>
                <a:latin typeface="Microsoft YaHei"/>
              </a:defRPr>
            </a:pPr>
            <a:r>
              <a:t>工艺卡片 / 实验 / 谱图结构化入库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28600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0">
                <a:solidFill>
                  <a:srgbClr val="00B4D8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4160520" y="1828800"/>
            <a:ext cx="1280160" cy="1280160"/>
          </a:xfrm>
          <a:prstGeom prst="ellipse">
            <a:avLst/>
          </a:prstGeom>
          <a:solidFill>
            <a:srgbClr val="12223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2148840"/>
            <a:ext cx="1280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1">
                <a:solidFill>
                  <a:srgbClr val="00B4D8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3291840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02  成网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749039"/>
            <a:ext cx="2834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CCD6E0"/>
                </a:solidFill>
                <a:latin typeface="Microsoft YaHei"/>
              </a:defRPr>
            </a:pPr>
            <a:r>
              <a:t>节点互联，边权初始化，图谱可浏览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228600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0">
                <a:solidFill>
                  <a:srgbClr val="00B4D8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0" y="1828800"/>
            <a:ext cx="1280160" cy="1280160"/>
          </a:xfrm>
          <a:prstGeom prst="ellipse">
            <a:avLst/>
          </a:prstGeom>
          <a:solidFill>
            <a:srgbClr val="12223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2148840"/>
            <a:ext cx="1280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1">
                <a:solidFill>
                  <a:srgbClr val="00B4D8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291840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03  智能体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749039"/>
            <a:ext cx="2834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CCD6E0"/>
                </a:solidFill>
                <a:latin typeface="Microsoft YaHei"/>
              </a:defRPr>
            </a:pPr>
            <a:r>
              <a:t>对话检索 + 推荐 + 诊断，专家日常使用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28600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0">
                <a:solidFill>
                  <a:srgbClr val="00B4D8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1" name="Oval 20"/>
          <p:cNvSpPr/>
          <p:nvPr/>
        </p:nvSpPr>
        <p:spPr>
          <a:xfrm>
            <a:off x="9921240" y="1828800"/>
            <a:ext cx="1280160" cy="1280160"/>
          </a:xfrm>
          <a:prstGeom prst="ellipse">
            <a:avLst/>
          </a:prstGeom>
          <a:solidFill>
            <a:srgbClr val="12223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21240" y="2148840"/>
            <a:ext cx="1280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1">
                <a:solidFill>
                  <a:srgbClr val="00B4D8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3291840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04  反馈强化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3749039"/>
            <a:ext cx="2834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CCD6E0"/>
                </a:solidFill>
                <a:latin typeface="Microsoft YaHei"/>
              </a:defRPr>
            </a:pPr>
            <a:r>
              <a:t>审核采纳 → 边权更新 → 网络更精准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3035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00B4D8"/>
                </a:solidFill>
                <a:latin typeface="Microsoft YaHei"/>
              </a:defRPr>
            </a:pPr>
            <a:r>
              <a:t>每多一条实验回流、每一次专家采纳，知识网就变得更聪明——这是不可速成的护城河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三构件：节点 / 边 / 技能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01168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8A9BAD"/>
                </a:solidFill>
                <a:latin typeface="Microsoft YaHei"/>
              </a:defRPr>
            </a:pPr>
            <a:r>
              <a:t>谛听 × 湃肽生物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8A9BAD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0B4D8"/>
                </a:solidFill>
                <a:latin typeface="Microsoft YaHei"/>
              </a:defRPr>
            </a:pPr>
            <a:r>
              <a:t>节点 Nodes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8A9BAD"/>
                </a:solidFill>
                <a:latin typeface="Microsoft YaHei"/>
              </a:defRPr>
            </a:pPr>
            <a:r>
              <a:t>神经元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35661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20"/>
              </a:spcAft>
              <a:defRPr sz="1200">
                <a:solidFill>
                  <a:srgbClr val="CCD6E0"/>
                </a:solidFill>
                <a:latin typeface="Microsoft YaHei"/>
              </a:defRPr>
            </a:pPr>
            <a:r>
              <a:t>• document — 工艺卡片、专利、文献</a:t>
            </a:r>
          </a:p>
          <a:p>
            <a:pPr>
              <a:spcAft>
                <a:spcPts val="720"/>
              </a:spcAft>
              <a:defRPr sz="1200">
                <a:solidFill>
                  <a:srgbClr val="CCD6E0"/>
                </a:solidFill>
                <a:latin typeface="Microsoft YaHei"/>
              </a:defRPr>
            </a:pPr>
            <a:r>
              <a:t>• section — 纯化步骤、合成路线段</a:t>
            </a:r>
          </a:p>
          <a:p>
            <a:pPr>
              <a:spcAft>
                <a:spcPts val="720"/>
              </a:spcAft>
              <a:defRPr sz="1200">
                <a:solidFill>
                  <a:srgbClr val="CCD6E0"/>
                </a:solidFill>
                <a:latin typeface="Microsoft YaHei"/>
              </a:defRPr>
            </a:pPr>
            <a:r>
              <a:t>• concept — 序列、树脂、保护基、收率</a:t>
            </a:r>
          </a:p>
          <a:p>
            <a:pPr>
              <a:spcAft>
                <a:spcPts val="720"/>
              </a:spcAft>
              <a:defRPr sz="1200">
                <a:solidFill>
                  <a:srgbClr val="CCD6E0"/>
                </a:solidFill>
                <a:latin typeface="Microsoft YaHei"/>
              </a:defRPr>
            </a:pPr>
            <a:r>
              <a:t>• media — HPLC、质谱、电镜谱图</a:t>
            </a:r>
          </a:p>
          <a:p>
            <a:pPr>
              <a:spcAft>
                <a:spcPts val="720"/>
              </a:spcAft>
              <a:defRPr sz="1200">
                <a:solidFill>
                  <a:srgbClr val="CCD6E0"/>
                </a:solidFill>
                <a:latin typeface="Microsoft YaHei"/>
              </a:defRPr>
            </a:pPr>
            <a:r>
              <a:t>• experiment — 批次实验三元组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417320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0B4D8"/>
                </a:solidFill>
                <a:latin typeface="Microsoft YaHei"/>
              </a:defRPr>
            </a:pPr>
            <a:r>
              <a:t>边 Links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82880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8A9BAD"/>
                </a:solidFill>
                <a:latin typeface="Microsoft YaHei"/>
              </a:defRPr>
            </a:pPr>
            <a:r>
              <a:t>突触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286000"/>
            <a:ext cx="35661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20"/>
              </a:spcAft>
              <a:defRPr sz="1200">
                <a:solidFill>
                  <a:srgbClr val="CCD6E0"/>
                </a:solidFill>
                <a:latin typeface="Microsoft YaHei"/>
              </a:defRPr>
            </a:pPr>
            <a:r>
              <a:t>• contains — 文档→段落→谱图</a:t>
            </a:r>
          </a:p>
          <a:p>
            <a:pPr>
              <a:spcAft>
                <a:spcPts val="720"/>
              </a:spcAft>
              <a:defRPr sz="1200">
                <a:solidFill>
                  <a:srgbClr val="CCD6E0"/>
                </a:solidFill>
                <a:latin typeface="Microsoft YaHei"/>
              </a:defRPr>
            </a:pPr>
            <a:r>
              <a:t>• references — 段落引用色谱图</a:t>
            </a:r>
          </a:p>
          <a:p>
            <a:pPr>
              <a:spcAft>
                <a:spcPts val="720"/>
              </a:spcAft>
              <a:defRPr sz="1200">
                <a:solidFill>
                  <a:srgbClr val="CCD6E0"/>
                </a:solidFill>
                <a:latin typeface="Microsoft YaHei"/>
              </a:defRPr>
            </a:pPr>
            <a:r>
              <a:t>• similar_to — 相似序列/工艺</a:t>
            </a:r>
          </a:p>
          <a:p>
            <a:pPr>
              <a:spcAft>
                <a:spcPts val="720"/>
              </a:spcAft>
              <a:defRPr sz="1200">
                <a:solidFill>
                  <a:srgbClr val="CCD6E0"/>
                </a:solidFill>
                <a:latin typeface="Microsoft YaHei"/>
              </a:defRPr>
            </a:pPr>
            <a:r>
              <a:t>• leads_to — 参数→收率因果</a:t>
            </a:r>
          </a:p>
          <a:p>
            <a:pPr>
              <a:spcAft>
                <a:spcPts val="720"/>
              </a:spcAft>
              <a:defRPr sz="1200">
                <a:solidFill>
                  <a:srgbClr val="CCD6E0"/>
                </a:solidFill>
                <a:latin typeface="Microsoft YaHei"/>
              </a:defRPr>
            </a:pPr>
            <a:r>
              <a:t>• failed_with — 失败路径抑制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1417320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0B4D8"/>
                </a:solidFill>
                <a:latin typeface="Microsoft YaHei"/>
              </a:defRPr>
            </a:pPr>
            <a:r>
              <a:t>技能 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82880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8A9BAD"/>
                </a:solidFill>
                <a:latin typeface="Microsoft YaHei"/>
              </a:defRPr>
            </a:pPr>
            <a:r>
              <a:t>动作电位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286000"/>
            <a:ext cx="35661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20"/>
              </a:spcAft>
              <a:defRPr sz="1200">
                <a:solidFill>
                  <a:srgbClr val="CCD6E0"/>
                </a:solidFill>
                <a:latin typeface="Microsoft YaHei"/>
              </a:defRPr>
            </a:pPr>
            <a:r>
              <a:t>• 纯化参数推荐</a:t>
            </a:r>
          </a:p>
          <a:p>
            <a:pPr>
              <a:spcAft>
                <a:spcPts val="720"/>
              </a:spcAft>
              <a:defRPr sz="1200">
                <a:solidFill>
                  <a:srgbClr val="CCD6E0"/>
                </a:solidFill>
                <a:latin typeface="Microsoft YaHei"/>
              </a:defRPr>
            </a:pPr>
            <a:r>
              <a:t>• 合成路线选型</a:t>
            </a:r>
          </a:p>
          <a:p>
            <a:pPr>
              <a:spcAft>
                <a:spcPts val="720"/>
              </a:spcAft>
              <a:defRPr sz="1200">
                <a:solidFill>
                  <a:srgbClr val="CCD6E0"/>
                </a:solidFill>
                <a:latin typeface="Microsoft YaHei"/>
              </a:defRPr>
            </a:pPr>
            <a:r>
              <a:t>• 失效诊断排查</a:t>
            </a:r>
          </a:p>
          <a:p>
            <a:pPr>
              <a:spcAft>
                <a:spcPts val="720"/>
              </a:spcAft>
              <a:defRPr sz="1200">
                <a:solidFill>
                  <a:srgbClr val="CCD6E0"/>
                </a:solidFill>
                <a:latin typeface="Microsoft YaHei"/>
              </a:defRPr>
            </a:pPr>
            <a:r>
              <a:t>• 文献/工艺检索</a:t>
            </a:r>
          </a:p>
          <a:p>
            <a:pPr>
              <a:spcAft>
                <a:spcPts val="720"/>
              </a:spcAft>
              <a:defRPr sz="1200">
                <a:solidFill>
                  <a:srgbClr val="CCD6E0"/>
                </a:solidFill>
                <a:latin typeface="Microsoft YaHei"/>
              </a:defRPr>
            </a:pPr>
            <a:r>
              <a:t>• 实验方案生成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为什么 AI 需要知识网？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01168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8A9BAD"/>
                </a:solidFill>
                <a:latin typeface="Microsoft YaHei"/>
              </a:defRPr>
            </a:pPr>
            <a:r>
              <a:t>谛听 × 湃肽生物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8A9BAD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60"/>
              </a:spcAft>
              <a:defRPr sz="1600">
                <a:solidFill>
                  <a:srgbClr val="CCD6E0"/>
                </a:solidFill>
                <a:latin typeface="Microsoft YaHei"/>
              </a:defRPr>
            </a:pPr>
            <a:r>
              <a:t>通用 RAG 只有「语义相近」，没有「业务因果」——无法回答「为什么这次收率低」</a:t>
            </a:r>
          </a:p>
          <a:p>
            <a:pPr>
              <a:spcAft>
                <a:spcPts val="960"/>
              </a:spcAft>
              <a:defRPr sz="1600">
                <a:solidFill>
                  <a:srgbClr val="CCD6E0"/>
                </a:solidFill>
                <a:latin typeface="Microsoft YaHei"/>
              </a:defRPr>
            </a:pPr>
            <a:r>
              <a:t>多肽领域知识高度结构化：序列 → 保护基 → 偶联 → 纯化 → 收率/杂质，需要图谱承载</a:t>
            </a:r>
          </a:p>
          <a:p>
            <a:pPr>
              <a:spcAft>
                <a:spcPts val="960"/>
              </a:spcAft>
              <a:defRPr sz="1600">
                <a:solidFill>
                  <a:srgbClr val="CCD6E0"/>
                </a:solidFill>
                <a:latin typeface="Microsoft YaHei"/>
              </a:defRPr>
            </a:pPr>
            <a:r>
              <a:t>meta-path 约束 PPR 扩散：只在「合法路径」上传播，杜绝跨领域幻觉</a:t>
            </a:r>
          </a:p>
          <a:p>
            <a:pPr>
              <a:spcAft>
                <a:spcPts val="960"/>
              </a:spcAft>
              <a:defRPr sz="1600">
                <a:solidFill>
                  <a:srgbClr val="CCD6E0"/>
                </a:solidFill>
                <a:latin typeface="Microsoft YaHei"/>
              </a:defRPr>
            </a:pPr>
            <a:r>
              <a:t>每个推荐可溯源：答案附带工艺卡片段落、谱图、实验批次，专家可一键核验</a:t>
            </a:r>
          </a:p>
          <a:p>
            <a:pPr>
              <a:spcAft>
                <a:spcPts val="960"/>
              </a:spcAft>
              <a:defRPr sz="1600">
                <a:solidFill>
                  <a:srgbClr val="CCD6E0"/>
                </a:solidFill>
                <a:latin typeface="Microsoft YaHei"/>
              </a:defRPr>
            </a:pPr>
            <a:r>
              <a:t>技能（Skill）将知识转化为行动：不只「告诉」，更能「推荐参数、生成方案」</a:t>
            </a:r>
          </a:p>
          <a:p>
            <a:pPr>
              <a:spcAft>
                <a:spcPts val="960"/>
              </a:spcAft>
              <a:defRPr sz="1600">
                <a:solidFill>
                  <a:srgbClr val="CCD6E0"/>
                </a:solidFill>
                <a:latin typeface="Microsoft YaHei"/>
              </a:defRPr>
            </a:pPr>
            <a:r>
              <a:t>知识网随使用生长：专家反馈即训练信号，无需昂贵全量微调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护城河：不可复制的四重壁垒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01168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8A9BAD"/>
                </a:solidFill>
                <a:latin typeface="Microsoft YaHei"/>
              </a:defRPr>
            </a:pPr>
            <a:r>
              <a:t>谛听 × 湃肽生物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8A9BAD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11064240" cy="1051560"/>
          </a:xfrm>
          <a:prstGeom prst="roundRect">
            <a:avLst/>
          </a:prstGeom>
          <a:solidFill>
            <a:srgbClr val="12223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0B4D8"/>
                </a:solidFill>
                <a:latin typeface="Microsoft YaHei"/>
              </a:defRPr>
            </a:pPr>
            <a:r>
              <a:t>▸  湃肽专属工艺图谱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600200"/>
            <a:ext cx="6400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CD6E0"/>
                </a:solidFill>
                <a:latin typeface="Microsoft YaHei"/>
              </a:defRPr>
            </a:pPr>
            <a:r>
              <a:t>20 年积累的结构化映射，通用模型无法复制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51760"/>
            <a:ext cx="11064240" cy="1051560"/>
          </a:xfrm>
          <a:prstGeom prst="roundRect">
            <a:avLst/>
          </a:prstGeom>
          <a:solidFill>
            <a:srgbClr val="12223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0B4D8"/>
                </a:solidFill>
                <a:latin typeface="Microsoft YaHei"/>
              </a:defRPr>
            </a:pPr>
            <a:r>
              <a:t>▸  持续可塑的突触权重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834640"/>
            <a:ext cx="6400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CD6E0"/>
                </a:solidFill>
                <a:latin typeface="Microsoft YaHei"/>
              </a:defRPr>
            </a:pPr>
            <a:r>
              <a:t>每次实验回流与专家采纳都在强化网络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86200"/>
            <a:ext cx="11064240" cy="1051560"/>
          </a:xfrm>
          <a:prstGeom prst="roundRect">
            <a:avLst/>
          </a:prstGeom>
          <a:solidFill>
            <a:srgbClr val="12223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02336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0B4D8"/>
                </a:solidFill>
                <a:latin typeface="Microsoft YaHei"/>
              </a:defRPr>
            </a:pPr>
            <a:r>
              <a:t>▸  领域 meta-path 模板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4069080"/>
            <a:ext cx="6400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CD6E0"/>
                </a:solidFill>
                <a:latin typeface="Microsoft YaHei"/>
              </a:defRPr>
            </a:pPr>
            <a:r>
              <a:t>多肽因果链路径是领域 Know-how 的结晶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120640"/>
            <a:ext cx="11064240" cy="1051560"/>
          </a:xfrm>
          <a:prstGeom prst="roundRect">
            <a:avLst/>
          </a:prstGeom>
          <a:solidFill>
            <a:srgbClr val="12223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25780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0B4D8"/>
                </a:solidFill>
                <a:latin typeface="Microsoft YaHei"/>
              </a:defRPr>
            </a:pPr>
            <a:r>
              <a:t>▸  人机协同信任链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5303520"/>
            <a:ext cx="6400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CD6E0"/>
                </a:solidFill>
                <a:latin typeface="Microsoft YaHei"/>
              </a:defRPr>
            </a:pPr>
            <a:r>
              <a:t>来源溯源 + 专家审核，建立组织级 AI 信任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三大核心场景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01168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8A9BAD"/>
                </a:solidFill>
                <a:latin typeface="Microsoft YaHei"/>
              </a:defRPr>
            </a:pPr>
            <a:r>
              <a:t>谛听 × 湃肽生物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8A9BAD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566160" cy="4389120"/>
          </a:xfrm>
          <a:prstGeom prst="roundRect">
            <a:avLst/>
          </a:prstGeom>
          <a:solidFill>
            <a:srgbClr val="12223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00B4D8"/>
                </a:solidFill>
                <a:latin typeface="Microsoft YaHei"/>
              </a:defRPr>
            </a:pPr>
            <a:r>
              <a:t>纯化选型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8A9BAD"/>
                </a:solidFill>
                <a:latin typeface="Microsoft YaHei"/>
              </a:defRPr>
            </a:pPr>
            <a:r>
              <a:t>触发：输入氨基酸序列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3200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CD6E0"/>
                </a:solidFill>
                <a:latin typeface="Microsoft YaHei"/>
              </a:defRPr>
            </a:pPr>
            <a:r>
              <a:t>推荐柱型 / 填料 / 梯度 / 流速，附相似成功案例与谱图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554480"/>
            <a:ext cx="3566160" cy="4389120"/>
          </a:xfrm>
          <a:prstGeom prst="roundRect">
            <a:avLst/>
          </a:prstGeom>
          <a:solidFill>
            <a:srgbClr val="12223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73736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00B4D8"/>
                </a:solidFill>
                <a:latin typeface="Microsoft YaHei"/>
              </a:defRPr>
            </a:pPr>
            <a:r>
              <a:t>合成路线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3317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8A9BAD"/>
                </a:solidFill>
                <a:latin typeface="Microsoft YaHei"/>
              </a:defRPr>
            </a:pPr>
            <a:r>
              <a:t>触发：长肽 / 环肽 / 修饰肽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926080"/>
            <a:ext cx="3200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CD6E0"/>
                </a:solidFill>
                <a:latin typeface="Microsoft YaHei"/>
              </a:defRPr>
            </a:pPr>
            <a:r>
              <a:t>分段合成 vs 全长合成，保护基策略，偶联方案对比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554480"/>
            <a:ext cx="3566160" cy="4389120"/>
          </a:xfrm>
          <a:prstGeom prst="roundRect">
            <a:avLst/>
          </a:prstGeom>
          <a:solidFill>
            <a:srgbClr val="12223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73736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00B4D8"/>
                </a:solidFill>
                <a:latin typeface="Microsoft YaHei"/>
              </a:defRPr>
            </a:pPr>
            <a:r>
              <a:t>失效诊断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3317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8A9BAD"/>
                </a:solidFill>
                <a:latin typeface="Microsoft YaHei"/>
              </a:defRPr>
            </a:pPr>
            <a:r>
              <a:t>触发：收率低 / 新杂质 / 聚集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926080"/>
            <a:ext cx="3200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CD6E0"/>
                </a:solidFill>
                <a:latin typeface="Microsoft YaHei"/>
              </a:defRPr>
            </a:pPr>
            <a:r>
              <a:t>沿 failed_with 边排查，生成有序排查清单与历史对照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方案一：知识库与学习系统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01168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8A9BAD"/>
                </a:solidFill>
                <a:latin typeface="Microsoft YaHei"/>
              </a:defRPr>
            </a:pPr>
            <a:r>
              <a:t>谛听 × 湃肽生物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8A9BAD"/>
                </a:solidFill>
                <a:latin typeface="Microsoft YaHei"/>
              </a:defRPr>
            </a:pPr>
            <a: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CD6E0"/>
                </a:solidFill>
                <a:latin typeface="Microsoft YaHei"/>
              </a:defRPr>
            </a:pPr>
            <a:r>
              <a:t>目标：把 20 年工艺沉淀转化为可检索、可传导、可生长的知识网络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3035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40"/>
              </a:spcAft>
              <a:defRPr sz="1400">
                <a:solidFill>
                  <a:srgbClr val="CCD6E0"/>
                </a:solidFill>
                <a:latin typeface="Microsoft YaHei"/>
              </a:defRPr>
            </a:pPr>
            <a:r>
              <a:t>多源采集：工艺卡片、ELN、专利、文献、谱图</a:t>
            </a:r>
          </a:p>
          <a:p>
            <a:pPr>
              <a:spcAft>
                <a:spcPts val="840"/>
              </a:spcAft>
              <a:defRPr sz="1400">
                <a:solidFill>
                  <a:srgbClr val="CCD6E0"/>
                </a:solidFill>
                <a:latin typeface="Microsoft YaHei"/>
              </a:defRPr>
            </a:pPr>
            <a:r>
              <a:t>结构化入库：分段切片 + 向量嵌入 + 图谱成网</a:t>
            </a:r>
          </a:p>
          <a:p>
            <a:pPr>
              <a:spcAft>
                <a:spcPts val="840"/>
              </a:spcAft>
              <a:defRPr sz="1400">
                <a:solidFill>
                  <a:srgbClr val="CCD6E0"/>
                </a:solidFill>
                <a:latin typeface="Microsoft YaHei"/>
              </a:defRPr>
            </a:pPr>
            <a:r>
              <a:t>知识图谱可视化：节点浏览、边关系、谱图挂接</a:t>
            </a:r>
          </a:p>
          <a:p>
            <a:pPr>
              <a:spcAft>
                <a:spcPts val="840"/>
              </a:spcAft>
              <a:defRPr sz="1400">
                <a:solidFill>
                  <a:srgbClr val="CCD6E0"/>
                </a:solidFill>
                <a:latin typeface="Microsoft YaHei"/>
              </a:defRPr>
            </a:pPr>
            <a:r>
              <a:t>对话式检索：RAG + meta-path 扩散 Top-K</a:t>
            </a:r>
          </a:p>
          <a:p>
            <a:pPr>
              <a:spcAft>
                <a:spcPts val="840"/>
              </a:spcAft>
              <a:defRPr sz="1400">
                <a:solidFill>
                  <a:srgbClr val="CCD6E0"/>
                </a:solidFill>
                <a:latin typeface="Microsoft YaHei"/>
              </a:defRPr>
            </a:pPr>
            <a:r>
              <a:t>被动学习 + 主动学习双模式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92024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湃肽映射示例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377440"/>
            <a:ext cx="53035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CCD6E0"/>
                </a:solidFill>
                <a:latin typeface="Microsoft YaHei"/>
              </a:defRPr>
            </a:pPr>
            <a:r>
              <a:t>环肽纯化工艺卡片 → document 节点</a:t>
            </a:r>
          </a:p>
          <a:p>
            <a:pPr>
              <a:spcAft>
                <a:spcPts val="780"/>
              </a:spcAft>
              <a:defRPr sz="1300">
                <a:solidFill>
                  <a:srgbClr val="CCD6E0"/>
                </a:solidFill>
                <a:latin typeface="Microsoft YaHei"/>
              </a:defRPr>
            </a:pPr>
            <a:r>
              <a:t>「聚集物控制」段落 → section + concept</a:t>
            </a:r>
          </a:p>
          <a:p>
            <a:pPr>
              <a:spcAft>
                <a:spcPts val="780"/>
              </a:spcAft>
              <a:defRPr sz="1300">
                <a:solidFill>
                  <a:srgbClr val="CCD6E0"/>
                </a:solidFill>
                <a:latin typeface="Microsoft YaHei"/>
              </a:defRPr>
            </a:pPr>
            <a:r>
              <a:t>HPLC 色谱图 → media 节点</a:t>
            </a:r>
          </a:p>
          <a:p>
            <a:pPr>
              <a:spcAft>
                <a:spcPts val="780"/>
              </a:spcAft>
              <a:defRPr sz="1300">
                <a:solidFill>
                  <a:srgbClr val="CCD6E0"/>
                </a:solidFill>
                <a:latin typeface="Microsoft YaHei"/>
              </a:defRPr>
            </a:pPr>
            <a:r>
              <a:t>批次实验 → experiment（序列+参数+结果）</a:t>
            </a:r>
          </a:p>
          <a:p>
            <a:pPr>
              <a:spcAft>
                <a:spcPts val="780"/>
              </a:spcAft>
              <a:defRPr sz="1300">
                <a:solidFill>
                  <a:srgbClr val="CCD6E0"/>
                </a:solidFill>
                <a:latin typeface="Microsoft YaHei"/>
              </a:defRPr>
            </a:pPr>
            <a:r>
              <a:t>相似环肽工艺 → similar_to 长程联结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436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00B4D8"/>
                </a:solidFill>
                <a:latin typeface="Microsoft YaHei"/>
              </a:defRPr>
            </a:pPr>
            <a:r>
              <a:t>验收：500 份工艺卡片入库，图谱可浏览，对话检索 Top-3 命中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方案二：智能选型决策引擎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01168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8A9BAD"/>
                </a:solidFill>
                <a:latin typeface="Microsoft YaHei"/>
              </a:defRPr>
            </a:pPr>
            <a:r>
              <a:t>谛听 × 湃肽生物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8A9BAD"/>
                </a:solidFill>
                <a:latin typeface="Microsoft YaHei"/>
              </a:defRPr>
            </a:pPr>
            <a: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CCD6E0"/>
                </a:solidFill>
                <a:latin typeface="Microsoft YaHei"/>
              </a:defRPr>
            </a:pPr>
            <a:r>
              <a:t>在知识网之上构建面向研发决策的智能体层，将「检索」升级为「推荐」</a:t>
            </a:r>
          </a:p>
          <a:p>
            <a:pPr>
              <a:spcAft>
                <a:spcPts val="900"/>
              </a:spcAft>
              <a:defRPr sz="1500">
                <a:solidFill>
                  <a:srgbClr val="CCD6E0"/>
                </a:solidFill>
                <a:latin typeface="Microsoft YaHei"/>
              </a:defRPr>
            </a:pPr>
            <a:r>
              <a:t>输入目标分子特征 → PPR 沿 meta-path 扩散 → 汇聚相似实验与工艺 → 生成排序推荐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3200400"/>
          <a:ext cx="11064239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3200400"/>
                <a:gridCol w="3749039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B4D8"/>
                          </a:solidFill>
                          <a:latin typeface="Microsoft YaHei"/>
                        </a:defRPr>
                      </a:pPr>
                      <a:r>
                        <a:t>智能体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B4D8"/>
                          </a:solidFill>
                          <a:latin typeface="Microsoft YaHei"/>
                        </a:defRPr>
                      </a:pPr>
                      <a:r>
                        <a:t>输入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B4D8"/>
                          </a:solidFill>
                          <a:latin typeface="Microsoft YaHei"/>
                        </a:defRPr>
                      </a:pPr>
                      <a:r>
                        <a:t>输出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B4D8"/>
                          </a:solidFill>
                          <a:latin typeface="Microsoft YaHei"/>
                        </a:defRPr>
                      </a:pPr>
                      <a:r>
                        <a:t>meta-path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纯化选型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氨基酸序列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柱型/梯度/流速推荐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molecule→similar_to→experiment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合成路线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肽长度/环化类型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路线对比与保护基策略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concept→section←experiment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失效诊断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收率/杂质异常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排查清单+历史对照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experiment→failed_with→concept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9436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00B4D8"/>
                </a:solidFill>
                <a:latin typeface="Microsoft YaHei"/>
              </a:defRPr>
            </a:pPr>
            <a:r>
              <a:t>每条推荐附来源节点与专家审核入口，采纳率目标 &gt; 60%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模型选型：RAG 优先，Skill 调度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01168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8A9BAD"/>
                </a:solidFill>
                <a:latin typeface="Microsoft YaHei"/>
              </a:defRPr>
            </a:pPr>
            <a:r>
              <a:t>谛听 × 湃肽生物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8A9BAD"/>
                </a:solidFill>
                <a:latin typeface="Microsoft YaHei"/>
              </a:defRPr>
            </a:pPr>
            <a: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Microsoft YaHei"/>
              </a:defRPr>
            </a:pPr>
            <a:r>
              <a:t>RAG 优先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417320"/>
            <a:ext cx="7589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CCD6E0"/>
                </a:solidFill>
                <a:latin typeface="Microsoft YaHei"/>
              </a:defRPr>
            </a:pPr>
            <a:r>
              <a:t>知识网约束检索 + 生成，不盲目微调大模型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Microsoft YaHei"/>
              </a:defRPr>
            </a:pPr>
            <a:r>
              <a:t>小模型专精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651760"/>
            <a:ext cx="7589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CCD6E0"/>
                </a:solidFill>
                <a:latin typeface="Microsoft YaHei"/>
              </a:defRPr>
            </a:pPr>
            <a:r>
              <a:t>OCR / 谱图描述 / 实体抽取用本地小模型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8620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Microsoft YaHei"/>
              </a:defRPr>
            </a:pPr>
            <a:r>
              <a:t>Skill 调度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3886200"/>
            <a:ext cx="7589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CCD6E0"/>
                </a:solidFill>
                <a:latin typeface="Microsoft YaHei"/>
              </a:defRPr>
            </a:pPr>
            <a:r>
              <a:t>按场景路由：检索 Skill、推荐 Skill、诊断 Skill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12064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Microsoft YaHei"/>
              </a:defRPr>
            </a:pPr>
            <a:r>
              <a:t>不重复造轮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5120640"/>
            <a:ext cx="7589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CCD6E0"/>
                </a:solidFill>
                <a:latin typeface="Microsoft YaHei"/>
              </a:defRPr>
            </a:pPr>
            <a:r>
              <a:t>底层模型选型开放，聚焦本体与传导引擎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303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8A9BAD"/>
                </a:solidFill>
                <a:latin typeface="Microsoft YaHei"/>
              </a:defRPr>
            </a:pPr>
            <a:r>
              <a:t>原则：POC 阶段验证知识网价值，而非验证某个 LLM 的参数量</a:t>
            </a:r>
            <a:br/>
            <a:r>
              <a:t>幻觉防控：仅沿 meta-path 扩散 + 强制来源引用 + 专家审核门控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范式跃迁：1.0 → 2.0 → 3.0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01168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8A9BAD"/>
                </a:solidFill>
                <a:latin typeface="Microsoft YaHei"/>
              </a:defRPr>
            </a:pPr>
            <a:r>
              <a:t>谛听 × 湃肽生物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8A9BAD"/>
                </a:solidFill>
                <a:latin typeface="Microsoft YaHei"/>
              </a:defRPr>
            </a:pPr>
            <a: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3566160" cy="3200400"/>
          </a:xfrm>
          <a:prstGeom prst="roundRect">
            <a:avLst/>
          </a:prstGeom>
          <a:solidFill>
            <a:srgbClr val="122238"/>
          </a:solidFill>
          <a:ln>
            <a:solidFill>
              <a:srgbClr val="8A9B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1.0  经验驱动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CCD6E0"/>
                </a:solidFill>
                <a:latin typeface="Microsoft YaHei"/>
              </a:defRPr>
            </a:pPr>
            <a:r>
              <a:t>专家直觉 · 口口相传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8A9BAD"/>
                </a:solidFill>
                <a:latin typeface="Microsoft YaHei"/>
              </a:defRPr>
            </a:pPr>
            <a:r>
              <a:t>快但不可复制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74320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0">
                <a:solidFill>
                  <a:srgbClr val="00B4D8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645920"/>
            <a:ext cx="3566160" cy="3200400"/>
          </a:xfrm>
          <a:prstGeom prst="roundRect">
            <a:avLst/>
          </a:prstGeom>
          <a:solidFill>
            <a:srgbClr val="122238"/>
          </a:solidFill>
          <a:ln>
            <a:solidFill>
              <a:srgbClr val="8A9B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82880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2.0  数据感知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46888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CCD6E0"/>
                </a:solidFill>
                <a:latin typeface="Microsoft YaHei"/>
              </a:defRPr>
            </a:pPr>
            <a:r>
              <a:t>LIMS/ELN · 信息化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38328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8A9BAD"/>
                </a:solidFill>
                <a:latin typeface="Microsoft YaHei"/>
              </a:defRPr>
            </a:pPr>
            <a:r>
              <a:t>可查但不成网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0" y="274320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0">
                <a:solidFill>
                  <a:srgbClr val="00B4D8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645920"/>
            <a:ext cx="3566160" cy="3200400"/>
          </a:xfrm>
          <a:prstGeom prst="roundRect">
            <a:avLst/>
          </a:prstGeom>
          <a:solidFill>
            <a:srgbClr val="12223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82880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00B4D8"/>
                </a:solidFill>
                <a:latin typeface="Microsoft YaHei"/>
              </a:defRPr>
            </a:pPr>
            <a:r>
              <a:t>3.0  智能研发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46888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CCD6E0"/>
                </a:solidFill>
                <a:latin typeface="Microsoft YaHei"/>
              </a:defRPr>
            </a:pPr>
            <a:r>
              <a:t>知识网 + 智能体 + 闭环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38328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8A9BAD"/>
                </a:solidFill>
                <a:latin typeface="Microsoft YaHei"/>
              </a:defRPr>
            </a:pPr>
            <a:r>
              <a:t>可传导、可行动、可生长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3035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00B4D8"/>
                </a:solidFill>
                <a:latin typeface="Microsoft YaHei"/>
              </a:defRPr>
            </a:pPr>
            <a:r>
              <a:t>谛听方案推动湃肽从 2.0 迈向 3.0：让数据真正服务于研发决策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干湿闭环：实验驱动的知识进化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01168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8A9BAD"/>
                </a:solidFill>
                <a:latin typeface="Microsoft YaHei"/>
              </a:defRPr>
            </a:pPr>
            <a:r>
              <a:t>谛听 × 湃肽生物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8A9BAD"/>
                </a:solidFill>
                <a:latin typeface="Microsoft YaHei"/>
              </a:defRPr>
            </a:pPr>
            <a:r>
              <a:t>20</a:t>
            </a:r>
          </a:p>
        </p:txBody>
      </p:sp>
      <p:sp>
        <p:nvSpPr>
          <p:cNvPr id="6" name="Oval 5"/>
          <p:cNvSpPr/>
          <p:nvPr/>
        </p:nvSpPr>
        <p:spPr>
          <a:xfrm>
            <a:off x="960120" y="1828800"/>
            <a:ext cx="1097280" cy="1097280"/>
          </a:xfrm>
          <a:prstGeom prst="ellipse">
            <a:avLst/>
          </a:prstGeom>
          <a:solidFill>
            <a:srgbClr val="12223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1097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00B4D8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10896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智能体推荐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52044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CCD6E0"/>
                </a:solidFill>
                <a:latin typeface="Microsoft YaHei"/>
              </a:defRPr>
            </a:pPr>
            <a:r>
              <a:t>纯化/路线/诊断建议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19456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>
                <a:solidFill>
                  <a:srgbClr val="00B4D8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3291839" y="1828800"/>
            <a:ext cx="1097280" cy="1097280"/>
          </a:xfrm>
          <a:prstGeom prst="ellipse">
            <a:avLst/>
          </a:prstGeom>
          <a:solidFill>
            <a:srgbClr val="12223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39" y="2103120"/>
            <a:ext cx="1097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00B4D8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79" y="310896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专家审核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79" y="352044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CCD6E0"/>
                </a:solidFill>
                <a:latin typeface="Microsoft YaHei"/>
              </a:defRPr>
            </a:pPr>
            <a:r>
              <a:t>采纳 / 修改 / 拒绝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19" y="219456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>
                <a:solidFill>
                  <a:srgbClr val="00B4D8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5623560" y="1828800"/>
            <a:ext cx="1097280" cy="1097280"/>
          </a:xfrm>
          <a:prstGeom prst="ellipse">
            <a:avLst/>
          </a:prstGeom>
          <a:solidFill>
            <a:srgbClr val="12223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23560" y="2103120"/>
            <a:ext cx="1097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00B4D8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10896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实验执行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52044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CCD6E0"/>
                </a:solidFill>
                <a:latin typeface="Microsoft YaHei"/>
              </a:defRPr>
            </a:pPr>
            <a:r>
              <a:t>湿实验验证方案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219456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>
                <a:solidFill>
                  <a:srgbClr val="00B4D8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1" name="Oval 20"/>
          <p:cNvSpPr/>
          <p:nvPr/>
        </p:nvSpPr>
        <p:spPr>
          <a:xfrm>
            <a:off x="7955279" y="1828800"/>
            <a:ext cx="1097280" cy="1097280"/>
          </a:xfrm>
          <a:prstGeom prst="ellipse">
            <a:avLst/>
          </a:prstGeom>
          <a:solidFill>
            <a:srgbClr val="12223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79" y="2103120"/>
            <a:ext cx="1097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00B4D8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19" y="310896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数据回流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19" y="352044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CCD6E0"/>
                </a:solidFill>
                <a:latin typeface="Microsoft YaHei"/>
              </a:defRPr>
            </a:pPr>
            <a:r>
              <a:t>结果写入 experiment 节点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59" y="219456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>
                <a:solidFill>
                  <a:srgbClr val="00B4D8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6" name="Oval 25"/>
          <p:cNvSpPr/>
          <p:nvPr/>
        </p:nvSpPr>
        <p:spPr>
          <a:xfrm>
            <a:off x="10287000" y="1828800"/>
            <a:ext cx="1097280" cy="1097280"/>
          </a:xfrm>
          <a:prstGeom prst="ellipse">
            <a:avLst/>
          </a:prstGeom>
          <a:solidFill>
            <a:srgbClr val="12223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87000" y="2103120"/>
            <a:ext cx="1097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00B4D8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310896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突触可塑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352044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CCD6E0"/>
                </a:solidFill>
                <a:latin typeface="Microsoft YaHei"/>
              </a:defRPr>
            </a:pPr>
            <a:r>
              <a:t>边权更新，网络强化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75488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CCD6E0"/>
                </a:solidFill>
                <a:latin typeface="Microsoft YaHei"/>
              </a:defRPr>
            </a:pPr>
            <a:r>
              <a:t>数字孪生进化：每一次湿实验结果都反哺干模型</a:t>
            </a:r>
            <a:br/>
            <a:r>
              <a:t>leads_to 边强化成功路径，failed_with 边标记失败警示</a:t>
            </a:r>
            <a:br/>
            <a:r>
              <a:t>知识网像神经系统一样「越用越灵敏」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实施路径：POC → 试点 → 推广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01168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8A9BAD"/>
                </a:solidFill>
                <a:latin typeface="Microsoft YaHei"/>
              </a:defRPr>
            </a:pPr>
            <a:r>
              <a:t>谛听 × 湃肽生物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8A9BAD"/>
                </a:solidFill>
                <a:latin typeface="Microsoft YaHei"/>
              </a:defRPr>
            </a:pPr>
            <a:r>
              <a:t>21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645920"/>
                <a:gridCol w="4114800"/>
                <a:gridCol w="393192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B4D8"/>
                          </a:solidFill>
                          <a:latin typeface="Microsoft YaHei"/>
                        </a:defRPr>
                      </a:pPr>
                      <a:r>
                        <a:t>阶段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B4D8"/>
                          </a:solidFill>
                          <a:latin typeface="Microsoft YaHei"/>
                        </a:defRPr>
                      </a:pPr>
                      <a:r>
                        <a:t>周期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B4D8"/>
                          </a:solidFill>
                          <a:latin typeface="Microsoft YaHei"/>
                        </a:defRPr>
                      </a:pPr>
                      <a:r>
                        <a:t>范围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B4D8"/>
                          </a:solidFill>
                          <a:latin typeface="Microsoft YaHei"/>
                        </a:defRPr>
                      </a:pPr>
                      <a:r>
                        <a:t>验收标准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POC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8–10 周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1 个品种 + 500 份工艺卡片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图谱可浏览；对话检索 Top-3 命中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试点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3–6 月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纯化选型智能体 + 3 条 meta-path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新人培训可用；专家采纳率 &gt; 60%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推广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6–12 月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全管线 + 实验数据自动回流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干湿闭环；边权可塑更新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480560"/>
            <a:ext cx="10972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40"/>
              </a:spcAft>
              <a:defRPr sz="1400">
                <a:solidFill>
                  <a:srgbClr val="CCD6E0"/>
                </a:solidFill>
                <a:latin typeface="Microsoft YaHei"/>
              </a:defRPr>
            </a:pPr>
            <a:r>
              <a:t>最小风险原则：POC 单品种验证，不一次性铺开</a:t>
            </a:r>
          </a:p>
          <a:p>
            <a:pPr>
              <a:spcAft>
                <a:spcPts val="840"/>
              </a:spcAft>
              <a:defRPr sz="1400">
                <a:solidFill>
                  <a:srgbClr val="CCD6E0"/>
                </a:solidFill>
                <a:latin typeface="Microsoft YaHei"/>
              </a:defRPr>
            </a:pPr>
            <a:r>
              <a:t>数据主权：私有化部署，湃肽数据不出域</a:t>
            </a:r>
          </a:p>
          <a:p>
            <a:pPr>
              <a:spcAft>
                <a:spcPts val="840"/>
              </a:spcAft>
              <a:defRPr sz="1400">
                <a:solidFill>
                  <a:srgbClr val="CCD6E0"/>
                </a:solidFill>
                <a:latin typeface="Microsoft YaHei"/>
              </a:defRPr>
            </a:pPr>
            <a:r>
              <a:t>每个阶段有明确验收指标，可按需暂停或加速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合作模式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01168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8A9BAD"/>
                </a:solidFill>
                <a:latin typeface="Microsoft YaHei"/>
              </a:defRPr>
            </a:pPr>
            <a:r>
              <a:t>谛听 × 湃肽生物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8A9BAD"/>
                </a:solidFill>
                <a:latin typeface="Microsoft YaHei"/>
              </a:defRPr>
            </a:pPr>
            <a: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联合共建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371600"/>
            <a:ext cx="8046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CD6E0"/>
                </a:solidFill>
                <a:latin typeface="Microsoft YaHei"/>
              </a:defRPr>
            </a:pPr>
            <a:r>
              <a:t>双方投入领域专家与工程团队，共建湃肽专属知识网本体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数据主权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377440"/>
            <a:ext cx="8046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CD6E0"/>
                </a:solidFill>
                <a:latin typeface="Microsoft YaHei"/>
              </a:defRPr>
            </a:pPr>
            <a:r>
              <a:t>湃肽保留全部数据所有权；谛听提供技术与平台能力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832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分期交付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383280"/>
            <a:ext cx="8046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CD6E0"/>
                </a:solidFill>
                <a:latin typeface="Microsoft YaHei"/>
              </a:defRPr>
            </a:pPr>
            <a:r>
              <a:t>按 POC → 试点 → 推广分期签约，每阶段独立验收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8912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私有化部署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4389120"/>
            <a:ext cx="8046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CD6E0"/>
                </a:solidFill>
                <a:latin typeface="Microsoft YaHei"/>
              </a:defRPr>
            </a:pPr>
            <a:r>
              <a:t>cGMP/FDA 合规要求下，系统部署在湃肽内网环境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3949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持续运营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5394960"/>
            <a:ext cx="8046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CD6E0"/>
                </a:solidFill>
                <a:latin typeface="Microsoft YaHei"/>
              </a:defRPr>
            </a:pPr>
            <a:r>
              <a:t>联合运营小组：知识入库审核、meta-path 迭代、智能体优化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从 Palantir 借鉴的三件事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01168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8A9BAD"/>
                </a:solidFill>
                <a:latin typeface="Microsoft YaHei"/>
              </a:defRPr>
            </a:pPr>
            <a:r>
              <a:t>谛听 × 湃肽生物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8A9BAD"/>
                </a:solidFill>
                <a:latin typeface="Microsoft YaHei"/>
              </a:defRPr>
            </a:pPr>
            <a: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1064240" cy="1325880"/>
          </a:xfrm>
          <a:prstGeom prst="roundRect">
            <a:avLst/>
          </a:prstGeom>
          <a:solidFill>
            <a:srgbClr val="12223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Microsoft YaHei"/>
              </a:defRPr>
            </a:pPr>
            <a:r>
              <a:t>01  先建本体，再谈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CD6E0"/>
                </a:solidFill>
                <a:latin typeface="Microsoft YaHei"/>
              </a:defRPr>
            </a:pPr>
            <a:r>
              <a:t>Ontology 是业务语义层，不是数据库表。知识网本体是谛听方案的灵魂。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063240"/>
            <a:ext cx="11064240" cy="1325880"/>
          </a:xfrm>
          <a:prstGeom prst="roundRect">
            <a:avLst/>
          </a:prstGeom>
          <a:solidFill>
            <a:srgbClr val="12223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2461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Microsoft YaHei"/>
              </a:defRPr>
            </a:pPr>
            <a:r>
              <a:t>02  让 AI 连接流程，而非替代流程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033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CD6E0"/>
                </a:solidFill>
                <a:latin typeface="Microsoft YaHei"/>
              </a:defRPr>
            </a:pPr>
            <a:r>
              <a:t>AI 的价值在于 Action：推荐参数、生成方案、驱动实验，而非聊天。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63440"/>
            <a:ext cx="11064240" cy="1325880"/>
          </a:xfrm>
          <a:prstGeom prst="roundRect">
            <a:avLst/>
          </a:prstGeom>
          <a:solidFill>
            <a:srgbClr val="12223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846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Microsoft YaHei"/>
              </a:defRPr>
            </a:pPr>
            <a:r>
              <a:t>03  操作系统思维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035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CD6E0"/>
                </a:solidFill>
                <a:latin typeface="Microsoft YaHei"/>
              </a:defRPr>
            </a:pPr>
            <a:r>
              <a:t>不做单点工具，构建可生长、可扩展、可传承的研发知识操作系统。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0" y="2560320"/>
            <a:ext cx="758952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000" b="1">
                <a:solidFill>
                  <a:srgbClr val="00B4D8"/>
                </a:solidFill>
                <a:latin typeface="Microsoft YaHei"/>
              </a:defRPr>
            </a:pPr>
            <a:r>
              <a:t>谛听  DITING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让每一条多肽工艺都被「看见」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CCD6E0"/>
                </a:solidFill>
                <a:latin typeface="Microsoft YaHei"/>
              </a:defRPr>
            </a:pPr>
            <a:r>
              <a:t>生物-数字双模态知识网 × 神经扩散智能体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8A9BAD"/>
                </a:solidFill>
                <a:latin typeface="Microsoft YaHei"/>
              </a:defRPr>
            </a:pPr>
            <a:r>
              <a:t>期待与湃肽生物共建多肽研发智能知识网络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00B4D8"/>
                </a:solidFill>
                <a:latin typeface="Microsoft YaHei"/>
              </a:defRPr>
            </a:pPr>
            <a:r>
              <a:t>谢谢 ·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