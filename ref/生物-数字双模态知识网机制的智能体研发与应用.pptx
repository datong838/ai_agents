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谛听  DITING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0972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让每一条知识都被「看见」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基于生物-数字双模态知识网与神经扩散机制的智能体系统研发及应用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生物-数字双模态知识网机制的智能体研发与应用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2026 · 谛听科技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数据的黑盒时代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企业正在被数据淹没，而不是被数据赋能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70%+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企业数据从未用于分析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79" y="18288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79" y="256032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数据量与系统数持续增长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9" y="1828800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隐性损失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9" y="2560320"/>
            <a:ext cx="3200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数据质量差 &gt; 缺数据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工艺卡片 · 实验记录 · 商品详情 · 客服对话 · 专利文献 · 培训材料……</a:t>
            </a:r>
          </a:p>
          <a:p>
            <a:pPr>
              <a:spcAft>
                <a:spcPts val="400"/>
              </a:spcAft>
              <a:defRPr sz="20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问题不是「有没有数据」，而是「能否转化为行动」</a:t>
            </a:r>
          </a:p>
          <a:p>
            <a:pPr>
              <a:spcAft>
                <a:spcPts val="400"/>
              </a:spcAft>
              <a:defRPr sz="20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知识在专家脑中、PDF 里、各系统记录里 — 组织层面看不见、连不起来、用不了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传统方案的困局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CRM / ERP / BI / 数据湖 · 数据孤岛 · AI 停在 Chat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3566160" cy="201168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5564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数据孤岛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32918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N 个系统需 N×(N-1)/2 连接</a:t>
            </a:r>
            <a:br/>
            <a:r>
              <a:t>复杂度指数级增长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645920"/>
            <a:ext cx="3566160" cy="201168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39" y="175564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功能堆叠 ≠ 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39" y="2057400"/>
            <a:ext cx="32918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SaaS 卖 Feature 不卖决策</a:t>
            </a:r>
            <a:br/>
            <a:r>
              <a:t>10 个工具无法形成统一视图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645920"/>
            <a:ext cx="3566160" cy="201168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75564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AI 停在聊天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057400"/>
            <a:ext cx="329184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大模型触达不了真实业务对象</a:t>
            </a:r>
            <a:br/>
            <a:r>
              <a:t>无法触发业务动作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9F1C"/>
                </a:solidFill>
                <a:latin typeface="微软雅黑" panose="020B0503020204020204" charset="-122"/>
              </a:defRPr>
            </a:pPr>
            <a:r>
              <a:t>结构性困局：数据有了，语义没有；模型有了，本体没有；对话有了，行动没有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我们的方向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智能体操作系统 · 算法渊源 + 工程落地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生物-数字双模态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41732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节点=神经元 · 边=突触 · 查询=动作电位 · 反馈=突触可塑性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知识网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65176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document/section/concept/media 异构图</a:t>
            </a:r>
            <a:br/>
            <a:r>
              <a:t>有向、有权、可解释的多层联结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862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神经扩散机制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88620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ANN 种子 → meta-path + PPR 扩散</a:t>
            </a:r>
            <a:br/>
            <a:r>
              <a:t>经验传导，非黑盒检索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892040"/>
            <a:ext cx="10972800" cy="123444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001768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算法渊源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3035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研究起点：异构图神经网络(HIN/GNN) + 知识图谱 Message Passing</a:t>
            </a:r>
            <a:br/>
            <a:r>
              <a:t>工程现状：BGE + PPR + meta-path = 无需训练的 Message Passing（可解释·可部署）</a:t>
            </a:r>
            <a:br/>
            <a:r>
              <a:t>演进 L3：R-GCN / HAN 可学习扩散 · 共用 propagate 接口 · Skill 层不感知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已落地：谛听客户端 + 营销智能体 · 需求雷达 / 知识图谱 / 客服智能体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核心理念：增强人类，而非替代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66160" cy="256032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知识网本体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29184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document/section/concept/media 映射真实世界</a:t>
            </a:r>
            <a:br/>
            <a:r>
              <a:t>不是数据库表，是活的业务语义模型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1554480"/>
            <a:ext cx="3566160" cy="256032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39" y="166420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Human-in-the-Loop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39" y="1965960"/>
            <a:ext cx="3291840" cy="2057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AI 分析推荐 · 人类判断决策</a:t>
            </a:r>
            <a:br/>
            <a:r>
              <a:t>战斗机 HUD，非自动驾驶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1554480"/>
            <a:ext cx="3566160" cy="256032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66420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Data → Decision →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2423160"/>
            <a:ext cx="3291840" cy="15722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从「我知道了」到「我做了」</a:t>
            </a:r>
            <a:br/>
            <a:r>
              <a:t>话术 / 商品 / 方案 / 排查清单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谛听 ≠ 传统方案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6126480"/>
              </a:tblGrid>
              <a:tr h="587828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维度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传统方案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谛听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核心逻辑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功能模块堆叠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知识网本体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数据处理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ETL + 数仓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Pipeline + 实体抽取 + 图谱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AI 策略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独立 Chatbot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AI 嵌入业务流 + 决策链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集成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API 点对点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统一知识网 + 自动挂接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扩展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买新模块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复用本体，边际成本趋零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  <a:tr h="587832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价值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看报表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做决策、做行动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三大能力层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Knowledge Network · Neural Diffusion · Domain Agents</a:t>
            </a: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548640" y="1554480"/>
            <a:ext cx="3566160" cy="320040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685800" y="166420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知识网层 · 学</a:t>
            </a: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685800" y="1965960"/>
            <a:ext cx="329184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关系型数据/文档/图片/对话 → 异构图谱</a:t>
            </a:r>
            <a:br/>
            <a:r>
              <a:t>BGE-M3 向量 · VLM 描述 · contains/mentions/appears_in</a:t>
            </a:r>
          </a:p>
        </p:txBody>
      </p:sp>
      <p:sp>
        <p:nvSpPr>
          <p:cNvPr id="8" name="Rounded Rectangle 7"/>
          <p:cNvSpPr/>
          <p:nvPr>
            <p:custDataLst>
              <p:tags r:id="rId4"/>
            </p:custDataLst>
          </p:nvPr>
        </p:nvSpPr>
        <p:spPr>
          <a:xfrm>
            <a:off x="4297679" y="1554480"/>
            <a:ext cx="3566160" cy="320040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4434839" y="166420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传导引擎层 · 想</a:t>
            </a: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4434839" y="1965960"/>
            <a:ext cx="3291840" cy="2697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Query → Embedding → ANN → Meta-path + PPR → 子图</a:t>
            </a:r>
            <a:br/>
            <a:r>
              <a:t>向量相似 + 图结构传导 · 可解释可审计</a:t>
            </a:r>
          </a:p>
        </p:txBody>
      </p:sp>
      <p:sp>
        <p:nvSpPr>
          <p:cNvPr id="11" name="Rounded Rectangle 10"/>
          <p:cNvSpPr/>
          <p:nvPr>
            <p:custDataLst>
              <p:tags r:id="rId7"/>
            </p:custDataLst>
          </p:nvPr>
        </p:nvSpPr>
        <p:spPr>
          <a:xfrm>
            <a:off x="8046719" y="1554480"/>
            <a:ext cx="3566160" cy="320040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8183879" y="166420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智能体层 · 做</a:t>
            </a:r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8183879" y="1965960"/>
            <a:ext cx="3291840" cy="1753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需求雷达 · 智能客服 · 内容写作 · 认知推演</a:t>
            </a:r>
            <a:r>
              <a:rPr>
                <a:sym typeface="+mn-ea"/>
              </a:rPr>
              <a:t> ·</a:t>
            </a:r>
            <a:r>
              <a:rPr lang="en-US">
                <a:sym typeface="+mn-ea"/>
              </a:rPr>
              <a:t> </a:t>
            </a:r>
            <a:r>
              <a:rPr lang="zh-CN">
                <a:sym typeface="+mn-ea"/>
              </a:rPr>
              <a:t>视频创作</a:t>
            </a:r>
            <a:r>
              <a:rPr>
                <a:sym typeface="+mn-ea"/>
              </a:rPr>
              <a:t> ·</a:t>
            </a:r>
            <a:r>
              <a:rPr 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数字人</a:t>
            </a:r>
            <a:br/>
            <a:r>
              <a:t>activate → propagate → package → llm → skill_output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共享底座：异构图 · 向量库 · LLM 网关 · 私有化部署 · 数据安全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神经扩散检索链路 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技术核心 · 工程步骤与生物隐喻同一回事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用户 Query</a:t>
            </a:r>
            <a:br/>
            <a:r>
              <a:t>  ↓ Embedding (BGE-M3)</a:t>
            </a:r>
            <a:br/>
            <a:r>
              <a:t>ANN 召回 Top-K 种子节点</a:t>
            </a:r>
            <a:br/>
            <a:r>
              <a:t>  ↓ Meta-path 白名单约束</a:t>
            </a:r>
            <a:br/>
            <a:r>
              <a:t>PPR 语义扩散 (mentions/contains/references/appears_in)</a:t>
            </a:r>
            <a:br/>
            <a:r>
              <a:t>  ↓ 子图聚合</a:t>
            </a:r>
            <a:br/>
            <a:r>
              <a:t>package → Skills 决策/生成/推荐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0" y="1417320"/>
          <a:ext cx="5486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2651760"/>
              </a:tblGrid>
              <a:tr h="627017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工程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生物隐喻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一句话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Embedding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感知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信号编码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ANN 种子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动作电位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少数神经元激活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PPR 扩散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神经传导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沿突触传递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边类型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突触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传导规则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</a:tr>
              <a:tr h="627017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Meta-path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皮层区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语义分区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  <a:tr h="627018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Skills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运动输出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可执行行为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62356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6D6A0"/>
                </a:solidFill>
                <a:latin typeface="微软雅黑" panose="020B0503020204020204" charset="-122"/>
              </a:defRPr>
            </a:pPr>
            <a:r>
              <a:t>算法演进：异构 GNN 研究 → 今日 PPR(静态 Message Passing) → L3 R-GCN/HAN(可学习)</a:t>
            </a:r>
            <a:br/>
            <a:r>
              <a:t>ANN 感知 · PPR 传导 · Meta-path 分区 · 边类型=突触规则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纯向量 RAG vs 谛听 ANN+PPR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46304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80560"/>
                <a:gridCol w="4480560"/>
              </a:tblGrid>
              <a:tr h="402336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纯向量 RAG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谛听 ANN + PPR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检索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只看语义相似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相似 + 图结构多跳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跨文档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弱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强 (appears_in / mentions)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可解释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chunk 列表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路径 + 边 + node_id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业务约束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难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Meta-path 白名单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纯 LLM：闭卷考试，易幻觉</a:t>
            </a:r>
          </a:p>
          <a:p>
            <a:pPr>
              <a:spcAft>
                <a:spcPts val="400"/>
              </a:spcAft>
              <a:defRPr sz="20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纯向量 RAG：看不见结构关联（如旧报告失败案例 → 当前异常）</a:t>
            </a:r>
          </a:p>
          <a:p>
            <a:pPr>
              <a:spcAft>
                <a:spcPts val="400"/>
              </a:spcAft>
              <a:defRPr sz="20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ANN + PPR + Meta-path：向量负责「像不像」，图负责「连没连、该不该连」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系统架构：三层引擎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463040"/>
            <a:ext cx="9875520" cy="128016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57276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应用层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874520"/>
            <a:ext cx="9601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谛听客户端：需求雷达 · 知识库 · 图谱 Tab · 认知推演 · 智能体对话</a:t>
            </a:r>
            <a:br/>
            <a:r>
              <a:t>服务端：Analyze · Ingestion · Graph API · Skill 编排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276148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971800"/>
            <a:ext cx="9875520" cy="128016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08152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本体层 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83280"/>
            <a:ext cx="9601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节点=业务对象 · 边=语义关系 · 技能=可触发动作</a:t>
            </a:r>
            <a:br/>
            <a:r>
              <a:t>所有应用共享同一真相来源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4270248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480560"/>
            <a:ext cx="9875520" cy="128016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4590288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数据层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892040"/>
            <a:ext cx="96012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Pipeline：分段入库 · HTML/图片 · OCR/VLM · 商城同步 · 上传 · 主动学习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知识网本体：系统的灵魂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9F1C"/>
                </a:solidFill>
                <a:latin typeface="微软雅黑" panose="020B0503020204020204" charset="-122"/>
              </a:defRPr>
            </a:pPr>
            <a:r>
              <a:t>传统数据模型 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✕ 数据在表行列中</a:t>
            </a:r>
          </a:p>
          <a:p>
            <a:pPr>
              <a:spcAft>
                <a:spcPts val="400"/>
              </a:spcAft>
              <a:defRPr sz="180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✕ 关系靠 JOIN 临时拼</a:t>
            </a:r>
          </a:p>
          <a:p>
            <a:pPr>
              <a:spcAft>
                <a:spcPts val="400"/>
              </a:spcAft>
              <a:defRPr sz="180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✕ 语义散落在 SQL/代码</a:t>
            </a:r>
          </a:p>
          <a:p>
            <a:pPr>
              <a:spcAft>
                <a:spcPts val="400"/>
              </a:spcAft>
              <a:defRPr sz="180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✕ 各应用看到不同「真相」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4630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  <a:latin typeface="微软雅黑" panose="020B0503020204020204" charset="-122"/>
              </a:defRPr>
            </a:pPr>
            <a:r>
              <a:t>谛听知识网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828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✓ document → section → concept → media</a:t>
            </a:r>
          </a:p>
          <a:p>
            <a:pPr>
              <a:spcAft>
                <a:spcPts val="400"/>
              </a:spcAft>
              <a:defRPr sz="180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✓ 边持久化、有权重、有类型</a:t>
            </a:r>
          </a:p>
          <a:p>
            <a:pPr>
              <a:spcAft>
                <a:spcPts val="400"/>
              </a:spcAft>
              <a:defRPr sz="180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✓ 报告 → 段落 → 概念 → 谱图/商品图</a:t>
            </a:r>
          </a:p>
          <a:p>
            <a:pPr>
              <a:spcAft>
                <a:spcPts val="400"/>
              </a:spcAft>
              <a:defRPr sz="180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✓ 所有智能体读同一张网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分水岭：没有本体 LLM=通用助手；有了本体 LLM=领域专家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知识网飞轮效应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数据融合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640" y="235712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多源清洗抽取标准化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87451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8288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40" y="1828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语义成网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1560" y="235712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实体挂节点 · meta-path 注册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187451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9" y="18288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1828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智能体赋能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0479" y="235712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扩散子图驱动 Skill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79" y="1874519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399" y="18288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79" y="1828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反馈强化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9399" y="2357120"/>
            <a:ext cx="2560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边权更新 · 成功强化失败弱化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用得越多 → 网越密 → 推荐越准 → 越离不开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三大构件：名词 · 关系 · 动词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>
            <p:custDataLst>
              <p:tags r:id="rId1"/>
            </p:custDataLst>
          </p:nvPr>
        </p:nvSpPr>
        <p:spPr>
          <a:xfrm>
            <a:off x="548640" y="1554480"/>
            <a:ext cx="3566160" cy="228600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>
            <p:custDataLst>
              <p:tags r:id="rId2"/>
            </p:custDataLst>
          </p:nvPr>
        </p:nvSpPr>
        <p:spPr>
          <a:xfrm>
            <a:off x="685800" y="166420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节点 Nodes = 名词</a:t>
            </a:r>
          </a:p>
        </p:txBody>
      </p:sp>
      <p:sp>
        <p:nvSpPr>
          <p:cNvPr id="6" name="TextBox 5"/>
          <p:cNvSpPr txBox="1"/>
          <p:nvPr>
            <p:custDataLst>
              <p:tags r:id="rId3"/>
            </p:custDataLst>
          </p:nvPr>
        </p:nvSpPr>
        <p:spPr>
          <a:xfrm>
            <a:off x="685800" y="1965960"/>
            <a:ext cx="32918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文档/段落/概念/媒体/商品/评价</a:t>
            </a:r>
            <a:br/>
            <a:r>
              <a:t>属性 + 向量 + 类型</a:t>
            </a:r>
          </a:p>
        </p:txBody>
      </p:sp>
      <p:sp>
        <p:nvSpPr>
          <p:cNvPr id="7" name="Rounded Rectangle 6"/>
          <p:cNvSpPr/>
          <p:nvPr>
            <p:custDataLst>
              <p:tags r:id="rId4"/>
            </p:custDataLst>
          </p:nvPr>
        </p:nvSpPr>
        <p:spPr>
          <a:xfrm>
            <a:off x="4297679" y="1554480"/>
            <a:ext cx="3566160" cy="228600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5"/>
            </p:custDataLst>
          </p:nvPr>
        </p:nvSpPr>
        <p:spPr>
          <a:xfrm>
            <a:off x="4434839" y="166420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边 Links = 关系</a:t>
            </a:r>
          </a:p>
        </p:txBody>
      </p:sp>
      <p:sp>
        <p:nvSpPr>
          <p:cNvPr id="9" name="TextBox 8"/>
          <p:cNvSpPr txBox="1"/>
          <p:nvPr>
            <p:custDataLst>
              <p:tags r:id="rId6"/>
            </p:custDataLst>
          </p:nvPr>
        </p:nvSpPr>
        <p:spPr>
          <a:xfrm>
            <a:off x="4434839" y="1965960"/>
            <a:ext cx="3291840" cy="1753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contains· references · mentions · appears_in</a:t>
            </a:r>
            <a:br/>
            <a:r>
              <a:t>持久 · 可遍历 · 第一公民</a:t>
            </a:r>
          </a:p>
        </p:txBody>
      </p:sp>
      <p:sp>
        <p:nvSpPr>
          <p:cNvPr id="10" name="Rounded Rectangle 9"/>
          <p:cNvSpPr/>
          <p:nvPr>
            <p:custDataLst>
              <p:tags r:id="rId7"/>
            </p:custDataLst>
          </p:nvPr>
        </p:nvSpPr>
        <p:spPr>
          <a:xfrm>
            <a:off x="8046719" y="1554480"/>
            <a:ext cx="3566160" cy="228600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8"/>
            </p:custDataLst>
          </p:nvPr>
        </p:nvSpPr>
        <p:spPr>
          <a:xfrm>
            <a:off x="8183879" y="166420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技能 Skills = 动词</a:t>
            </a:r>
          </a:p>
        </p:txBody>
      </p:sp>
      <p:sp>
        <p:nvSpPr>
          <p:cNvPr id="12" name="TextBox 11"/>
          <p:cNvSpPr txBox="1"/>
          <p:nvPr>
            <p:custDataLst>
              <p:tags r:id="rId9"/>
            </p:custDataLst>
          </p:nvPr>
        </p:nvSpPr>
        <p:spPr>
          <a:xfrm>
            <a:off x="8183879" y="1965960"/>
            <a:ext cx="32918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检索/推荐/生成/挂接</a:t>
            </a:r>
            <a:br/>
            <a:r>
              <a:t>校验 · 来源 · 权限 · Human-in-the-Loop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062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mentions 关键：Section --mentions--&gt; Concept</a:t>
            </a:r>
            <a:br/>
            <a:r>
              <a:t>连接非结构化载体与结构化概念 · PPR 跨文档传导主通道 · 生物别名「语义树突簇」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为什么 AI 必须有知识网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没有知识网 ✕</a:t>
            </a:r>
          </a:p>
          <a:p>
            <a:pPr>
              <a:spcAft>
                <a:spcPts val="400"/>
              </a:spcAft>
              <a:defRPr sz="180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· 只能写通识摘要</a:t>
            </a:r>
          </a:p>
          <a:p>
            <a:pPr>
              <a:spcAft>
                <a:spcPts val="400"/>
              </a:spcAft>
              <a:defRPr sz="180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· 不知商品与概念关系</a:t>
            </a:r>
          </a:p>
          <a:p>
            <a:pPr>
              <a:spcAft>
                <a:spcPts val="400"/>
              </a:spcAft>
              <a:defRPr sz="180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· 无权控/无来源/无审计</a:t>
            </a:r>
          </a:p>
          <a:p>
            <a:pPr>
              <a:spcAft>
                <a:spcPts val="400"/>
              </a:spcAft>
              <a:defRPr sz="180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· 触发不了业务动作</a:t>
            </a:r>
          </a:p>
          <a:p>
            <a:pPr>
              <a:spcAft>
                <a:spcPts val="400"/>
              </a:spcAft>
              <a:defRPr sz="180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· 幻觉无法约束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4630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有知识网 ✓</a:t>
            </a:r>
          </a:p>
          <a:p>
            <a:pPr>
              <a:spcAft>
                <a:spcPts val="400"/>
              </a:spcAft>
              <a:defRPr sz="180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· 理解完整业务语义</a:t>
            </a:r>
          </a:p>
          <a:p>
            <a:pPr>
              <a:spcAft>
                <a:spcPts val="400"/>
              </a:spcAft>
              <a:defRPr sz="180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· meta-path 检索真实数据</a:t>
            </a:r>
          </a:p>
          <a:p>
            <a:pPr>
              <a:spcAft>
                <a:spcPts val="400"/>
              </a:spcAft>
              <a:defRPr sz="180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· License/类目/角色权限</a:t>
            </a:r>
          </a:p>
          <a:p>
            <a:pPr>
              <a:spcAft>
                <a:spcPts val="400"/>
              </a:spcAft>
              <a:defRPr sz="180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· node_id + 来源可行动</a:t>
            </a:r>
          </a:p>
          <a:p>
            <a:pPr>
              <a:spcAft>
                <a:spcPts val="400"/>
              </a:spcAft>
              <a:defRPr sz="180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· 本体约束降幻觉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activate → seeds[]  ·  propagate → subgraph  ·  package → context  ·  llm → skill_output</a:t>
            </a:r>
            <a:br/>
            <a:r>
              <a:t>Skill 层不感知底层是 PPR 还是 GNN — 架构可演进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不可复制的护城河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数据网络效应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0195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每增数据源，关系网指数级丰富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39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0603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零边际成本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53511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本体已定，新场景=新视角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组织知识固化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005072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规则/经验/失败案例编码进边权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09159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09159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倍增器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56631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LLM+专属知识网=领域专家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工程验证：从图谱到智能体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087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L2 知识网基本盘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beauty：数百商品 · 上千段落 · mentions/appears_in · PPR+meta_paths · verify_m21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517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认知推演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激活思考 → 子图召回 → 传导日志 → 思考回放 · 图谱 Tab 可遍历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智能客服 POC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L2 子图 + L1 渐进对话 + L3 话术 Skill · 金牌导购非图书馆管理员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需求雷达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578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微信私域 → 类目过滤 → Chroma+LLM → 结构化需求 · 只读零操作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07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6D6A0"/>
                </a:solidFill>
                <a:latin typeface="微软雅黑" panose="020B0503020204020204" charset="-122"/>
              </a:defRPr>
            </a:pPr>
            <a:r>
              <a:t>机制已通 → 下一页：技能集四类智能体应用（客服/写作/短视频/直播）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技能集 · 智能体应用案例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商业垂直 · AI 智能 · 技能集 · 同网不同 Skill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3566160" cy="114300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2704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商业垂直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被动投喂 + 主动学习</a:t>
            </a:r>
            <a:br/>
            <a:r>
              <a:t>beauty 960 条 · 防晒/护肤/彩妆…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417320"/>
            <a:ext cx="3566160" cy="114300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39" y="152704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AI 智能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39" y="182880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引擎与技术栈</a:t>
            </a:r>
            <a:br/>
            <a:r>
              <a:t>文本/图像/视频 · 大模型连接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417320"/>
            <a:ext cx="3566160" cy="114300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52704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技能集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828800"/>
            <a:ext cx="3291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策略包 + 版本</a:t>
            </a:r>
            <a:br/>
            <a:r>
              <a:t>四类 Skill · 人工维护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2743200"/>
          <a:ext cx="950976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3657600"/>
              </a:tblGrid>
              <a:tr h="466344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技能集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应用案例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策略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智能客服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电商售前导购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cs_dialogue · PDS 四步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智能写作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文案写手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doc_writer · 信任状脚手架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智能视频制作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短视频创作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编剧/评估/美术 </a:t>
                      </a:r>
                      <a:r>
                        <a:rPr lang="en-US"/>
                        <a:t>/</a:t>
                      </a:r>
                      <a:r>
                        <a:rPr lang="zh-CN" altLang="en-US"/>
                        <a:t>分镜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摄影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出片</a:t>
                      </a:r>
                      <a:endParaRPr lang="zh-CN" altLang="en-US"/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智能数字人直播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数字人直播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live_stream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48640" y="52578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6D6A0"/>
                </a:solidFill>
                <a:latin typeface="微软雅黑" panose="020B0503020204020204" charset="-122"/>
              </a:defRPr>
            </a:pPr>
            <a:r>
              <a:t>activate → propagate → package → llm → skill_output  ·  四类产品共用契约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235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不是各建一套 AI — 在一张网上用不同 Skill 长出四只「手」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垂直扩展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换 category 不换架构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566160" cy="182880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6420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私域运营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3291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需求雷达 · 结构化需求沉淀 · 主链路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554480"/>
            <a:ext cx="3566160" cy="182880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39" y="166420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研发知识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39" y="1965960"/>
            <a:ext cx="3291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工艺/专利/谱图 · meta-path 经验传导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9" y="1554480"/>
            <a:ext cx="3566160" cy="182880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66420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企业培训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965960"/>
            <a:ext cx="3291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认知推演 · 附来源的经验传导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3566160" cy="182880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6732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生鲜/家电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69080"/>
            <a:ext cx="3291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cs_fresh / cs_appliance 话术变体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3657600"/>
            <a:ext cx="3566160" cy="182880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39" y="376732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更多垂直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39" y="4069080"/>
            <a:ext cx="329184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本体一次建设 · Skill 按场景叠加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8521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beauty 为样板 · 机制一次建设 · 垂直按类目扩展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RAG 与模型选型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检索增强生成 · 开卷考试而非闭卷瞎编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  <a:gridCol w="5943600"/>
              </a:tblGrid>
              <a:tr h="45720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环节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常规定义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谛听实现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检索端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向量 Top-K chunk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ANN + PPR + Meta-path → 结构化子图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生成端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LLM 读 chunk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读知识网片段 → 话术/建议/报告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价值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降幻觉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私有沉淀 · 来源边权可查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747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LLM：DeepSeek 等 · 必须被知识网约束</a:t>
            </a:r>
          </a:p>
          <a:p>
            <a:pPr>
              <a:spcAft>
                <a:spcPts val="400"/>
              </a:spcAft>
              <a:defRPr sz="16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向量：BGE-M3 + Chroma · ANN 种子</a:t>
            </a:r>
          </a:p>
          <a:p>
            <a:pPr>
              <a:spcAft>
                <a:spcPts val="400"/>
              </a:spcAft>
              <a:defRPr sz="16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图扩散：PPR + meta_paths 白名单</a:t>
            </a:r>
          </a:p>
          <a:p>
            <a:pPr>
              <a:spcAft>
                <a:spcPts val="400"/>
              </a:spcAft>
              <a:defRPr sz="16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VLM：media 节点描述 · 跨文档反查</a:t>
            </a:r>
          </a:p>
          <a:p>
            <a:pPr>
              <a:spcAft>
                <a:spcPts val="400"/>
              </a:spcAft>
              <a:defRPr sz="16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小模型：XGBoost/LightGBM + 符号规则混合推理</a:t>
            </a:r>
          </a:p>
          <a:p>
            <a:pPr>
              <a:spcAft>
                <a:spcPts val="400"/>
              </a:spcAft>
              <a:defRPr sz="16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原则：RAG(ANN+PPR)优先 · 小模型专精 · Skill 调度 · 不盲目微调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范式跃迁：三代进化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66160" cy="228600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6420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1.0 肌肉型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2918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工具各自为政 · 响应以月计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21031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554480"/>
            <a:ext cx="3566160" cy="228600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39" y="166420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2.0 感知型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39" y="1965960"/>
            <a:ext cx="32918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BI 看板 · 看到≠行动 · 响应以周计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19" y="210312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554480"/>
            <a:ext cx="3566160" cy="2286000"/>
          </a:xfrm>
          <a:prstGeom prst="roundRect">
            <a:avLst/>
          </a:prstGeom>
          <a:solidFill>
            <a:srgbClr val="12244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664208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3.0 神经系统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965960"/>
            <a:ext cx="32918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感知→理解→思考→行动→反馈 · 响应以小时/天计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数字孪生不再是静态地图，而是活的控制系统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企业正在长出「神经系统」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按席位 SaaS → 按价值消耗的智能体（买 Decision 非 Feature）</a:t>
            </a:r>
          </a:p>
          <a:p>
            <a:pPr>
              <a:spcAft>
                <a:spcPts val="400"/>
              </a:spcAft>
              <a:defRPr sz="20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功能驱动路线图 → 本体驱动（先语义，再应用）</a:t>
            </a:r>
          </a:p>
          <a:p>
            <a:pPr>
              <a:spcAft>
                <a:spcPts val="400"/>
              </a:spcAft>
              <a:defRPr sz="20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人工中间层信息传递 → 知识网+AI 压缩</a:t>
            </a:r>
          </a:p>
          <a:p>
            <a:pPr>
              <a:spcAft>
                <a:spcPts val="400"/>
              </a:spcAft>
              <a:defRPr sz="20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静态 BI 报表 → 系统代我行动（保留 Human-in-the-Loop）</a:t>
            </a:r>
          </a:p>
          <a:p>
            <a:pPr>
              <a:spcAft>
                <a:spcPts val="400"/>
              </a:spcAft>
              <a:defRPr sz="2000">
                <a:solidFill>
                  <a:srgbClr val="CCD6E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终局：竞争不只是数据多，而是谁的神经系统更完整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干湿闭环：从地图到自动驾驶仪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1 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46304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Pipeline 多模态入库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2 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33172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实体抽取 · 语义节点挂接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3 推理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0040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Agent 扩散 · 缺口检测 · 场景模拟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9079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4 行动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069079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话术/方案/挂链 · 人审后执行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5 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937760"/>
            <a:ext cx="9601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反馈回流 · 边权更新 · 突触可塑性 L3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生物侧：可塑性/传导/反馈  ↔  数字侧：图/向量/Agent/Pipeline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突触可塑性：会学习的知识网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L3 可塑层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强化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55448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检索命中/Analyze 采纳 → 边权上升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39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退化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06039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长期未命中/低置信 → 软隐藏/待清理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Hub 增厚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6576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appears_in 枢纽 · PPR 停留概率提高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09159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工程字段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709159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props_json: weight · traversal_count · staleness · pruned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终局：Decision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组织变网状：一线与 Agent 协作，管理层聚焦战略</a:t>
            </a:r>
          </a:p>
          <a:p>
            <a:pPr>
              <a:spcAft>
                <a:spcPts val="400"/>
              </a:spcAft>
              <a:defRPr sz="20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跨组织知识互联：产业链级本体互认</a:t>
            </a:r>
          </a:p>
          <a:p>
            <a:pPr>
              <a:spcAft>
                <a:spcPts val="400"/>
              </a:spcAft>
              <a:defRPr sz="20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软件形态变：建操作系统，非买更多模块</a:t>
            </a:r>
          </a:p>
          <a:p>
            <a:pPr>
              <a:spcAft>
                <a:spcPts val="400"/>
              </a:spcAft>
              <a:defRPr sz="20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决策速度 = 降维打击：分钟级 vs 周级</a:t>
            </a:r>
          </a:p>
          <a:p>
            <a:pPr>
              <a:spcAft>
                <a:spcPts val="400"/>
              </a:spcAft>
              <a:defRPr sz="2000">
                <a:solidFill>
                  <a:srgbClr val="CCD6E0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20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问题不是「要不要上 AI」，而是「准备好拥有自己的知识网了吗？」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三句话带走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构建知识网本体，而非堆叠 Feature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3852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统一语义层 · 护城河非功能清单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让 AI 连接业务流程，而非停在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5584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价值在行动化，非对话化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3891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用操作系统思维取代工具思维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7316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一平台无限 Skill · 边际成本趋零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6459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未来属于那些「看得见」的人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看得见关系 · 看得见传导路径 · 看得见 AI 该行动在哪里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基于生物-数字双模态知识网与神经扩散机制的智能体系统研发及应用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客服 · 写作 · 短视频 · 数字人直播 — 同一张网上的四只「手」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谛听 DITING · 感谢聆听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宣讲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附录 A–D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834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术语速查 · Q&amp;A · 页码 · 备忘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FF9F1C"/>
                </a:solidFill>
                <a:latin typeface="微软雅黑" panose="020B0503020204020204" charset="-122"/>
              </a:defRPr>
            </a:pPr>
            <a:r>
              <a:t>速查资料 · 宣讲时不讲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附录 A · 高频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速查 · 不讲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Q：和 Palantir / 传统知识图谱有何不同？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5564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A：Palantir 卖 Ontology OS；我们用生物隐喻定义异构图，PPR 已落地，私域场景验证闭环。更轻、可私有化、Skill 可插拔。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Q：生物隐喻是噱头吗？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5584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A：每层隐喻映射工程对象；早期起点是异构 GNN+知识图谱 Message Passing，PPR 是其可部署版本。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Q：ANN 和 PPR 为何不能只用其一？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5604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A：ANN 秒级找起点（感知）；PPR 沿结构深化（传导）。只做 ANN 漏结构关键节点；只做 PPR 无种子。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附录速查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附录 A · 高频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速查 · 不讲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Q：Meta-path 是什么？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5564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A：异构图类型化路径模板。按任务选 MP1/MP2/MP5，避免乱游走。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Q：一定要微调大模型吗？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8152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A：不一定。默认 RAG+知识网约束。本体质量 &gt; 模型规模。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2336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Q：GNN 做了吗？和 PPR 什么关系？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074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A：研究渊源在异构 GNN Message Passing；生产默认 PPR；L3 可上 R-GCN/HAN，接口不变。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34924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Q：部署与数据安全？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3328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A：端云分离 · 私有化 · category 隔离 · License · 敏感数据不出域。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附录速查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附录 B · 术语总览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专业定义 + 易懂版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754880"/>
                <a:gridCol w="4572000"/>
              </a:tblGrid>
              <a:tr h="54864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术语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专业一句话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易懂版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RAG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/>
                        <a:t>检索增强生成：先检索知识</a:t>
                      </a:r>
                      <a:r>
                        <a:rPr lang="zh-CN" altLang="en-US"/>
                        <a:t>库，再让 </a:t>
                      </a:r>
                      <a:r>
                        <a:rPr lang="en-US" altLang="zh-CN"/>
                        <a:t>LLM </a:t>
                      </a:r>
                      <a:r>
                        <a:rPr lang="zh-CN" altLang="en-US"/>
                        <a:t>生成</a:t>
                      </a:r>
                      <a:endParaRPr lang="zh-CN" altLang="en-US"/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开卷考试</a:t>
                      </a:r>
                      <a:r>
                        <a:rPr lang="zh-CN"/>
                        <a:t>：</a:t>
                      </a:r>
                      <a:r>
                        <a:rPr lang="zh-CN" altLang="en-US"/>
                        <a:t>先翻自己的知识库，再答题</a:t>
                      </a:r>
                      <a:endParaRPr lang="zh-CN" altLang="en-US"/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ANN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/>
                        <a:t>高维向量空间的近似最近邻检索</a:t>
                      </a:r>
                      <a:endParaRPr lang="zh-CN" altLang="en-US"/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感官定位</a:t>
                      </a:r>
                      <a:r>
                        <a:rPr lang="zh-CN"/>
                        <a:t>：</a:t>
                      </a:r>
                      <a:r>
                        <a:rPr lang="zh-CN" altLang="en-US"/>
                        <a:t>大海捞针，先圈出最相关的几个点</a:t>
                      </a:r>
                      <a:endParaRPr lang="zh-CN" altLang="en-US"/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PPR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 lang="zh-CN" altLang="en-US"/>
                        <a:t>从种子节点出发的个性化 </a:t>
                      </a:r>
                      <a:r>
                        <a:rPr lang="en-US" altLang="zh-CN"/>
                        <a:t>PageRank </a:t>
                      </a:r>
                      <a:r>
                        <a:rPr lang="zh-CN" altLang="en-US"/>
                        <a:t>随机游走</a:t>
                      </a:r>
                      <a:endParaRPr lang="zh-CN" altLang="en-US"/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神经传导</a:t>
                      </a:r>
                      <a:r>
                        <a:rPr lang="zh-CN"/>
                        <a:t>：</a:t>
                      </a:r>
                      <a:r>
                        <a:rPr lang="zh-CN" altLang="en-US"/>
                        <a:t>从一个激活点，沿连接向外扩散影响力</a:t>
                      </a:r>
                      <a:endParaRPr lang="zh-CN" altLang="en-US"/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Meta-path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异构图类型化路径模板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皮层功能区</a:t>
                      </a:r>
                      <a:r>
                        <a:rPr lang="zh-CN"/>
                        <a:t>：</a:t>
                      </a:r>
                      <a:r>
                        <a:rPr lang="zh-CN" altLang="en-US"/>
                        <a:t>规定「走哪类路、办哪类事」</a:t>
                      </a:r>
                      <a:endParaRPr lang="zh-CN" altLang="en-US"/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mentions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文本/媒体提及概念/实体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语义树突</a:t>
                      </a:r>
                      <a:r>
                        <a:rPr lang="zh-CN"/>
                        <a:t>：</a:t>
                      </a:r>
                      <a:r>
                        <a:rPr lang="zh-CN" altLang="en-US"/>
                        <a:t>把「这段话」和「这个概念」挂上钩</a:t>
                      </a:r>
                      <a:endParaRPr lang="zh-CN" altLang="en-US"/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神经扩散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ANN+PPR 沿 meta-path 传播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感知+传导</a:t>
                      </a:r>
                      <a:r>
                        <a:rPr lang="zh-CN"/>
                        <a:t>：先看见，再沿着网络节点联想</a:t>
                      </a:r>
                      <a:r>
                        <a:rPr lang="zh-CN"/>
                        <a:t>明白</a:t>
                      </a:r>
                      <a:endParaRPr lang="zh-CN"/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异构 GNN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HIN 上 Message Passing </a:t>
                      </a:r>
                      <a:r>
                        <a:rPr lang="zh-CN"/>
                        <a:t>算法</a:t>
                      </a:r>
                      <a:r>
                        <a:rPr lang="zh-CN"/>
                        <a:t>研究</a:t>
                      </a:r>
                      <a:endParaRPr lang="zh-CN"/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算法渊源</a:t>
                      </a:r>
                      <a:r>
                        <a:rPr lang="zh-CN"/>
                        <a:t>：</a:t>
                      </a:r>
                      <a:r>
                        <a:rPr lang="zh-CN" altLang="en-US"/>
                        <a:t>今日 </a:t>
                      </a:r>
                      <a:r>
                        <a:rPr lang="en-US" altLang="zh-CN"/>
                        <a:t>PPR </a:t>
                      </a:r>
                      <a:r>
                        <a:rPr lang="zh-CN" altLang="en-US"/>
                        <a:t>是其可部署版本</a:t>
                      </a:r>
                      <a:endParaRPr lang="zh-CN" altLang="en-US"/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附录速查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附录 B · RAG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术语速查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检索增强生成：用户提问时先从外部知识库检索，再将检索结果+原问题交给 LLM。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857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谛听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31186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检索端=ANN+PPR+Meta-path→结构化子图；生成端=读知识网片段；价值=开卷考试、来源可查。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附录速查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附录 B · PPR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术语速查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从种子节点出发的个性化 PageRank 随机游走，计算局部关联强度。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9285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公式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85466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π = α·P·π + (1−α)·v  （v=种子个性化向量，α=扩散阻尼）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5983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谛听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52444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种子来自 ANN；沿 mentions/contains 多跳扩散；模拟神经传导/激活扩散。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附录速查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附录 B · Meta-path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术语速查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定义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异构图上 A₁─R₁→A₂─R₂→… 的类型化关系路径模板。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3570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示例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28316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MP1: concept→section←document | MP2: section→media→document | MP5: media→…→document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0560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谛听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98214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PPR 仅沿 meta_paths 白名单游走；按任务选 path，保证业务逻辑。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附录速查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附录 B · ANN + PPR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术语速查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ANN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BGE 空间 Top-K · 秒级定位起点 · 生物映射=感知/感官编码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0428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PPR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96896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以种子图上游走 · 多跳传导 · 生物映射=神经传导/激活场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68396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联合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61004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ANN 广撒网 + PPR 深化 + Meta-path 分区 + 边类型=突触规则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附录速查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附录 B · Mentions &amp; 边类型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术语速查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mentions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64208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文本/媒体提及概念/实体 · 语义树突簇 · 跨文档 PPR 主通道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14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0B4D8"/>
                </a:solidFill>
                <a:latin typeface="微软雅黑" panose="020B0503020204020204" charset="-122"/>
              </a:defRPr>
            </a:pPr>
            <a:r>
              <a:t>边速查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74036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contains=胞体胞突 | references=短程突触 | appears_in=长程髓鞘 | related_product=挂接轴突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附录速查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附录 B · 算法演进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异构 GNN 研究 → PPR 工程 → L3 可学习扩散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10972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58368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阶段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算法栈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t>状态</a:t>
                      </a:r>
                    </a:p>
                  </a:txBody>
                  <a:tcPr marL="76200" marR="76200" marT="50800" marB="50800">
                    <a:solidFill>
                      <a:srgbClr val="006D8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研究起点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异构图神经网络(HIN/GNN) + KG Message Passing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算法渊源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L2 传导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ANN + PPR + meta-path（静态 Message Passing）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✅ 生产默认</a:t>
                      </a:r>
                    </a:p>
                  </a:txBody>
                  <a:tcPr marL="76200" marR="76200" marT="50800" marB="50800">
                    <a:solidFill>
                      <a:srgbClr val="E8F2F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L3 可塑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R-GCN / HAN（可学习 Message Passing）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600" b="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t>🔜 远期可选</a:t>
                      </a:r>
                    </a:p>
                  </a:txBody>
                  <a:tcPr marL="76200" marR="76200" marT="50800" marB="50800"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7472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为何先 PPR：2GB 无 GPU · 冷启动可解释 · 路径/边/meta-path 可审计</a:t>
            </a:r>
          </a:p>
          <a:p>
            <a:pPr>
              <a:spcAft>
                <a:spcPts val="400"/>
              </a:spcAft>
              <a:defRPr sz="16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PPR = 无需训练参数的 Message Passing（入库方案 §14.3.2）</a:t>
            </a:r>
          </a:p>
          <a:p>
            <a:pPr>
              <a:spcAft>
                <a:spcPts val="400"/>
              </a:spcAft>
              <a:defRPr sz="16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统一接口：activate → propagate → package → llm</a:t>
            </a:r>
          </a:p>
          <a:p>
            <a:pPr>
              <a:spcAft>
                <a:spcPts val="400"/>
              </a:spcAft>
              <a:defRPr sz="16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  今日 ppr_expand() · 明日 gnn_forward() · Skill 层不感知</a:t>
            </a:r>
          </a:p>
          <a:p>
            <a:pPr>
              <a:spcAft>
                <a:spcPts val="400"/>
              </a:spcAft>
              <a:defRPr sz="160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宣讲口径：有算法纵深 · 今日交付 PPR · 明日预留 GNN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附录速查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附录 C · PPT 页码对照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 1  封面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 2  数据黑盒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7393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 3  传统困局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75104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 4  我们的方向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 5  核心理念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 6  谛听 vs 传统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78608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 7  三大能力层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7977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 8  ★神经扩散链路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80944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 9  RAG 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82112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10  系统架构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83280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11  知识网本体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84448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12  飞轮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78561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13  节点/边/技能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986783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14  AI 需知识网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371600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15  护城河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572768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16  工程验证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77393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17  ★技能集应用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975104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18  垂直扩展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176272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19  RAG 选型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2377440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20  范式跃迁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2578608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21  神经系统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779776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22  干湿闭环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2980944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23  突触可塑性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3182112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24  Decision Intel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383280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25  三句话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3584448"/>
            <a:ext cx="5029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26  结语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附录速查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附录 D · 一页纸备忘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005840" cy="320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0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上台前 30 秒复习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48CAE4"/>
                </a:solidFill>
                <a:latin typeface="微软雅黑" panose="020B0503020204020204" charset="-122"/>
              </a:defRPr>
            </a:pPr>
            <a:r>
              <a:t>核心命题：基于生物-数字双模态知识网与神经扩散机制的智能体系统研发及应用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（文档短标题：生物-数字双模态知识网机制的智能体研发与应用）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06D6A0"/>
                </a:solidFill>
                <a:latin typeface="微软雅黑" panose="020B0503020204020204" charset="-122"/>
              </a:defRPr>
            </a:pPr>
            <a:r>
              <a:t>四类应用：电商售前导购 ✅ · 文案写手 ✅ · 短视频 🚧 · 数字人直播 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CD6E0"/>
                </a:solidFill>
                <a:latin typeface="微软雅黑" panose="020B0503020204020204" charset="-122"/>
              </a:defRPr>
            </a:pPr>
            <a:r>
              <a:t>Query → Embedding → ANN 种子 → Meta-path + PPR → 子图 → Skills</a:t>
            </a:r>
            <a:br/>
            <a:r>
              <a:t>感知     编码        动作电位      皮层区+神经传导    读出    行动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RAG = 开卷考试（检索端 = ANN+PPR，非普通 chunk）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PPR = 从种子沿边扩散打分（神经传导）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Meta-path = 按业务选路径模板（皮层功能区）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异构 GNN = 算法渊源 · 今日 PPR · L3 可上 R-GCN/HAN</a:t>
            </a: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微软雅黑" panose="020B0503020204020204" charset="-122"/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一句差异化：向量找「像不像」，图扩散找「连没连、该不该连」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谛听 DITING · 附录速查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600" b="0">
                <a:solidFill>
                  <a:srgbClr val="8A9BAD"/>
                </a:solidFill>
                <a:latin typeface="微软雅黑" panose="020B0503020204020204" charset="-122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2,&quot;left&quot;:43.2,&quot;top&quot;:122.4,&quot;width&quot;:871.1999212598424}"/>
</p:tagLst>
</file>

<file path=ppt/tags/tag2.xml><?xml version="1.0" encoding="utf-8"?>
<p:tagLst xmlns:p="http://schemas.openxmlformats.org/presentationml/2006/main">
  <p:tag name="KSO_WM_DIAGRAM_VIRTUALLY_FRAME" val="{&quot;height&quot;:252,&quot;left&quot;:43.2,&quot;top&quot;:122.4,&quot;width&quot;:871.1999212598424}"/>
</p:tagLst>
</file>

<file path=ppt/tags/tag3.xml><?xml version="1.0" encoding="utf-8"?>
<p:tagLst xmlns:p="http://schemas.openxmlformats.org/presentationml/2006/main">
  <p:tag name="KSO_WM_DIAGRAM_VIRTUALLY_FRAME" val="{&quot;height&quot;:252,&quot;left&quot;:43.2,&quot;top&quot;:122.4,&quot;width&quot;:871.1999212598424}"/>
</p:tagLst>
</file>

<file path=ppt/tags/tag4.xml><?xml version="1.0" encoding="utf-8"?>
<p:tagLst xmlns:p="http://schemas.openxmlformats.org/presentationml/2006/main">
  <p:tag name="KSO_WM_DIAGRAM_VIRTUALLY_FRAME" val="{&quot;height&quot;:252,&quot;left&quot;:43.2,&quot;top&quot;:122.4,&quot;width&quot;:871.1999212598424}"/>
</p:tagLst>
</file>

<file path=ppt/tags/tag5.xml><?xml version="1.0" encoding="utf-8"?>
<p:tagLst xmlns:p="http://schemas.openxmlformats.org/presentationml/2006/main">
  <p:tag name="KSO_WM_DIAGRAM_VIRTUALLY_FRAME" val="{&quot;height&quot;:252,&quot;left&quot;:43.2,&quot;top&quot;:122.4,&quot;width&quot;:871.1999212598424}"/>
</p:tagLst>
</file>

<file path=ppt/tags/tag6.xml><?xml version="1.0" encoding="utf-8"?>
<p:tagLst xmlns:p="http://schemas.openxmlformats.org/presentationml/2006/main">
  <p:tag name="KSO_WM_DIAGRAM_VIRTUALLY_FRAME" val="{&quot;height&quot;:252,&quot;left&quot;:43.2,&quot;top&quot;:122.4,&quot;width&quot;:871.1999212598424}"/>
</p:tagLst>
</file>

<file path=ppt/tags/tag7.xml><?xml version="1.0" encoding="utf-8"?>
<p:tagLst xmlns:p="http://schemas.openxmlformats.org/presentationml/2006/main">
  <p:tag name="KSO_WM_DIAGRAM_VIRTUALLY_FRAME" val="{&quot;height&quot;:252,&quot;left&quot;:43.2,&quot;top&quot;:122.4,&quot;width&quot;:871.1999212598424}"/>
</p:tagLst>
</file>

<file path=ppt/tags/tag8.xml><?xml version="1.0" encoding="utf-8"?>
<p:tagLst xmlns:p="http://schemas.openxmlformats.org/presentationml/2006/main">
  <p:tag name="KSO_WM_DIAGRAM_VIRTUALLY_FRAME" val="{&quot;height&quot;:252,&quot;left&quot;:43.2,&quot;top&quot;:122.4,&quot;width&quot;:871.1999212598424}"/>
</p:tagLst>
</file>

<file path=ppt/tags/tag9.xml><?xml version="1.0" encoding="utf-8"?>
<p:tagLst xmlns:p="http://schemas.openxmlformats.org/presentationml/2006/main">
  <p:tag name="KSO_WM_DIAGRAM_VIRTUALLY_FRAME" val="{&quot;height&quot;:252,&quot;left&quot;:43.2,&quot;top&quot;:122.4,&quot;width&quot;:871.1999212598424}"/>
</p:tagLst>
</file>

<file path=ppt/tags/tag10.xml><?xml version="1.0" encoding="utf-8"?>
<p:tagLst xmlns:p="http://schemas.openxmlformats.org/presentationml/2006/main">
  <p:tag name="KSO_WM_DIAGRAM_VIRTUALLY_FRAME" val="{&quot;height&quot;:180,&quot;left&quot;:43.2,&quot;top&quot;:122.4,&quot;width&quot;:871.1999212598424}"/>
</p:tagLst>
</file>

<file path=ppt/tags/tag11.xml><?xml version="1.0" encoding="utf-8"?>
<p:tagLst xmlns:p="http://schemas.openxmlformats.org/presentationml/2006/main">
  <p:tag name="KSO_WM_DIAGRAM_VIRTUALLY_FRAME" val="{&quot;height&quot;:180,&quot;left&quot;:43.2,&quot;top&quot;:122.4,&quot;width&quot;:871.1999212598424}"/>
</p:tagLst>
</file>

<file path=ppt/tags/tag12.xml><?xml version="1.0" encoding="utf-8"?>
<p:tagLst xmlns:p="http://schemas.openxmlformats.org/presentationml/2006/main">
  <p:tag name="KSO_WM_DIAGRAM_VIRTUALLY_FRAME" val="{&quot;height&quot;:180,&quot;left&quot;:43.2,&quot;top&quot;:122.4,&quot;width&quot;:871.1999212598424}"/>
</p:tagLst>
</file>

<file path=ppt/tags/tag13.xml><?xml version="1.0" encoding="utf-8"?>
<p:tagLst xmlns:p="http://schemas.openxmlformats.org/presentationml/2006/main">
  <p:tag name="KSO_WM_DIAGRAM_VIRTUALLY_FRAME" val="{&quot;height&quot;:180,&quot;left&quot;:43.2,&quot;top&quot;:122.4,&quot;width&quot;:871.1999212598424}"/>
</p:tagLst>
</file>

<file path=ppt/tags/tag14.xml><?xml version="1.0" encoding="utf-8"?>
<p:tagLst xmlns:p="http://schemas.openxmlformats.org/presentationml/2006/main">
  <p:tag name="KSO_WM_DIAGRAM_VIRTUALLY_FRAME" val="{&quot;height&quot;:180,&quot;left&quot;:43.2,&quot;top&quot;:122.4,&quot;width&quot;:871.1999212598424}"/>
</p:tagLst>
</file>

<file path=ppt/tags/tag15.xml><?xml version="1.0" encoding="utf-8"?>
<p:tagLst xmlns:p="http://schemas.openxmlformats.org/presentationml/2006/main">
  <p:tag name="KSO_WM_DIAGRAM_VIRTUALLY_FRAME" val="{&quot;height&quot;:180,&quot;left&quot;:43.2,&quot;top&quot;:122.4,&quot;width&quot;:871.1999212598424}"/>
</p:tagLst>
</file>

<file path=ppt/tags/tag16.xml><?xml version="1.0" encoding="utf-8"?>
<p:tagLst xmlns:p="http://schemas.openxmlformats.org/presentationml/2006/main">
  <p:tag name="KSO_WM_DIAGRAM_VIRTUALLY_FRAME" val="{&quot;height&quot;:180,&quot;left&quot;:43.2,&quot;top&quot;:122.4,&quot;width&quot;:871.1999212598424}"/>
</p:tagLst>
</file>

<file path=ppt/tags/tag17.xml><?xml version="1.0" encoding="utf-8"?>
<p:tagLst xmlns:p="http://schemas.openxmlformats.org/presentationml/2006/main">
  <p:tag name="KSO_WM_DIAGRAM_VIRTUALLY_FRAME" val="{&quot;height&quot;:180,&quot;left&quot;:43.2,&quot;top&quot;:122.4,&quot;width&quot;:871.1999212598424}"/>
</p:tagLst>
</file>

<file path=ppt/tags/tag18.xml><?xml version="1.0" encoding="utf-8"?>
<p:tagLst xmlns:p="http://schemas.openxmlformats.org/presentationml/2006/main">
  <p:tag name="KSO_WM_DIAGRAM_VIRTUALLY_FRAME" val="{&quot;height&quot;:180,&quot;left&quot;:43.2,&quot;top&quot;:122.4,&quot;width&quot;:871.199921259842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8552</Words>
  <Application>WPS 演示</Application>
  <PresentationFormat>On-screen Show (4:3)</PresentationFormat>
  <Paragraphs>1024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杜大同(菜鸟-地网运输技术部 剑笑)</cp:lastModifiedBy>
  <cp:revision>18</cp:revision>
  <dcterms:created xsi:type="dcterms:W3CDTF">2013-01-27T09:14:00Z</dcterms:created>
  <dcterms:modified xsi:type="dcterms:W3CDTF">2026-07-10T09:26:27Z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CCA7D58D0203469785290E7598635E6E_12</vt:lpwstr>
  </property>
  <property fmtid="{D5CDD505-2E9C-101B-9397-08002B2CF9AE}" pid="3" name="KSOProductBuildVer">
    <vt:lpwstr>2052-12.1.0.26895</vt:lpwstr>
  </property>
</Properties>
</file>