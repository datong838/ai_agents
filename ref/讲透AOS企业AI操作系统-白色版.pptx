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429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10355E"/>
                </a:solidFill>
                <a:latin typeface="微软雅黑"/>
              </a:rPr>
              <a:t>讲透 </a:t>
            </a:r>
            <a:r>
              <a:rPr lang="en-US" sz="4000" b="1">
                <a:solidFill>
                  <a:srgbClr val="10355E"/>
                </a:solidFill>
                <a:latin typeface="微软雅黑"/>
              </a:rPr>
              <a:t>AOS</a:t>
            </a:r>
            <a:endParaRPr lang="en-US" sz="4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1F6FC1"/>
                </a:solidFill>
                <a:latin typeface="微软雅黑"/>
              </a:rPr>
              <a:t>Ontology · Data · Logic · Action · Security</a:t>
            </a:r>
            <a:endParaRPr sz="1800" b="0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039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5A6B7E"/>
                </a:solidFill>
                <a:latin typeface="微软雅黑"/>
              </a:rPr>
              <a:t>以 Ontology 为业务运行模型，以 Foundry 为数据与运营平台，
以 AIP 为 AI 运行环境，以 Apollo 和 Rubix 为软件交付底座，
以 FDE 为产品反馈机制，连接数据、决策和现实行动的
企业级决策与运营基础设施。</a:t>
            </a:r>
            <a:endParaRPr sz="14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2292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8A95A5"/>
                </a:solidFill>
                <a:latin typeface="微软雅黑"/>
              </a:rPr>
              <a:t>2026.07 · 基于</a:t>
            </a:r>
            <a:r>
              <a:rPr lang="zh-CN" sz="1100" b="0">
                <a:solidFill>
                  <a:srgbClr val="8A95A5"/>
                </a:solidFill>
                <a:latin typeface="微软雅黑"/>
              </a:rPr>
              <a:t>开发</a:t>
            </a:r>
            <a:r>
              <a:rPr sz="1100" b="0">
                <a:solidFill>
                  <a:srgbClr val="8A95A5"/>
                </a:solidFill>
                <a:latin typeface="微软雅黑"/>
              </a:rPr>
              <a:t>资料整理</a:t>
            </a:r>
            <a:endParaRPr sz="11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5D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01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目录 / Contents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01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" y="158191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01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572000" cy="2476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理解 </a:t>
            </a:r>
            <a:r>
              <a:rPr lang="en-US" sz="1200" b="0">
                <a:solidFill>
                  <a:srgbClr val="1F2D3D"/>
                </a:solidFill>
                <a:latin typeface="微软雅黑"/>
              </a:rPr>
              <a:t>AOS</a:t>
            </a:r>
            <a:r>
              <a:rPr sz="1200" b="0">
                <a:solidFill>
                  <a:srgbClr val="1F2D3D"/>
                </a:solidFill>
                <a:latin typeface="微软雅黑"/>
              </a:rPr>
              <a:t>：放弃简单标签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" y="2084831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02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发展历程：能力逐层叠加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57200" y="2587751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24327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03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2606039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顶层产品体系：四大平台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57200" y="309067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2724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04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Foundry：数据运营平台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57200" y="359359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05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Ontology：核心业务语言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57200" y="409651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06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Action：从分析走向运营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57200" y="459943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63600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07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AIP：企业 AI 运行环境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57200" y="510235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3892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08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4572000" cy="2476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200" b="0">
                <a:solidFill>
                  <a:srgbClr val="1F2D3D"/>
                </a:solidFill>
                <a:latin typeface="微软雅黑"/>
              </a:rPr>
              <a:t>运维</a:t>
            </a:r>
            <a:r>
              <a:rPr sz="1200" b="0">
                <a:solidFill>
                  <a:srgbClr val="1F2D3D"/>
                </a:solidFill>
                <a:latin typeface="微软雅黑"/>
              </a:rPr>
              <a:t> &amp; Rubix：交付底座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57200" y="560527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64184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09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Global Branching：软件工程延伸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00800" y="158191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61848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10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58000" y="1600200"/>
            <a:ext cx="4572000" cy="2476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任务运营</a:t>
            </a:r>
            <a:r>
              <a:rPr lang="zh-CN" sz="1200" b="0">
                <a:solidFill>
                  <a:srgbClr val="1F2D3D"/>
                </a:solidFill>
                <a:latin typeface="微软雅黑"/>
              </a:rPr>
              <a:t>同事</a:t>
            </a:r>
            <a:r>
              <a:rPr lang="zh-CN" sz="1200" b="0">
                <a:solidFill>
                  <a:srgbClr val="1F2D3D"/>
                </a:solidFill>
                <a:latin typeface="微软雅黑"/>
              </a:rPr>
              <a:t>平台</a:t>
            </a:r>
            <a:endParaRPr lang="zh-CN"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00800" y="2084831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12140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11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0" y="21031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FDE：产品研发体系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400800" y="2587751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624327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12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0" y="2606039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Bootcamp：销售与验证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400800" y="309067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12724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13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58000" y="310896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商业模式：非纯 SaaS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00800" y="359359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14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58000" y="361188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经营数据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400800" y="409651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13308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15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58000" y="411480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复合飞轮壁垒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400800" y="459943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63600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16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858000" y="46177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约束与挑战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400800" y="5102352"/>
            <a:ext cx="292608" cy="292608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138928"/>
            <a:ext cx="292608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17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58000" y="5120640"/>
            <a:ext cx="4572000" cy="2476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D3D"/>
                </a:solidFill>
                <a:latin typeface="微软雅黑"/>
              </a:rPr>
              <a:t>最终结论</a:t>
            </a:r>
            <a:endParaRPr sz="12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302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800" b="1">
                <a:solidFill>
                  <a:srgbClr val="10355E"/>
                </a:solidFill>
                <a:latin typeface="微软雅黑"/>
              </a:rPr>
              <a:t>AOS：AI</a:t>
            </a:r>
            <a:r>
              <a:rPr lang="zh-CN" altLang="en-US" sz="2800" b="1">
                <a:solidFill>
                  <a:srgbClr val="10355E"/>
                </a:solidFill>
                <a:latin typeface="微软雅黑"/>
              </a:rPr>
              <a:t>操作系统</a:t>
            </a:r>
            <a:endParaRPr lang="zh-CN" altLang="en-US" sz="28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11612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6FC1"/>
                </a:solidFill>
                <a:latin typeface="微软雅黑"/>
              </a:rPr>
              <a:t>以数据、业务逻辑和AI为核心，连接决策与现实行动的企业级决策与运营基础设施</a:t>
            </a:r>
            <a:endParaRPr sz="1300" b="0">
              <a:solidFill>
                <a:srgbClr val="1F6FC1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3444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4320" y="1371600"/>
            <a:ext cx="6766560" cy="141732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6583680" cy="6178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B7E"/>
                </a:solidFill>
                <a:latin typeface="微软雅黑"/>
              </a:rPr>
              <a:t> 帮助企业将分散的数据、复杂的业务关系、规则、模型和人员行动连接在一起，在同一套系统中完成从「感知 → 决策 → 行动 → 结果反馈」的闭环，让组织在复杂和高风险的环境中更快、更准、更安全地行动。</a:t>
            </a:r>
            <a:endParaRPr sz="11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23760" y="128016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为客户创造的核心价值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69164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打破数据孤岛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9480" y="193852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形成单一态势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51392" y="164592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69164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更快更准的决策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97112" y="193852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发现、模型 + AI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479024" y="164592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24744" y="169164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让决策落地为行动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24744" y="193852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产生真实影响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23760" y="228600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331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企业级安全与治理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9480" y="257860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可追溯、可审计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51392" y="228600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331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持续学习与优化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7112" y="257860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形成决策资产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479024" y="228600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24744" y="2331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跨环境部署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24744" y="2578608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云·私有·边缘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2971800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479A"/>
                </a:solidFill>
                <a:latin typeface="微软雅黑"/>
              </a:rPr>
              <a:t>Palantir 的真实身份</a:t>
            </a:r>
            <a:endParaRPr sz="14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4320" y="3383280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3474720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511296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数据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92608" y="3840480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数据连接与治理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2608" y="4096512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A6B7E"/>
                </a:solidFill>
                <a:latin typeface="微软雅黑"/>
              </a:rPr>
              <a:t>连接各数据源、清洗、可追溯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399032" y="3383280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83080" y="3474720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3511296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业务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3840480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Ontology 表达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17320" y="4096512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A6B7E"/>
                </a:solidFill>
                <a:latin typeface="微软雅黑"/>
              </a:rPr>
              <a:t>对象与关系刻画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523744" y="3383280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07791" y="3474720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1" y="3511296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逻辑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542032" y="3840480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决策能力建模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42032" y="4096512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A6B7E"/>
                </a:solidFill>
                <a:latin typeface="微软雅黑"/>
              </a:rPr>
              <a:t>规则 + 模型 + AI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648456" y="3383280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32504" y="3474720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32504" y="3511296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Ac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66744" y="3840480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行动执行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66744" y="4096512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A6B7E"/>
                </a:solidFill>
                <a:latin typeface="微软雅黑"/>
              </a:rPr>
              <a:t>决策改变现实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773168" y="3383280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57216" y="3474720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57216" y="3511296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安全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91455" y="3840480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安全与权限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91455" y="4096512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A6B7E"/>
                </a:solidFill>
                <a:latin typeface="微软雅黑"/>
              </a:rPr>
              <a:t>贯穿运营全过程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897880" y="3383280"/>
            <a:ext cx="1033271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281928" y="3474720"/>
            <a:ext cx="274320" cy="274320"/>
          </a:xfrm>
          <a:prstGeom prst="ellipse">
            <a:avLst/>
          </a:prstGeom>
          <a:solidFill>
            <a:srgbClr val="E9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1928" y="3511296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反馈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16168" y="3840480"/>
            <a:ext cx="996696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结果反馈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16168" y="4096512"/>
            <a:ext cx="9966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>
                <a:solidFill>
                  <a:srgbClr val="5A6B7E"/>
                </a:solidFill>
                <a:latin typeface="微软雅黑"/>
              </a:rPr>
              <a:t>持续学习与优化</a:t>
            </a:r>
            <a:endParaRPr sz="7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74320" y="4754880"/>
            <a:ext cx="1161288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479A"/>
                </a:solidFill>
                <a:latin typeface="微软雅黑"/>
              </a:rPr>
              <a:t>连接什么 → 产生什么</a:t>
            </a:r>
            <a:endParaRPr sz="14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25195" y="5166360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0915" y="521208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连接所有数据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70915" y="5458968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内部系统(ERP/MES/CRM)
数据库/文档/传感器/IoT
外部数据/合作伙伴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1" name="Right Arrow 80"/>
          <p:cNvSpPr/>
          <p:nvPr/>
        </p:nvSpPr>
        <p:spPr>
          <a:xfrm>
            <a:off x="2574036" y="5532120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711196" y="5166360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56915" y="521208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表达业务
现实世界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56915" y="5458968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客户
工厂
产品
供应商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5" name="Right Arrow 84"/>
          <p:cNvSpPr/>
          <p:nvPr/>
        </p:nvSpPr>
        <p:spPr>
          <a:xfrm>
            <a:off x="4860036" y="5532120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997196" y="5166360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42916" y="521208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决策与智能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042916" y="5458968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业务规则
预测模型
优化算法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9" name="Right Arrow 88"/>
          <p:cNvSpPr/>
          <p:nvPr/>
        </p:nvSpPr>
        <p:spPr>
          <a:xfrm>
            <a:off x="7146036" y="5532120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283196" y="5166360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28916" y="521208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行动与执行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7328916" y="5458968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审批与流程
调用外部
调整计划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9432036" y="5532120"/>
            <a:ext cx="182880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569196" y="5166360"/>
            <a:ext cx="2194560" cy="960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14916" y="521208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结果反馈
持续优化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614916" y="5605653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执行结果追踪
效果分析
沉淀资产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274320" y="6217920"/>
            <a:ext cx="11715115" cy="53086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6178677"/>
            <a:ext cx="11430000" cy="5664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一句话总结：</a:t>
            </a:r>
            <a:endParaRPr sz="1000" b="1">
              <a:solidFill>
                <a:srgbClr val="10355E"/>
              </a:solidFill>
              <a:latin typeface="微软雅黑"/>
            </a:endParaRPr>
          </a:p>
          <a:p>
            <a:pPr algn="l">
              <a:lnSpc>
                <a:spcPct val="115000"/>
              </a:lnSpc>
            </a:pPr>
            <a:r>
              <a:rPr lang="en-US" sz="1000" b="0">
                <a:solidFill>
                  <a:srgbClr val="1F2D3D"/>
                </a:solidFill>
                <a:latin typeface="微软雅黑"/>
              </a:rPr>
              <a:t>AOS</a:t>
            </a:r>
            <a:r>
              <a:rPr sz="1000" b="0">
                <a:solidFill>
                  <a:srgbClr val="1F2D3D"/>
                </a:solidFill>
                <a:latin typeface="微软雅黑"/>
              </a:rPr>
              <a:t> 不是传统软件厂商，是「决策与运营基础设施」——通过统一业务模型和动作体系，把数据、智能和行动连接起来，</a:t>
            </a:r>
            <a:endParaRPr sz="1000" b="0">
              <a:solidFill>
                <a:srgbClr val="1F2D3D"/>
              </a:solidFill>
              <a:latin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帮助客户在真实世界做准确决策并执行。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02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4597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01  理解 </a:t>
            </a:r>
            <a:r>
              <a:rPr lang="en-US" sz="2400" b="1">
                <a:solidFill>
                  <a:srgbClr val="10355E"/>
                </a:solidFill>
                <a:latin typeface="微软雅黑"/>
              </a:rPr>
              <a:t>AOS</a:t>
            </a:r>
            <a:r>
              <a:rPr sz="2400" b="1">
                <a:solidFill>
                  <a:srgbClr val="10355E"/>
                </a:solidFill>
                <a:latin typeface="微软雅黑"/>
              </a:rPr>
              <a:t>：放弃简单标签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02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486400" cy="137160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120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常见但不够准确的标签：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大数据分析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91640" y="19202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94767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商业智能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26080" y="19202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94767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数据中台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60520" y="19202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194767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AI软件公司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22860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1343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政府承包商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691640" y="22860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31343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咨询公司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926080" y="22860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313432"/>
            <a:ext cx="1143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Ontology 平台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35040" y="1463040"/>
            <a:ext cx="5852160" cy="137160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更准确的定义：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0" y="1874519"/>
            <a:ext cx="54864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帮助组织规模化整合数据、决策与运营。不是只负责把数据汇总起来，也不是只负责让用户分析数据，而是试图将数据、业务逻辑、软件应用、AI和实际业务行动连接在一个系统内。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3063240"/>
            <a:ext cx="1161288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2479A"/>
                </a:solidFill>
                <a:latin typeface="微软雅黑"/>
              </a:rPr>
              <a:t>研究 </a:t>
            </a:r>
            <a:r>
              <a:rPr lang="en-US" sz="1400" b="1">
                <a:solidFill>
                  <a:srgbClr val="12479A"/>
                </a:solidFill>
                <a:latin typeface="微软雅黑"/>
              </a:rPr>
              <a:t>AOS</a:t>
            </a:r>
            <a:r>
              <a:rPr sz="1400" b="1">
                <a:solidFill>
                  <a:srgbClr val="12479A"/>
                </a:solidFill>
                <a:latin typeface="微软雅黑"/>
              </a:rPr>
              <a:t> 必须同时看 7 个维度：</a:t>
            </a:r>
            <a:endParaRPr sz="14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4320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6968" y="3703320"/>
            <a:ext cx="402336" cy="402336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①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如何连接和治理数据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947672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60320" y="3703320"/>
            <a:ext cx="402336" cy="402336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47672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②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93391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如何表达企业业务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621024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33672" y="3703320"/>
            <a:ext cx="402336" cy="402336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21024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③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66744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如何把规则引入决策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294376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07024" y="3703320"/>
            <a:ext cx="402336" cy="402336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94376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④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40096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如何把决策转化为行动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967728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80375" y="3703320"/>
            <a:ext cx="402336" cy="402336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7728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⑤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13448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如何在复杂环境中部署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8641080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53728" y="3703320"/>
            <a:ext cx="402336" cy="402336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⑥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86800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如何进入客户并扩张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0314432" y="3566160"/>
            <a:ext cx="1627632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27080" y="3703320"/>
            <a:ext cx="402336" cy="402336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14432" y="3749039"/>
            <a:ext cx="1627632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⑦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360152" y="4206240"/>
            <a:ext cx="1536192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如何持续运营和维护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74320" y="5212080"/>
            <a:ext cx="11612880" cy="109728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核心闭环：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93775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5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感知数据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1938527" y="5788152"/>
            <a:ext cx="192024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112263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12263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发现问题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62" name="Right Arrow 61"/>
          <p:cNvSpPr/>
          <p:nvPr/>
        </p:nvSpPr>
        <p:spPr>
          <a:xfrm>
            <a:off x="3557015" y="5788152"/>
            <a:ext cx="192024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30752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30752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生成方案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5" name="Right Arrow 64"/>
          <p:cNvSpPr/>
          <p:nvPr/>
        </p:nvSpPr>
        <p:spPr>
          <a:xfrm>
            <a:off x="5175504" y="5788152"/>
            <a:ext cx="192024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349240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49240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权限校验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68" name="Right Arrow 67"/>
          <p:cNvSpPr/>
          <p:nvPr/>
        </p:nvSpPr>
        <p:spPr>
          <a:xfrm>
            <a:off x="6793992" y="5788152"/>
            <a:ext cx="192024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967728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67728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执行 Action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71" name="Right Arrow 70"/>
          <p:cNvSpPr/>
          <p:nvPr/>
        </p:nvSpPr>
        <p:spPr>
          <a:xfrm>
            <a:off x="8412480" y="5788152"/>
            <a:ext cx="192024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586215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86215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结果反馈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74" name="Right Arrow 73"/>
          <p:cNvSpPr/>
          <p:nvPr/>
        </p:nvSpPr>
        <p:spPr>
          <a:xfrm>
            <a:off x="10030967" y="5788152"/>
            <a:ext cx="192024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204704" y="566928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04704" y="576072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持续优化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03  顶层产品体系：四大平台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Oval 6"/>
          <p:cNvSpPr/>
          <p:nvPr/>
        </p:nvSpPr>
        <p:spPr>
          <a:xfrm>
            <a:off x="5029200" y="2560320"/>
            <a:ext cx="1828800" cy="182880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8803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Foundry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32461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9F2FC"/>
                </a:solidFill>
                <a:latin typeface="微软雅黑"/>
              </a:rPr>
              <a:t>数据运营平台</a:t>
            </a:r>
            <a:endParaRPr sz="900" b="0">
              <a:solidFill>
                <a:srgbClr val="E9F2FC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C5DBF0"/>
                </a:solidFill>
                <a:latin typeface="微软雅黑"/>
              </a:rPr>
              <a:t>核心底座</a:t>
            </a:r>
            <a:endParaRPr sz="800" b="0">
              <a:solidFill>
                <a:srgbClr val="C5DBF0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3017520" cy="14630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1371600"/>
            <a:ext cx="73152" cy="146304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14630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DC276"/>
                </a:solidFill>
                <a:latin typeface="微软雅黑"/>
              </a:rPr>
              <a:t>Ontology</a:t>
            </a:r>
            <a:endParaRPr sz="16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1874519"/>
            <a:ext cx="2560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业务运行模型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219456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对象 · 关系 · Action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017520" cy="14630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73152" cy="146304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4630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5BD8"/>
                </a:solidFill>
                <a:latin typeface="微软雅黑"/>
              </a:rPr>
              <a:t>AIP</a:t>
            </a:r>
            <a:endParaRPr sz="16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1874519"/>
            <a:ext cx="2560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AI 运行环境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01000" y="219456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模型 · Agent · 工具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371600" y="4572000"/>
            <a:ext cx="3017520" cy="14630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572000"/>
            <a:ext cx="73152" cy="146304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4663440"/>
            <a:ext cx="182880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F58A1F"/>
                </a:solidFill>
                <a:latin typeface="微软雅黑"/>
              </a:rPr>
              <a:t>运维</a:t>
            </a:r>
            <a:r>
              <a:rPr lang="zh-CN" sz="1600" b="1">
                <a:solidFill>
                  <a:srgbClr val="F58A1F"/>
                </a:solidFill>
                <a:latin typeface="微软雅黑"/>
              </a:rPr>
              <a:t>交付</a:t>
            </a:r>
            <a:endParaRPr lang="zh-CN" sz="16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0200" y="5074920"/>
            <a:ext cx="2560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持续交付底座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00200" y="539496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部署 · 升级 · 多环境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0" y="4572000"/>
            <a:ext cx="3017520" cy="14630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4572000"/>
            <a:ext cx="73152" cy="146304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6634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9B8A"/>
                </a:solidFill>
                <a:latin typeface="微软雅黑"/>
              </a:rPr>
              <a:t>Rubix</a:t>
            </a:r>
            <a:endParaRPr sz="16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01000" y="5074920"/>
            <a:ext cx="2560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运行底座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01000" y="539496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K8s · 安全 · 扩缩容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14800" y="4754880"/>
            <a:ext cx="393192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0" y="4754880"/>
            <a:ext cx="73152" cy="118872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846320"/>
            <a:ext cx="274320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400" b="1">
                <a:solidFill>
                  <a:srgbClr val="E54A4A"/>
                </a:solidFill>
                <a:latin typeface="微软雅黑"/>
              </a:rPr>
              <a:t>工作</a:t>
            </a:r>
            <a:r>
              <a:rPr lang="zh-CN" sz="1400" b="1">
                <a:solidFill>
                  <a:srgbClr val="E54A4A"/>
                </a:solidFill>
                <a:latin typeface="微软雅黑"/>
              </a:rPr>
              <a:t>台</a:t>
            </a:r>
            <a:endParaRPr lang="zh-CN" sz="14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43400" y="5212080"/>
            <a:ext cx="3200400" cy="2120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任务运营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43400" y="553212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传感器 · 地理空间 · 目标 · 资产调度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3474720" y="1920240"/>
            <a:ext cx="1645920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5486400" y="1920240"/>
            <a:ext cx="1645920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3474720" y="5120640"/>
            <a:ext cx="1645920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486400" y="5120640"/>
            <a:ext cx="1645920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21792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Foundry 是核心数据运营平台，Ontology 提供业务语义层，AIP 在其上叠加 AI 能力，Apollo/Rubix 负责持续交付和运行，Gotham 面向国防情报场景。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04  Foundry：数据运营平台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6FC1"/>
                </a:solidFill>
                <a:latin typeface="微软雅黑"/>
              </a:rPr>
              <a:t>不是数据仓库，而是数据运营平台</a:t>
            </a:r>
            <a:endParaRPr sz="1200" b="0">
              <a:solidFill>
                <a:srgbClr val="1F6FC1"/>
              </a:solidFill>
              <a:latin typeface="微软雅黑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职责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" y="182880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56231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数据连接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多源数据接入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50591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数据转换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2679191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ETL / 管道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4320" y="301752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44951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数据质量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327355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血缘 + 校验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361188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39312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数据权限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386791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字段级控制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74320" y="420624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33672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Ontology 建模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446227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对象 + 关系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03120" y="182880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1856231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业务逻辑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4560" y="208483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规则 + 函数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103120" y="242316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2450591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模型运行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4560" y="2679191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ML / LLM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103120" y="301752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3044951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应用开发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94560" y="327355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Workshop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103120" y="3611880"/>
            <a:ext cx="1691640" cy="502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639312"/>
            <a:ext cx="15544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自动化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4560" y="3867912"/>
            <a:ext cx="155448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工作流 + Action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023360" y="1463040"/>
            <a:ext cx="3931920" cy="2560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1554480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Multimodal Data Plane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4206240" y="1947672"/>
            <a:ext cx="164592" cy="164592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1920240"/>
            <a:ext cx="3291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结构化数据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80560" y="2121408"/>
            <a:ext cx="32918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表格 · 关系数据库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206240" y="2450592"/>
            <a:ext cx="164592" cy="164592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2423160"/>
            <a:ext cx="3291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非结构化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80560" y="2624328"/>
            <a:ext cx="32918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文档 · 图片 · 视频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206240" y="2953512"/>
            <a:ext cx="164592" cy="164592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2926080"/>
            <a:ext cx="3291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流数据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80560" y="3127248"/>
            <a:ext cx="32918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实时事件 · IoT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4206240" y="3456432"/>
            <a:ext cx="164592" cy="164592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3429000"/>
            <a:ext cx="3291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地理空间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80560" y="3630168"/>
            <a:ext cx="329184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坐标 · 地图 · 卫星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206240" y="3977639"/>
            <a:ext cx="3566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连接：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06240" y="4160520"/>
            <a:ext cx="3566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ERP / CRM / 数据仓库 / 工业数据库 / 传感器 / Snowflake / Databricks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38160" y="1463040"/>
            <a:ext cx="3749039" cy="48463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1554480"/>
            <a:ext cx="33832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运营统一 ≠ 数据统一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321040" y="2011680"/>
            <a:ext cx="3383280" cy="137160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21031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传统终点：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03920" y="237744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• 数据集 / 指标 / 报表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503920" y="269748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• 模型输出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321040" y="3566160"/>
            <a:ext cx="3383280" cy="256032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365760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Foundry 终点：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03920" y="393192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• 业务对象 / 运营应用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503920" y="4251959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• 任务 / 工作流 / Action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03920" y="457200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• 业务系统写回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63" name="Down Arrow 62"/>
          <p:cNvSpPr/>
          <p:nvPr/>
        </p:nvSpPr>
        <p:spPr>
          <a:xfrm>
            <a:off x="9692640" y="3383280"/>
            <a:ext cx="548640" cy="18288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05  Ontology：核心业务语言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6FC1"/>
                </a:solidFill>
                <a:latin typeface="微软雅黑"/>
              </a:rPr>
              <a:t>"Ontology 被设计用于表达企业复杂而相互关联的决策，而不仅仅是表达数据。"</a:t>
            </a:r>
            <a:endParaRPr sz="1200" b="0">
              <a:solidFill>
                <a:srgbClr val="1F6FC1"/>
              </a:solidFill>
              <a:latin typeface="微软雅黑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566928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669280" cy="73152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D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201168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6FC1"/>
                </a:solidFill>
                <a:latin typeface="微软雅黑"/>
              </a:rPr>
              <a:t>Data</a:t>
            </a:r>
            <a:endParaRPr sz="2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24231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决策依赖的事实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274320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当前状态 · 历史 · 实时 · 外部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66928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5669280" cy="73152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2057400"/>
            <a:ext cx="548640" cy="5486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L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0" y="201168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DC276"/>
                </a:solidFill>
                <a:latin typeface="微软雅黑"/>
              </a:rPr>
              <a:t>Logic</a:t>
            </a:r>
            <a:endParaRPr sz="2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0" y="24231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计算和推理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0" y="274320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规则 · 指标 · ML模型 · LLM函数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4320" y="3931920"/>
            <a:ext cx="566928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5669280" cy="73152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4160520"/>
            <a:ext cx="548640" cy="54864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79392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A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8720" y="411480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58A1F"/>
                </a:solidFill>
                <a:latin typeface="微软雅黑"/>
              </a:rPr>
              <a:t>Action</a:t>
            </a:r>
            <a:endParaRPr sz="2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720" y="452628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影响现实世界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8720" y="48463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修改对象 · 审批 · 写回系统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3931920"/>
            <a:ext cx="566928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931920"/>
            <a:ext cx="5669280" cy="73152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79392"/>
            <a:ext cx="548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S</a:t>
            </a:r>
            <a:endParaRPr sz="2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32320" y="411480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7C5BD8"/>
                </a:solidFill>
                <a:latin typeface="微软雅黑"/>
              </a:rPr>
              <a:t>Security</a:t>
            </a:r>
            <a:endParaRPr sz="2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32320" y="452628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权限控制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32320" y="484632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查看 · 运行 · 发起 · 修改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74320" y="6035040"/>
            <a:ext cx="11612880" cy="5943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80760"/>
            <a:ext cx="11247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名词（对象 + 关系）</a:t>
            </a:r>
            <a:endParaRPr sz="1100" b="1">
              <a:solidFill>
                <a:srgbClr val="12479A"/>
              </a:solidFill>
              <a:latin typeface="微软雅黑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 → 描述企业     </a:t>
            </a:r>
            <a:endParaRPr sz="1100" b="0">
              <a:solidFill>
                <a:srgbClr val="1F2D3D"/>
              </a:solidFill>
              <a:latin typeface="微软雅黑"/>
            </a:endParaRP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动词（Action）</a:t>
            </a:r>
            <a:endParaRPr sz="1100" b="1">
              <a:solidFill>
                <a:srgbClr val="F58A1F"/>
              </a:solidFill>
              <a:latin typeface="微软雅黑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 → 改变企业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Ontology 不是静态知识图谱，而是企业业务对象运行时，架构的核心系统，主要贯穿 Foundry 和 AIP。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05  Ontology：四大要素详解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669280" cy="228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73152" cy="228600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C1"/>
                </a:solidFill>
                <a:latin typeface="微软雅黑"/>
              </a:rPr>
              <a:t>Object Types
对象类型</a:t>
            </a:r>
            <a:endParaRPr sz="14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企业实体的数字化表达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8640" y="2404872"/>
            <a:ext cx="54864" cy="54864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Customer · Order · Product · Factory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8640" y="2697479"/>
            <a:ext cx="54864" cy="54864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70048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属性（Properties）：名称、金额、状态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8640" y="2990088"/>
            <a:ext cx="54864" cy="54864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62656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主键 + 主时间戳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8640" y="3282696"/>
            <a:ext cx="54864" cy="54864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55264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支持继承和接口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26480" y="1463040"/>
            <a:ext cx="5669280" cy="228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73152" cy="228600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C276"/>
                </a:solidFill>
                <a:latin typeface="微软雅黑"/>
              </a:rPr>
              <a:t>Link Types
关系类型</a:t>
            </a:r>
            <a:endParaRPr sz="14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205740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对象之间的连接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00800" y="2404872"/>
            <a:ext cx="54864" cy="54864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377440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Customer → placed → Order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0" y="2697479"/>
            <a:ext cx="54864" cy="54864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670048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Order → contains → Product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400800" y="2990088"/>
            <a:ext cx="54864" cy="54864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962656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Cardinality: one-to-many / many-to-many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400800" y="3282696"/>
            <a:ext cx="54864" cy="54864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255264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方向性 · 可带属性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74320" y="3931920"/>
            <a:ext cx="5669280" cy="228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931920"/>
            <a:ext cx="73152" cy="228600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0233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A1F"/>
                </a:solidFill>
                <a:latin typeface="微软雅黑"/>
              </a:rPr>
              <a:t>Action Types
动作类型</a:t>
            </a:r>
            <a:endParaRPr sz="14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45262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改变现实世界的操作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48640" y="4873752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输入参数 + 表单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48640" y="5166360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38928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业务规则 + 提交条件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48640" y="5458968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431536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权限控制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8640" y="5751576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724144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对象修改 + 外部写回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6480" y="3931920"/>
            <a:ext cx="5669280" cy="228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931920"/>
            <a:ext cx="73152" cy="228600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0233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C5BD8"/>
                </a:solidFill>
                <a:latin typeface="微软雅黑"/>
              </a:rPr>
              <a:t>Functions
函数类型</a:t>
            </a:r>
            <a:endParaRPr sz="14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55080" y="45262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业务逻辑的封装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400800" y="4873752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846320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计算函数（利润率）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400800" y="5166360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5138928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决策函数（信用评估）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400800" y="5458968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5431536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ML/LLM 模型调用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400800" y="5751576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5724144"/>
            <a:ext cx="4846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可被 Action 和 Workshop 调用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07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05  Ontology：决策反馈循环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07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Oval 6"/>
          <p:cNvSpPr/>
          <p:nvPr/>
        </p:nvSpPr>
        <p:spPr>
          <a:xfrm>
            <a:off x="4572000" y="3200400"/>
            <a:ext cx="2286000" cy="2286000"/>
          </a:xfrm>
          <a:prstGeom prst="ellipse">
            <a:avLst/>
          </a:prstGeom>
          <a:solidFill>
            <a:srgbClr val="E9F2FC"/>
          </a:solidFill>
          <a:ln w="254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47472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2479A"/>
                </a:solidFill>
                <a:latin typeface="微软雅黑"/>
              </a:rPr>
              <a:t>Ontology</a:t>
            </a:r>
            <a:endParaRPr sz="2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F6FC1"/>
                </a:solidFill>
                <a:latin typeface="微软雅黑"/>
              </a:rPr>
              <a:t>统一业务模型</a:t>
            </a:r>
            <a:endParaRPr sz="1200" b="0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438912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对象·关系·Action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0" y="914400"/>
            <a:ext cx="18288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05156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6FC1"/>
                </a:solidFill>
                <a:latin typeface="微软雅黑"/>
              </a:rPr>
              <a:t>Data
数据</a:t>
            </a:r>
            <a:endParaRPr sz="13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0" y="914400"/>
            <a:ext cx="18288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05156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DC276"/>
                </a:solidFill>
                <a:latin typeface="微软雅黑"/>
              </a:rPr>
              <a:t>Logic
逻辑</a:t>
            </a:r>
            <a:endParaRPr sz="13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43200" y="5029200"/>
            <a:ext cx="18288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516636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58A1F"/>
                </a:solidFill>
                <a:latin typeface="微软雅黑"/>
              </a:rPr>
              <a:t>Action
行动</a:t>
            </a:r>
            <a:endParaRPr sz="13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0" y="5029200"/>
            <a:ext cx="18288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516636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7C5BD8"/>
                </a:solidFill>
                <a:latin typeface="微软雅黑"/>
              </a:rPr>
              <a:t>Security
安全</a:t>
            </a:r>
            <a:endParaRPr sz="13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0" y="1463040"/>
            <a:ext cx="2926080" cy="457200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560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决策反馈循环：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D3D"/>
                </a:solidFill>
                <a:latin typeface="微软雅黑"/>
              </a:rPr>
              <a:t>Action 结果</a:t>
            </a:r>
            <a:endParaRPr sz="1000" b="1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10241280" y="2240280"/>
            <a:ext cx="137160" cy="13716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→ 重新进入 Ontology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10241280" y="2788920"/>
            <a:ext cx="137160" cy="13716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01752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→ 调整规则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10241280" y="3337560"/>
            <a:ext cx="137160" cy="13716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56616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→ 重训模型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10241280" y="3886200"/>
            <a:ext cx="137160" cy="13716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11480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→ 优化建议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0" name="Down Arrow 29"/>
          <p:cNvSpPr/>
          <p:nvPr/>
        </p:nvSpPr>
        <p:spPr>
          <a:xfrm>
            <a:off x="10241280" y="4434840"/>
            <a:ext cx="137160" cy="13716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46634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→ 更好的决策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Data → Logic → Action → 结果反馈 → 回到 Ontology → 持续优化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07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05  Ontology：Action 类型与反馈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07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486400" cy="4846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120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Action 包含：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8640" y="2039112"/>
            <a:ext cx="256032" cy="256032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256032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1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输入参数 + 表单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用户交互界面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61488"/>
            <a:ext cx="256032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2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" y="2670048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业务规则 + 提交条件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2944368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验证逻辑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8640" y="3410712"/>
            <a:ext cx="256032" cy="256032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256032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3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3355848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权限控制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3630168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谁能执行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48640" y="4096512"/>
            <a:ext cx="256032" cy="256032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256032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4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4041648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对象修改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" y="4315968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一个事务中修改多个对象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48640" y="4782312"/>
            <a:ext cx="256032" cy="256032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18888"/>
            <a:ext cx="256032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5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" y="4727448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外部副作用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5001768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写回业务系统（ERP/CRM）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48640" y="5468112"/>
            <a:ext cx="256032" cy="256032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04688"/>
            <a:ext cx="256032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6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413248"/>
            <a:ext cx="4389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审计 + 运行指标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" y="5687568"/>
            <a:ext cx="43891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可追溯、可度量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035040" y="1463040"/>
            <a:ext cx="5852160" cy="210312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传统数据/AI 平台流程：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309360" y="1965960"/>
            <a:ext cx="155448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0574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54A4A"/>
                </a:solidFill>
                <a:latin typeface="微软雅黑"/>
              </a:rPr>
              <a:t>发现问题</a:t>
            </a:r>
            <a:endParaRPr sz="10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18120" y="2057400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E54A4A"/>
                </a:solidFill>
                <a:latin typeface="微软雅黑"/>
              </a:rPr>
              <a:t>→</a:t>
            </a:r>
            <a:endParaRPr sz="14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138160" y="1965960"/>
            <a:ext cx="155448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0574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54A4A"/>
                </a:solidFill>
                <a:latin typeface="微软雅黑"/>
              </a:rPr>
              <a:t>提供建议</a:t>
            </a:r>
            <a:endParaRPr sz="10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46920" y="2057400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E54A4A"/>
                </a:solidFill>
                <a:latin typeface="微软雅黑"/>
              </a:rPr>
              <a:t>→</a:t>
            </a:r>
            <a:endParaRPr sz="14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966960" y="1965960"/>
            <a:ext cx="155448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20574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54A4A"/>
                </a:solidFill>
                <a:latin typeface="微软雅黑"/>
              </a:rPr>
              <a:t>用户离开平台执行</a:t>
            </a:r>
            <a:endParaRPr sz="10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17920" y="265176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→ 决策与执行断裂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17920" y="2926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54A4A"/>
                </a:solidFill>
                <a:latin typeface="微软雅黑"/>
              </a:rPr>
              <a:t>→ 无法追踪执行结果</a:t>
            </a:r>
            <a:endParaRPr sz="10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035040" y="3749039"/>
            <a:ext cx="5852160" cy="256032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8404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Palantir 流程：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309360" y="4251960"/>
            <a:ext cx="1051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343400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发现问题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315200" y="4343400"/>
            <a:ext cx="18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DC276"/>
                </a:solidFill>
                <a:latin typeface="微软雅黑"/>
              </a:rPr>
              <a:t>→</a:t>
            </a:r>
            <a:endParaRPr sz="10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434072" y="4251960"/>
            <a:ext cx="1051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343400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生成方案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39912" y="4343400"/>
            <a:ext cx="18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DC276"/>
                </a:solidFill>
                <a:latin typeface="微软雅黑"/>
              </a:rPr>
              <a:t>→</a:t>
            </a:r>
            <a:endParaRPr sz="10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558784" y="4251960"/>
            <a:ext cx="1051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58784" y="4343400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权限校验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64624" y="4343400"/>
            <a:ext cx="18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DC276"/>
                </a:solidFill>
                <a:latin typeface="微软雅黑"/>
              </a:rPr>
              <a:t>→</a:t>
            </a:r>
            <a:endParaRPr sz="10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683496" y="4251960"/>
            <a:ext cx="1051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83496" y="4343400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执行 Action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89336" y="4343400"/>
            <a:ext cx="18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2DC276"/>
                </a:solidFill>
                <a:latin typeface="微软雅黑"/>
              </a:rPr>
              <a:t>→</a:t>
            </a:r>
            <a:endParaRPr sz="10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0808208" y="4251960"/>
            <a:ext cx="105156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08208" y="4343400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结果反馈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217920" y="493776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→ 闭环：决策 → 执行 → 反馈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17920" y="5212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DC276"/>
                </a:solidFill>
                <a:latin typeface="微软雅黑"/>
              </a:rPr>
              <a:t>→ Action 结果重新进入 Ontology</a:t>
            </a:r>
            <a:endParaRPr sz="10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17920" y="548640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DC276"/>
                </a:solidFill>
                <a:latin typeface="微软雅黑"/>
              </a:rPr>
              <a:t>→ 调整规则 / 重训模型 / 优化建议</a:t>
            </a:r>
            <a:endParaRPr sz="10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17920" y="57607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→ 形成持续改进的运营闭环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08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06  Action：从分析走向运营的关键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08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486400" cy="109728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120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传统数据/AI 平台流程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发现问题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1993391" y="1993392"/>
            <a:ext cx="201168" cy="182880"/>
          </a:xfrm>
          <a:prstGeom prst="rightArrow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182880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9385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提供建议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730752" y="1993392"/>
            <a:ext cx="201168" cy="182880"/>
          </a:xfrm>
          <a:prstGeom prst="rightArrow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182880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93852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54A4A"/>
                </a:solidFill>
                <a:latin typeface="微软雅黑"/>
              </a:rPr>
              <a:t>用户离开平台执行</a:t>
            </a:r>
            <a:endParaRPr sz="9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35040" y="1463040"/>
            <a:ext cx="5852160" cy="109728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5486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Palantir 流程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938528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发现问题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251192" y="1993392"/>
            <a:ext cx="128016" cy="182880"/>
          </a:xfrm>
          <a:prstGeom prst="rightArrow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0920" y="182880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938528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生成方案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8394192" y="1993392"/>
            <a:ext cx="128016" cy="182880"/>
          </a:xfrm>
          <a:prstGeom prst="rightArrow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20" y="182880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938528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权限校验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537192" y="1993392"/>
            <a:ext cx="128016" cy="182880"/>
          </a:xfrm>
          <a:prstGeom prst="rightArrow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46920" y="182880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1938528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执行 Action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10680192" y="1993392"/>
            <a:ext cx="128016" cy="182880"/>
          </a:xfrm>
          <a:prstGeom prst="rightArrow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89920" y="1828800"/>
            <a:ext cx="1051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1938528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结果反馈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4320" y="274320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Action 包含：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74320" y="3108960"/>
            <a:ext cx="18288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108960"/>
            <a:ext cx="1828800" cy="54864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24612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输入参数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" y="356616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表单界面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221991" y="3108960"/>
            <a:ext cx="18288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21991" y="3108960"/>
            <a:ext cx="1828800" cy="54864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67711" y="324612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业务规则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267711" y="356616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提交条件验证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169663" y="3108960"/>
            <a:ext cx="18288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9663" y="3108960"/>
            <a:ext cx="1828800" cy="54864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15383" y="324612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权限控制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215383" y="356616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谁能发起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117336" y="3108960"/>
            <a:ext cx="18288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17336" y="3108960"/>
            <a:ext cx="182880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63055" y="324612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对象修改</a:t>
            </a:r>
            <a:endParaRPr sz="11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163055" y="356616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事务性多对象修改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065008" y="3108960"/>
            <a:ext cx="18288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65008" y="3108960"/>
            <a:ext cx="1828800" cy="54864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0728" y="324612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外部副作用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10728" y="356616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写回业务系统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0012680" y="3108960"/>
            <a:ext cx="18288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12680" y="3108960"/>
            <a:ext cx="1828800" cy="54864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324612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D9B8A"/>
                </a:solidFill>
                <a:latin typeface="微软雅黑"/>
              </a:rPr>
              <a:t>审计指标</a:t>
            </a:r>
            <a:endParaRPr sz="11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58400" y="356616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可追溯、可度量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74320" y="4572000"/>
            <a:ext cx="11612880" cy="17373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决策反馈循环：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71500" y="5120640"/>
            <a:ext cx="17373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1500" y="5257800"/>
            <a:ext cx="1737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58A1F"/>
                </a:solidFill>
                <a:latin typeface="微软雅黑"/>
              </a:rPr>
              <a:t>Action 执行</a:t>
            </a:r>
            <a:endParaRPr sz="9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427732" y="5120640"/>
            <a:ext cx="17373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27732" y="5257800"/>
            <a:ext cx="1737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6FC1"/>
                </a:solidFill>
                <a:latin typeface="微软雅黑"/>
              </a:rPr>
              <a:t>→ 结果进入 Ontology</a:t>
            </a:r>
            <a:endParaRPr sz="9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283964" y="5120640"/>
            <a:ext cx="17373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83964" y="5257800"/>
            <a:ext cx="1737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→ 调整业务规则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140196" y="5120640"/>
            <a:ext cx="17373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40196" y="5257800"/>
            <a:ext cx="1737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7C5BD8"/>
                </a:solidFill>
                <a:latin typeface="微软雅黑"/>
              </a:rPr>
              <a:t>→ 重训 ML 模型</a:t>
            </a:r>
            <a:endParaRPr sz="9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996428" y="5120640"/>
            <a:ext cx="17373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96428" y="5257800"/>
            <a:ext cx="1737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→ 优化决策建议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852660" y="5120640"/>
            <a:ext cx="17373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52660" y="5257800"/>
            <a:ext cx="1737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D9B8A"/>
                </a:solidFill>
                <a:latin typeface="微软雅黑"/>
              </a:rPr>
              <a:t>→ 更好的 Action</a:t>
            </a:r>
            <a:endParaRPr sz="9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0355E"/>
                </a:solidFill>
                <a:latin typeface="微软雅黑"/>
              </a:rPr>
              <a:t>语义 + 动作 + 反馈 = 从「分析工具」升级为「运营系统」</a:t>
            </a:r>
            <a:endParaRPr sz="1100" b="1">
              <a:solidFill>
                <a:srgbClr val="10355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09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07  AIP：企业 AI 运行环境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6FC1"/>
                </a:solidFill>
                <a:latin typeface="微软雅黑"/>
              </a:rPr>
              <a:t>不是大模型网关，而是企业 AI 运行环境</a:t>
            </a:r>
            <a:endParaRPr sz="1200" b="0">
              <a:solidFill>
                <a:srgbClr val="1F6FC1"/>
              </a:solidFill>
              <a:latin typeface="微软雅黑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09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3657600" cy="256032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没有 Foundry + Ontology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291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大模型只能看到：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数据库字段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搜索结果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39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文档片段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Prompt 临时上下文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→ AI 无法理解业务上下文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3931920" y="2560320"/>
            <a:ext cx="365760" cy="274320"/>
          </a:xfrm>
          <a:prstGeom prst="rightArrow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463040"/>
            <a:ext cx="3383280" cy="256032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190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接入 Ontology 后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663440" y="2130551"/>
            <a:ext cx="91440" cy="91440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10312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当前对象是什么 + 关系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663440" y="2542032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51460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可调用的规则和模型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663440" y="2953511"/>
            <a:ext cx="91440" cy="9144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26079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可执行的 Action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663440" y="3364991"/>
            <a:ext cx="91440" cy="914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33756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当前用户拥有的权限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818120" y="2560320"/>
            <a:ext cx="365760" cy="274320"/>
          </a:xfrm>
          <a:prstGeom prst="rightArrow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1463040"/>
            <a:ext cx="3566160" cy="256032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55448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AIP 核心能力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92024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多模型连接 + Agent 开发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503920" y="2313432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228600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自动化 + AI 应用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65176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上下文工程 + 工具调用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503920" y="3044952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301752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AI 评测 + 可观测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503920" y="3410712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338328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安全治理 + 人工审核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274320" y="4297680"/>
            <a:ext cx="11612880" cy="201168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3891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Agent 继承现实权限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25780" y="4846320"/>
            <a:ext cx="214884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" y="4937759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用户权限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1500" y="5303520"/>
            <a:ext cx="2057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身份 + 角色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766060" y="4846320"/>
            <a:ext cx="214884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11780" y="4937759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→ Agent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11780" y="5303520"/>
            <a:ext cx="2057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继承权限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006340" y="4846320"/>
            <a:ext cx="214884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52060" y="4937759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→ 调用 Ontology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52060" y="5303520"/>
            <a:ext cx="2057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只能看到有权限的对象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246620" y="4846320"/>
            <a:ext cx="214884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92340" y="4937759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→ 执行 Action</a:t>
            </a:r>
            <a:endParaRPr sz="11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292340" y="5303520"/>
            <a:ext cx="2057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在权限范围内操作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486900" y="4846320"/>
            <a:ext cx="214884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32620" y="4937759"/>
            <a:ext cx="2057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→ 审计日志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532620" y="5303520"/>
            <a:ext cx="2057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全程可追溯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4320" y="612648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AIP 不是在 AI 之上加一层企业外壳，而是在企业运营系统之上叠加 AI 能力 — 让 AI 理解业务语义和权限边界。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09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07  AIP：架构全景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09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模型层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1097280" cy="411480"/>
          </a:xfrm>
          <a:prstGeom prst="roundRect">
            <a:avLst>
              <a:gd name="adj" fmla="val 25000"/>
            </a:avLst>
          </a:prstGeom>
          <a:solidFill>
            <a:srgbClr val="F3EFFC"/>
          </a:solidFill>
          <a:ln w="63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C5BD8"/>
                </a:solidFill>
                <a:latin typeface="微软雅黑"/>
              </a:rPr>
              <a:t>GPT-4o</a:t>
            </a:r>
            <a:endParaRPr sz="9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63040" y="1783080"/>
            <a:ext cx="1097280" cy="411480"/>
          </a:xfrm>
          <a:prstGeom prst="roundRect">
            <a:avLst>
              <a:gd name="adj" fmla="val 25000"/>
            </a:avLst>
          </a:prstGeom>
          <a:solidFill>
            <a:srgbClr val="F3EFFC"/>
          </a:solidFill>
          <a:ln w="63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874519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C5BD8"/>
                </a:solidFill>
                <a:latin typeface="微软雅黑"/>
              </a:rPr>
              <a:t>Claude</a:t>
            </a:r>
            <a:endParaRPr sz="9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51760" y="1783080"/>
            <a:ext cx="1097280" cy="411480"/>
          </a:xfrm>
          <a:prstGeom prst="roundRect">
            <a:avLst>
              <a:gd name="adj" fmla="val 25000"/>
            </a:avLst>
          </a:prstGeom>
          <a:solidFill>
            <a:srgbClr val="F3EFFC"/>
          </a:solidFill>
          <a:ln w="63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874519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C5BD8"/>
                </a:solidFill>
                <a:latin typeface="微软雅黑"/>
              </a:rPr>
              <a:t>Gemini</a:t>
            </a:r>
            <a:endParaRPr sz="9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40480" y="1783080"/>
            <a:ext cx="1097280" cy="411480"/>
          </a:xfrm>
          <a:prstGeom prst="roundRect">
            <a:avLst>
              <a:gd name="adj" fmla="val 25000"/>
            </a:avLst>
          </a:prstGeom>
          <a:solidFill>
            <a:srgbClr val="F3EFFC"/>
          </a:solidFill>
          <a:ln w="63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874519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C5BD8"/>
                </a:solidFill>
                <a:latin typeface="微软雅黑"/>
              </a:rPr>
              <a:t>GLM-4</a:t>
            </a:r>
            <a:endParaRPr sz="9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0" y="1783080"/>
            <a:ext cx="1097280" cy="411480"/>
          </a:xfrm>
          <a:prstGeom prst="roundRect">
            <a:avLst>
              <a:gd name="adj" fmla="val 25000"/>
            </a:avLst>
          </a:prstGeom>
          <a:solidFill>
            <a:srgbClr val="F3EFFC"/>
          </a:solidFill>
          <a:ln w="63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74519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C5BD8"/>
                </a:solidFill>
                <a:latin typeface="微软雅黑"/>
              </a:rPr>
              <a:t>Llama</a:t>
            </a:r>
            <a:endParaRPr sz="9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1783080"/>
            <a:ext cx="1097280" cy="411480"/>
          </a:xfrm>
          <a:prstGeom prst="roundRect">
            <a:avLst>
              <a:gd name="adj" fmla="val 25000"/>
            </a:avLst>
          </a:prstGeom>
          <a:solidFill>
            <a:srgbClr val="F3EFFC"/>
          </a:solidFill>
          <a:ln w="63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19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C5BD8"/>
                </a:solidFill>
                <a:latin typeface="微软雅黑"/>
              </a:rPr>
              <a:t>自定义</a:t>
            </a:r>
            <a:endParaRPr sz="9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5943600" y="2240280"/>
            <a:ext cx="274320" cy="18288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" y="2560320"/>
            <a:ext cx="11612880" cy="164592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190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5176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AIP 核心引擎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3017520"/>
            <a:ext cx="178308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模型路由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42900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场景化选模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31720" y="3017520"/>
            <a:ext cx="178308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39" y="310896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Agent 编排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77439" y="342900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多步推理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206240" y="3017520"/>
            <a:ext cx="178308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310896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工具调用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51959" y="342900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Query/Function/Action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080759" y="3017520"/>
            <a:ext cx="178308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79" y="310896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上下文工程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26479" y="342900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Ontology 注入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955279" y="3017520"/>
            <a:ext cx="178308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10896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安全护栏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01000" y="342900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权限 + 出境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29800" y="3017520"/>
            <a:ext cx="1783080" cy="10058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310896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评测可观测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75520" y="3429000"/>
            <a:ext cx="1691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Eval + Trace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5943600" y="4251960"/>
            <a:ext cx="274320" cy="182880"/>
          </a:xfrm>
          <a:prstGeom prst="down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" y="4572000"/>
            <a:ext cx="11612880" cy="137160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C276"/>
                </a:solidFill>
                <a:latin typeface="微软雅黑"/>
              </a:rPr>
              <a:t>Ontology + Foundry（业务运行时）</a:t>
            </a:r>
            <a:endParaRPr sz="13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57200" y="5074920"/>
            <a:ext cx="17830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21208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DC276"/>
                </a:solidFill>
                <a:latin typeface="微软雅黑"/>
              </a:rPr>
              <a:t>Object Types（对象）</a:t>
            </a:r>
            <a:endParaRPr sz="9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331720" y="5074920"/>
            <a:ext cx="17830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521208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DC276"/>
                </a:solidFill>
                <a:latin typeface="微软雅黑"/>
              </a:rPr>
              <a:t>Link Types（关系）</a:t>
            </a:r>
            <a:endParaRPr sz="9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206240" y="5074920"/>
            <a:ext cx="17830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521208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DC276"/>
                </a:solidFill>
                <a:latin typeface="微软雅黑"/>
              </a:rPr>
              <a:t>Action Types（动作）</a:t>
            </a:r>
            <a:endParaRPr sz="9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80759" y="5074920"/>
            <a:ext cx="17830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59" y="521208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DC276"/>
                </a:solidFill>
                <a:latin typeface="微软雅黑"/>
              </a:rPr>
              <a:t>Functions（函数）</a:t>
            </a:r>
            <a:endParaRPr sz="9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955279" y="5074920"/>
            <a:ext cx="17830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521208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DC276"/>
                </a:solidFill>
                <a:latin typeface="微软雅黑"/>
              </a:rPr>
              <a:t>Datasets（数据集）</a:t>
            </a:r>
            <a:endParaRPr sz="9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829800" y="5074920"/>
            <a:ext cx="17830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5212080"/>
            <a:ext cx="1783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DC276"/>
                </a:solidFill>
                <a:latin typeface="微软雅黑"/>
              </a:rPr>
              <a:t>Permissions（权限）</a:t>
            </a:r>
            <a:endParaRPr sz="9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4320" y="612648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AIP 的模型层 → AIP 核心引擎（路由/编排/工具/安全）→ Ontology + Foundry（业务运行时）— 三层贯穿，AI 始终在业务上下文中运行。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09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07  AIP：Agent 运行模型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09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37760" y="2560320"/>
            <a:ext cx="2011680" cy="201168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834640"/>
            <a:ext cx="2011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Agent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7760" y="3291840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9F2FC"/>
                </a:solidFill>
                <a:latin typeface="微软雅黑"/>
              </a:rPr>
              <a:t>继承用户权限</a:t>
            </a:r>
            <a:endParaRPr sz="1100" b="0">
              <a:solidFill>
                <a:srgbClr val="E9F2FC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C1"/>
                </a:solidFill>
                <a:latin typeface="微软雅黑"/>
              </a:rPr>
              <a:t>输入</a:t>
            </a:r>
            <a:endParaRPr sz="12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" y="1828800"/>
            <a:ext cx="2560320" cy="5943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74519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自然语言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2121408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用户意图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74320" y="2514600"/>
            <a:ext cx="2560320" cy="5943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60320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Ontology 查询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2807208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对象+关系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4320" y="3200400"/>
            <a:ext cx="2560320" cy="5943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46120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业务规则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3493008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Functions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4320" y="3886200"/>
            <a:ext cx="2560320" cy="5943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权限上下文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" y="4178808"/>
            <a:ext cx="2377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角色+Marking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2834640" y="3200400"/>
            <a:ext cx="365760" cy="274320"/>
          </a:xfrm>
          <a:prstGeom prst="rightArrow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4630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1F"/>
                </a:solidFill>
                <a:latin typeface="微软雅黑"/>
              </a:rPr>
              <a:t>工具 / 输出</a:t>
            </a:r>
            <a:endParaRPr sz="12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86800" y="1828800"/>
            <a:ext cx="3200400" cy="594360"/>
          </a:xfrm>
          <a:prstGeom prst="roundRect">
            <a:avLst>
              <a:gd name="adj" fmla="val 25000"/>
            </a:avLst>
          </a:prstGeom>
          <a:solidFill>
            <a:srgbClr val="FEF3E5"/>
          </a:solidFill>
          <a:ln w="63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1874519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Query Objects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0" y="2121408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查询业务对象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86800" y="2514600"/>
            <a:ext cx="3200400" cy="594360"/>
          </a:xfrm>
          <a:prstGeom prst="roundRect">
            <a:avLst>
              <a:gd name="adj" fmla="val 25000"/>
            </a:avLst>
          </a:prstGeom>
          <a:solidFill>
            <a:srgbClr val="FEF3E5"/>
          </a:solidFill>
          <a:ln w="63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560320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Apply Function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78240" y="2807208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调用计算/规则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0" y="3200400"/>
            <a:ext cx="3200400" cy="594360"/>
          </a:xfrm>
          <a:prstGeom prst="roundRect">
            <a:avLst>
              <a:gd name="adj" fmla="val 25000"/>
            </a:avLst>
          </a:prstGeom>
          <a:solidFill>
            <a:srgbClr val="FEF3E5"/>
          </a:solidFill>
          <a:ln w="63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3246120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Execute Action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78240" y="3493008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执行业务动作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86800" y="3886200"/>
            <a:ext cx="3200400" cy="594360"/>
          </a:xfrm>
          <a:prstGeom prst="roundRect">
            <a:avLst>
              <a:gd name="adj" fmla="val 25000"/>
            </a:avLst>
          </a:prstGeom>
          <a:solidFill>
            <a:srgbClr val="FEF3E5"/>
          </a:solidFill>
          <a:ln w="63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3931920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Write Back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78240" y="4178808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写回外部系统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6949440" y="3200400"/>
            <a:ext cx="365760" cy="274320"/>
          </a:xfrm>
          <a:prstGeom prst="rightArrow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4320" y="4754880"/>
            <a:ext cx="11612880" cy="155448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安全护栏（Guardrails）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5212080"/>
            <a:ext cx="265176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28523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权限继承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5778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Agent 只能做用户能做的事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91840" y="5212080"/>
            <a:ext cx="265176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528523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数据出境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83280" y="55778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PII 数据禁止调用境外模型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126480" y="5212080"/>
            <a:ext cx="265176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528523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人工审核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17920" y="55778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高风险操作需人工确认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961120" y="5212080"/>
            <a:ext cx="265176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5285232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审计日志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052560" y="557784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全链路可追溯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10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08  Apollo &amp; Rubix：经常被低估的壁垒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10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486400" cy="411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486400" cy="73152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58A1F"/>
                </a:solidFill>
                <a:latin typeface="微软雅黑"/>
              </a:rPr>
              <a:t>Apollo — 持续交付</a:t>
            </a:r>
            <a:endParaRPr sz="16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120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每天协调数千次跨数百项服务的零停机升级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8640" y="2423160"/>
            <a:ext cx="137160" cy="1371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软件版本管理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596896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多版本并存、灰度控制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8640" y="2953512"/>
            <a:ext cx="137160" cy="1371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07792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配置管理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127248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多环境配置同步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8640" y="3483863"/>
            <a:ext cx="137160" cy="1371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38144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安全更新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零停机安全补丁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48640" y="4014215"/>
            <a:ext cx="137160" cy="1371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68496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灰度部署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按比例、按客户逐步推出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48640" y="4544568"/>
            <a:ext cx="137160" cy="1371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回滚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718304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秒级回滚到任意版本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48640" y="5074920"/>
            <a:ext cx="137160" cy="1371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29200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持续运维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248656"/>
            <a:ext cx="4754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7×24 自动化运维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35040" y="1463040"/>
            <a:ext cx="5852160" cy="411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1463040"/>
            <a:ext cx="5852160" cy="73152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6002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9B8A"/>
                </a:solidFill>
                <a:latin typeface="微软雅黑"/>
              </a:rPr>
              <a:t>Rubix — 运行底座</a:t>
            </a:r>
            <a:endParaRPr sz="16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0" y="196596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强化后的 Kubernetes 运行底座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309360" y="2423160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37744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高可用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37960" y="25968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 AZ 自动故障转移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309360" y="2880360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83464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自动扩缩容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37960" y="30540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按负载弹性伸缩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309360" y="3337560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29184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工作负载隔离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37960" y="35112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命名空间级隔离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309360" y="3794759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749039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默认安全网络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37960" y="39684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Zero Trust 网络模型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309360" y="4251959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20624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加密 + 身份验证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37960" y="44256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全链路 mTLS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309360" y="4709159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66344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临时计算节点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37960" y="48828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按需创建/销毁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309360" y="5166359"/>
            <a:ext cx="137160" cy="1371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512064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多环境一致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37960" y="5340096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开发/测试/生产一致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74320" y="5760720"/>
            <a:ext cx="11612880" cy="7315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为什么这一层重要：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企业客户需要软件长期运行、持续升级、满足安全要求、适配已有基础设施——Apollo 和 Rubix 解决的是「从可以开发」到「可以长期运营」的跨越。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10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08  Apollo：持续交付详解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10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发布管道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59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1828800"/>
            <a:ext cx="1554480" cy="54864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代码提交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79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Git Push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901951" y="214884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11679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79" y="1828800"/>
            <a:ext cx="1554480" cy="54864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399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自动构建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7399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CI Pipeline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547871" y="214884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599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599" y="1828800"/>
            <a:ext cx="1554480" cy="54864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测试验证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03320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Unit + Integration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5193792" y="214884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03520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0" y="1828800"/>
            <a:ext cx="155448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安全扫描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49240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Vulnerability Check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6839712" y="214884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9440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1828800"/>
            <a:ext cx="1554480" cy="54864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59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灰度部署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95159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Canary 1% → 10%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8485632" y="214884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95359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5359" y="1828800"/>
            <a:ext cx="1554480" cy="54864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全量发布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41080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100% Rollout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10131551" y="214884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41280" y="182880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41280" y="1828800"/>
            <a:ext cx="1554480" cy="54864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1938528"/>
            <a:ext cx="14630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监控验证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287000" y="2286000"/>
            <a:ext cx="14630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Health Check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28800" y="3017520"/>
            <a:ext cx="8503920" cy="45720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11680" y="3063240"/>
            <a:ext cx="8138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← 回滚：任何阶段失败，自动回滚到上一个稳定版本（秒级）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4320" y="3749039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Apollo 核心特性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74320" y="4114800"/>
            <a:ext cx="36576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114800"/>
            <a:ext cx="73152" cy="10515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2062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多目标部署</a:t>
            </a:r>
            <a:endParaRPr sz="11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02920" y="452628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同时部署到多个环境/区域/客户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114800" y="4114800"/>
            <a:ext cx="36576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0" y="4114800"/>
            <a:ext cx="73152" cy="105156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42062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版本管理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343400" y="452628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管理数千个服务的版本矩阵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955280" y="4114800"/>
            <a:ext cx="36576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55280" y="4114800"/>
            <a:ext cx="73152" cy="105156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83880" y="420624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配置热更新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83880" y="452628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不重启更新运行时配置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74320" y="5303520"/>
            <a:ext cx="36576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5303520"/>
            <a:ext cx="73152" cy="105156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5394959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健康监控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2920" y="571500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实时监控部署后系统健康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114800" y="5303520"/>
            <a:ext cx="36576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0" y="5303520"/>
            <a:ext cx="73152" cy="105156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5394959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灰度策略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343400" y="571500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按客户/区域/比例逐步推出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955280" y="5303520"/>
            <a:ext cx="36576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55280" y="5303520"/>
            <a:ext cx="73152" cy="105156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83880" y="5394959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9B8A"/>
                </a:solidFill>
                <a:latin typeface="微软雅黑"/>
              </a:rPr>
              <a:t>依赖编排</a:t>
            </a:r>
            <a:endParaRPr sz="11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83880" y="571500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服务间依赖关系自动排序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4320" y="6400800"/>
            <a:ext cx="11612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规模：每天数千次部署 · 数百项服务 · 零停机升级 · 99.99% 可用性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11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09  Global Branching：软件工程延伸到业务系统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11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3657600" cy="228600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传统 Git 管理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仅管理代码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• 源代码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• 配置文件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B7E"/>
                </a:solidFill>
                <a:latin typeface="微软雅黑"/>
              </a:rPr>
              <a:t>• 基础设施代码</a:t>
            </a:r>
            <a:endParaRPr sz="10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→ 业务逻辑无法版本化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931920" y="2286000"/>
            <a:ext cx="365760" cy="274320"/>
          </a:xfrm>
          <a:prstGeom prst="rightArrow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463040"/>
            <a:ext cx="3383280" cy="228600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Global Branching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0" y="1920240"/>
            <a:ext cx="3017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管理全部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0" y="22860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13432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数据管道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35040" y="22860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313432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数据 Schema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0" y="26517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679191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Ontology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35040" y="26517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679191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Action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72000" y="301752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044951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应用 + Functions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0" y="301752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044951"/>
            <a:ext cx="1371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自动化流程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7818120" y="2286000"/>
            <a:ext cx="365760" cy="274320"/>
          </a:xfrm>
          <a:prstGeom prst="rightArrow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1040" y="1463040"/>
            <a:ext cx="3566160" cy="228600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9525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55448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隔离分支开发流程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503920" y="1993391"/>
            <a:ext cx="91440" cy="9144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1965960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创建分支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503920" y="2340863"/>
            <a:ext cx="91440" cy="9144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313432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修改完整工作流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503920" y="2688336"/>
            <a:ext cx="91440" cy="9144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2660904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测试（Action可运行但不写主分支）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503920" y="3035808"/>
            <a:ext cx="91440" cy="9144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3008376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审核通过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503920" y="3383279"/>
            <a:ext cx="91440" cy="9144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355848"/>
            <a:ext cx="2926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统一合并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4320" y="4023360"/>
            <a:ext cx="11612880" cy="237744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为什么需要 Global Branching？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57200" y="4572000"/>
            <a:ext cx="2651760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572000"/>
            <a:ext cx="2651760" cy="54864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70916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业务定义变化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074920"/>
            <a:ext cx="24688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Ontology 对象/属性/关系的修改需要版本管理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291840" y="4572000"/>
            <a:ext cx="2651760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91840" y="4572000"/>
            <a:ext cx="2651760" cy="54864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470916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决策流程变化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83280" y="5074920"/>
            <a:ext cx="24688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Action 和 Functions 的修改需要测试和审核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126480" y="4572000"/>
            <a:ext cx="2651760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26480" y="4572000"/>
            <a:ext cx="2651760" cy="54864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70916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安全合规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17920" y="5074920"/>
            <a:ext cx="24688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敏感修改需要审计和审批流程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961120" y="4572000"/>
            <a:ext cx="2651760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61120" y="4572000"/>
            <a:ext cx="265176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4709160"/>
            <a:ext cx="2468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团队协作</a:t>
            </a:r>
            <a:endParaRPr sz="11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52560" y="5074920"/>
            <a:ext cx="24688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多个团队同时修改不同部分而不互相干扰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74320" y="640080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企业不仅需要管理代码变化，还需要管理业务定义和决策流程的变化。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11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09  Global Branching：分支管理全景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11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分支模型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017520" cy="457200"/>
          </a:xfrm>
          <a:prstGeom prst="roundRect">
            <a:avLst>
              <a:gd name="adj" fmla="val 25000"/>
            </a:avLst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93392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main（主分支）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 flipH="1">
            <a:off x="2423160" y="2377440"/>
            <a:ext cx="3657600" cy="365760"/>
          </a:xfrm>
          <a:prstGeom prst="line">
            <a:avLst/>
          </a:prstGeom>
          <a:ln w="19050">
            <a:solidFill>
              <a:srgbClr val="2DC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743200"/>
            <a:ext cx="3017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16352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feature/order-v2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新增订单 Action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377440"/>
            <a:ext cx="0" cy="365760"/>
          </a:xfrm>
          <a:prstGeom prst="line">
            <a:avLst/>
          </a:prstGeom>
          <a:ln w="19050">
            <a:solidFill>
              <a:srgbClr val="F58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2743200"/>
            <a:ext cx="3017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2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feature/credit-rule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0" y="3246120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修改信用规则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377440"/>
            <a:ext cx="3657600" cy="365760"/>
          </a:xfrm>
          <a:prstGeom prst="line">
            <a:avLst/>
          </a:prstGeom>
          <a:ln w="19050">
            <a:solidFill>
              <a:srgbClr val="7C5B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2743200"/>
            <a:ext cx="3017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816352"/>
            <a:ext cx="3017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feature/new-ot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0" y="3246120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新增 Supplier OT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365760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一个分支包含什么：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4320" y="402336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11480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数据管道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040" y="4434840"/>
            <a:ext cx="1737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Pipeline Builder 变更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221991" y="402336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67711" y="411480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Schema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67711" y="4434840"/>
            <a:ext cx="1737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Dataset Schema 变更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69663" y="402336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5383" y="411480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Ontology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15383" y="4434840"/>
            <a:ext cx="1737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OT/Property/Link/Action 变更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17336" y="402336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5" y="411480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应用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63055" y="4434840"/>
            <a:ext cx="1737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Workshop 应用变更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65008" y="402336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8" y="411480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Functions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10728" y="4434840"/>
            <a:ext cx="1737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函数逻辑变更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012680" y="402336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411480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自动化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58400" y="4434840"/>
            <a:ext cx="17373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Automate 规则变更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74320" y="539496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合并流程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65759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F6FC1"/>
                </a:solidFill>
                <a:latin typeface="微软雅黑"/>
              </a:rPr>
              <a:t>创建分支</a:t>
            </a:r>
            <a:endParaRPr sz="9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1901951" y="5925312"/>
            <a:ext cx="128016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011679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1679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隔离修改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7" name="Right Arrow 46"/>
          <p:cNvSpPr/>
          <p:nvPr/>
        </p:nvSpPr>
        <p:spPr>
          <a:xfrm>
            <a:off x="3547871" y="5925312"/>
            <a:ext cx="128016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57599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9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D9B8A"/>
                </a:solidFill>
                <a:latin typeface="微软雅黑"/>
              </a:rPr>
              <a:t>运行测试</a:t>
            </a:r>
            <a:endParaRPr sz="9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5193792" y="5925312"/>
            <a:ext cx="128016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03520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58A1F"/>
                </a:solidFill>
                <a:latin typeface="微软雅黑"/>
              </a:rPr>
              <a:t>代码审查</a:t>
            </a:r>
            <a:endParaRPr sz="9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6839712" y="5925312"/>
            <a:ext cx="128016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949440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安全审核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8485632" y="5925312"/>
            <a:ext cx="128016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595359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59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12479A"/>
                </a:solidFill>
                <a:latin typeface="微软雅黑"/>
              </a:rPr>
              <a:t>合并到 main</a:t>
            </a:r>
            <a:endParaRPr sz="9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10131551" y="5925312"/>
            <a:ext cx="128016" cy="18288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241280" y="5760720"/>
            <a:ext cx="155448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41280" y="5870448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7C5BD8"/>
                </a:solidFill>
                <a:latin typeface="微软雅黑"/>
              </a:rPr>
              <a:t>Apollo 部署</a:t>
            </a:r>
            <a:endParaRPr sz="900" b="1">
              <a:solidFill>
                <a:srgbClr val="7C5BD8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12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10-12  Gotham · FDE · Bootcamp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12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3749039" cy="4754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49039" cy="73152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3832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54A4A"/>
                </a:solidFill>
                <a:latin typeface="微软雅黑"/>
              </a:rPr>
              <a:t>Gotham</a:t>
            </a:r>
            <a:endParaRPr sz="18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3832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任务运营系统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02920" y="2514600"/>
            <a:ext cx="91440" cy="9144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情报 + 传感器数据整合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02920" y="2971800"/>
            <a:ext cx="91440" cy="9144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地理空间 + 目标 + 人员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02920" y="3429000"/>
            <a:ext cx="91440" cy="9144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任务规划 + 资产调度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2920" y="3886200"/>
            <a:ext cx="91440" cy="9144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传感器控制（无人机/卫星）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2920" y="4343400"/>
            <a:ext cx="91440" cy="9144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人在回路控制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5212080"/>
            <a:ext cx="3566159" cy="914400"/>
          </a:xfrm>
          <a:prstGeom prst="roundRect">
            <a:avLst>
              <a:gd name="adj" fmla="val 25000"/>
            </a:avLst>
          </a:prstGeom>
          <a:solidFill>
            <a:srgbClr val="F7FAFC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85232"/>
            <a:ext cx="3383279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国防任务操作系统，而非只是数据分析工具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06240" y="1463040"/>
            <a:ext cx="3749039" cy="4754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463040"/>
            <a:ext cx="3749039" cy="73152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600200"/>
            <a:ext cx="33832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C276"/>
                </a:solidFill>
                <a:latin typeface="微软雅黑"/>
              </a:rPr>
              <a:t>FDE</a:t>
            </a:r>
            <a:endParaRPr sz="18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89120" y="2011680"/>
            <a:ext cx="33832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前向部署工程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434840" y="2514600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4688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业务理解 + 数据建模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34840" y="2971800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9260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软件开发 + 产品配置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434840" y="3429000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3832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系统集成 + 场景验证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434840" y="3886200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8404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客户现场即产品研发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434840" y="4343400"/>
            <a:ext cx="91440" cy="9144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2976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"人类版本的反向传播"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297679" y="5212080"/>
            <a:ext cx="3566159" cy="914400"/>
          </a:xfrm>
          <a:prstGeom prst="roundRect">
            <a:avLst>
              <a:gd name="adj" fmla="val 25000"/>
            </a:avLst>
          </a:prstGeom>
          <a:solidFill>
            <a:srgbClr val="F7FAFC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5285232"/>
            <a:ext cx="3383279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不是实施工程师，而是产品研发的一部分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138160" y="1463040"/>
            <a:ext cx="3749039" cy="4754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463040"/>
            <a:ext cx="3749039" cy="73152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1600200"/>
            <a:ext cx="338327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7C5BD8"/>
                </a:solidFill>
                <a:latin typeface="微软雅黑"/>
              </a:rPr>
              <a:t>Bootcamp</a:t>
            </a:r>
            <a:endParaRPr sz="18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21040" y="2011680"/>
            <a:ext cx="33832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D3D"/>
                </a:solidFill>
                <a:latin typeface="微软雅黑"/>
              </a:rPr>
              <a:t>验证 + 交付 + 销售</a:t>
            </a:r>
            <a:endParaRPr sz="11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366760" y="2514600"/>
            <a:ext cx="91440" cy="914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24688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使用客户真实数据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366760" y="2971800"/>
            <a:ext cx="91440" cy="914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29260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客户人员直接参与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366760" y="3429000"/>
            <a:ext cx="91440" cy="914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33832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数小时/数天形成工作流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366760" y="3886200"/>
            <a:ext cx="91440" cy="914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38404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不做通用产品演示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8366760" y="4343400"/>
            <a:ext cx="91440" cy="9144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9640" y="4297680"/>
            <a:ext cx="320039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2024年超 500 场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229600" y="5212080"/>
            <a:ext cx="3566159" cy="914400"/>
          </a:xfrm>
          <a:prstGeom prst="roundRect">
            <a:avLst>
              <a:gd name="adj" fmla="val 25000"/>
            </a:avLst>
          </a:prstGeom>
          <a:solidFill>
            <a:srgbClr val="F7FAFC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5285232"/>
            <a:ext cx="3383279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同时承担产品验证、交付和销售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12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11  FDE：前向部署工程详解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12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46320" y="2560320"/>
            <a:ext cx="2103120" cy="2103120"/>
          </a:xfrm>
          <a:prstGeom prst="ellipse">
            <a:avLst/>
          </a:prstGeom>
          <a:solidFill>
            <a:srgbClr val="2DC276"/>
          </a:solidFill>
          <a:ln w="254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834640"/>
            <a:ext cx="2103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FDE</a:t>
            </a:r>
            <a:endParaRPr sz="22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329184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9F2FC"/>
                </a:solidFill>
                <a:latin typeface="微软雅黑"/>
              </a:rPr>
              <a:t>Forward Deployed</a:t>
            </a:r>
            <a:endParaRPr sz="1100" b="0">
              <a:solidFill>
                <a:srgbClr val="E9F2FC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0" y="356616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9F2FC"/>
                </a:solidFill>
                <a:latin typeface="微软雅黑"/>
              </a:rPr>
              <a:t>Engineer</a:t>
            </a:r>
            <a:endParaRPr sz="1100" b="0">
              <a:solidFill>
                <a:srgbClr val="E9F2FC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4400" y="109728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097280"/>
            <a:ext cx="54864" cy="82296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18872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业务理解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1560" y="14630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深入客户场景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0" y="109728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097280"/>
            <a:ext cx="54864" cy="82296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18872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数据建模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2360" y="14630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设计 Ontology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" y="274320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54864" cy="8229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346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软件开发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79" y="310896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Workshop + Functions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0" y="274320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2743200"/>
            <a:ext cx="54864" cy="82296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8346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产品配置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23960" y="310896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定制化部署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4320" y="457200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572000"/>
            <a:ext cx="54864" cy="82296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6634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系统集成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79" y="493776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连接外部系统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0" y="457200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4572000"/>
            <a:ext cx="54864" cy="82296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46634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用户交互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23960" y="493776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培训 + 支持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114800" y="5486400"/>
            <a:ext cx="2560320" cy="8229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5486400"/>
            <a:ext cx="54864" cy="822960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557784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场景验证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51960" y="585216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端到端测试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4320" y="5669280"/>
            <a:ext cx="11612880" cy="73152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"人类版本的反向传播"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FDE 在客户现场发现问题 → 回到产品团队 → 改进平台 → 新能力回流到所有客户 — 形成产品研发的闭环。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13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13  商业模式：不是纯 SaaS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13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收入构成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5303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" cy="45720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Palantir Cloud 订阅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2"/>
            <a:ext cx="32004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SaaS 模式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74320" y="2377440"/>
            <a:ext cx="5303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377440"/>
            <a:ext cx="54864" cy="45720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本地/私有部署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633472"/>
            <a:ext cx="32004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软件订阅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4320" y="2926080"/>
            <a:ext cx="5303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926080"/>
            <a:ext cx="54864" cy="45720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持续运营和维护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32004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服务收入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4320" y="3474720"/>
            <a:ext cx="530352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474720"/>
            <a:ext cx="54864" cy="45720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20439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专业服务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3730752"/>
            <a:ext cx="320040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培训/配置/建模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74320" y="4114800"/>
            <a:ext cx="5303520" cy="45720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63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60520"/>
            <a:ext cx="49377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= 平台订阅 + 持续运维 + 高价值工程服务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48463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Land and Expand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4320" y="521208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276088"/>
            <a:ext cx="1691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一个用例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103120" y="521208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5276088"/>
            <a:ext cx="1691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→ 一个部门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931920" y="521208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5276088"/>
            <a:ext cx="1691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→ 更多数据源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74320" y="566928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733288"/>
            <a:ext cx="1691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→ 更多对象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103120" y="566928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5733288"/>
            <a:ext cx="1691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→ 更多用户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931920" y="5669280"/>
            <a:ext cx="1691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5733288"/>
            <a:ext cx="16916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F2D3D"/>
                </a:solidFill>
                <a:latin typeface="微软雅黑"/>
              </a:rPr>
              <a:t>→ 更大合同</a:t>
            </a:r>
            <a:endParaRPr sz="8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4320" y="6217920"/>
            <a:ext cx="2560320" cy="45720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263640"/>
            <a:ext cx="2468879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54A4A"/>
                </a:solidFill>
                <a:latin typeface="微软雅黑"/>
              </a:rPr>
              <a:t>$9,390万</a:t>
            </a:r>
            <a:endParaRPr sz="18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040" y="6469380"/>
            <a:ext cx="2468879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2025 Top20 客户均收入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40" y="146304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政府 + 商业双轮（2025 年 $44.75 亿）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035040" y="1828800"/>
            <a:ext cx="2834640" cy="320040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92024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政府收入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54A4A"/>
                </a:solidFill>
                <a:latin typeface="微软雅黑"/>
              </a:rPr>
              <a:t>$24.02 亿</a:t>
            </a:r>
            <a:endParaRPr sz="2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0" y="274320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占比 54%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17920" y="3108960"/>
            <a:ext cx="24688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特点：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09360" y="338328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高安全要求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09360" y="3675888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任务关键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09360" y="3968496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长周期合同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309360" y="4261104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深入集成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052560" y="1828800"/>
            <a:ext cx="2834640" cy="320040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192024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商业收入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235440" y="22860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C276"/>
                </a:solidFill>
                <a:latin typeface="微软雅黑"/>
              </a:rPr>
              <a:t>$20.73 亿</a:t>
            </a:r>
            <a:endParaRPr sz="2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35440" y="274320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占比 46%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235440" y="3108960"/>
            <a:ext cx="24688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特点：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326880" y="338328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行业场景丰富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326880" y="3675888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增长空间大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326880" y="3968496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Land &amp; Expand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26880" y="4261104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• 跨行业复制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035040" y="5212080"/>
            <a:ext cx="5852160" cy="100584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9525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5285232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共用平台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17920" y="557784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政府线和商业线共用同一套 Foundry + Ontology + AIP 底座，差异在于部署环境和安全等级。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035040" y="6400800"/>
            <a:ext cx="5852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同比增速：商业 +31%，政府 +17%（2025 年）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14  经营数据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737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54A4A"/>
                </a:solidFill>
                <a:latin typeface="微软雅黑"/>
              </a:rPr>
              <a:t>$44.75亿</a:t>
            </a:r>
            <a:endParaRPr sz="18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2025 总收入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21991" y="146304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1" y="1554480"/>
            <a:ext cx="1737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DC276"/>
                </a:solidFill>
                <a:latin typeface="微软雅黑"/>
              </a:rPr>
              <a:t>+28%</a:t>
            </a:r>
            <a:endParaRPr sz="18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7711" y="201168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YoY 增长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69663" y="146304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3" y="1554480"/>
            <a:ext cx="1737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58A1F"/>
                </a:solidFill>
                <a:latin typeface="微软雅黑"/>
              </a:rPr>
              <a:t>$9,390万</a:t>
            </a:r>
            <a:endParaRPr sz="18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15383" y="201168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Top20 客户均收入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17336" y="146304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5" y="1554480"/>
            <a:ext cx="1737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2479A"/>
                </a:solidFill>
                <a:latin typeface="微软雅黑"/>
              </a:rPr>
              <a:t>954+</a:t>
            </a:r>
            <a:endParaRPr sz="18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63055" y="201168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总客户数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65008" y="146304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554480"/>
            <a:ext cx="1737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F6FC1"/>
                </a:solidFill>
                <a:latin typeface="微软雅黑"/>
              </a:rPr>
              <a:t>82%</a:t>
            </a:r>
            <a:endParaRPr sz="18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10728" y="201168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2025 毛利率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012680" y="1463040"/>
            <a:ext cx="1828800" cy="1097280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554480"/>
            <a:ext cx="1737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7C5BD8"/>
                </a:solidFill>
                <a:latin typeface="微软雅黑"/>
              </a:rPr>
              <a:t>87%</a:t>
            </a:r>
            <a:endParaRPr sz="18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0" y="2011680"/>
            <a:ext cx="17373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2026 Q1 毛利率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" y="28346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收入趋势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4612004"/>
            <a:ext cx="731520" cy="691515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337684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8A95A5"/>
                </a:solidFill>
                <a:latin typeface="微软雅黑"/>
              </a:rPr>
              <a:t>$1.54B</a:t>
            </a:r>
            <a:endParaRPr sz="8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2021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63040" y="4445861"/>
            <a:ext cx="731520" cy="857658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171541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8A95A5"/>
                </a:solidFill>
                <a:latin typeface="微软雅黑"/>
              </a:rPr>
              <a:t>$1.91B</a:t>
            </a:r>
            <a:endParaRPr sz="8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63040" y="534924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2022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468880" y="4302170"/>
            <a:ext cx="731520" cy="1001349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02785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8A95A5"/>
                </a:solidFill>
                <a:latin typeface="微软雅黑"/>
              </a:rPr>
              <a:t>$2.23B</a:t>
            </a:r>
            <a:endParaRPr sz="8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68880" y="534924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2023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474720" y="4014787"/>
            <a:ext cx="731520" cy="1288732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3740467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58A1F"/>
                </a:solidFill>
                <a:latin typeface="微软雅黑"/>
              </a:rPr>
              <a:t>$2.87B</a:t>
            </a:r>
            <a:endParaRPr sz="8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74720" y="534924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2024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80560" y="3291839"/>
            <a:ext cx="731520" cy="201168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0175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E54A4A"/>
                </a:solidFill>
                <a:latin typeface="微软雅黑"/>
              </a:rPr>
              <a:t>$4.48B</a:t>
            </a:r>
            <a:endParaRPr sz="8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80560" y="534924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2025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365760" y="5577840"/>
            <a:ext cx="5120640" cy="0"/>
          </a:xfrm>
          <a:prstGeom prst="line">
            <a:avLst/>
          </a:prstGeom>
          <a:ln w="12700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17920" y="2834640"/>
            <a:ext cx="56692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客户构成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5669280" cy="118872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29184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政府客户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0" y="356616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$24.02 亿（54%）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0800" y="384048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国防 · 情报 · 民用政府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00800" y="406908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特点：高 ARPU · 长合同周期 · 深度集成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17920" y="4480560"/>
            <a:ext cx="5669280" cy="118872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57200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商业客户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800" y="484632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D3D"/>
                </a:solidFill>
                <a:latin typeface="微软雅黑"/>
              </a:rPr>
              <a:t>$20.73 亿（46%）</a:t>
            </a:r>
            <a:endParaRPr sz="10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00800" y="512064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制造 · 金融 · 医疗 · 能源 · 零售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00800" y="5349240"/>
            <a:ext cx="5303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特点：快速扩张 · 行业复制 · Land &amp; Expand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217920" y="5760720"/>
            <a:ext cx="5669280" cy="73152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63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5806440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2025 年新签 TCV（总合同价值）：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6080760"/>
            <a:ext cx="5303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总计 $39.7 亿，商业 TCV $31.4 亿（79%）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14  经营数据：增长指标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关键增长指标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" cy="59436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56231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收入增长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$3.50B → $4.48B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6080" y="19202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2DC276"/>
                </a:solidFill>
                <a:latin typeface="微软雅黑"/>
              </a:rPr>
              <a:t>+28% YoY</a:t>
            </a:r>
            <a:endParaRPr sz="14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74320" y="25146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54864" cy="59436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商业收入增长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$1.58B → $2.07B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6080" y="26060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2DC276"/>
                </a:solidFill>
                <a:latin typeface="微软雅黑"/>
              </a:rPr>
              <a:t>+31% YoY</a:t>
            </a:r>
            <a:endParaRPr sz="14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32004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54864" cy="5943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2783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政府收入增长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$2.05B → $2.40B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26080" y="32918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58A1F"/>
                </a:solidFill>
                <a:latin typeface="微软雅黑"/>
              </a:rPr>
              <a:t>+17% YoY</a:t>
            </a:r>
            <a:endParaRPr sz="14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4320" y="38862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886200"/>
            <a:ext cx="54864" cy="59436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1363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客户数增长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160520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668 → 954+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6080" y="3977639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1F6FC1"/>
                </a:solidFill>
                <a:latin typeface="微软雅黑"/>
              </a:rPr>
              <a:t>+43% YoY</a:t>
            </a:r>
            <a:endParaRPr sz="14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" y="45720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54864" cy="59436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943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Top20 客户均收入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同比 +16%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46634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E54A4A"/>
                </a:solidFill>
                <a:latin typeface="微软雅黑"/>
              </a:rPr>
              <a:t>$9,390万</a:t>
            </a:r>
            <a:endParaRPr sz="14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257800"/>
            <a:ext cx="54864" cy="59436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8523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商业 TCV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5532120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占新签 79%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26080" y="53492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7C5BD8"/>
                </a:solidFill>
                <a:latin typeface="微软雅黑"/>
              </a:rPr>
              <a:t>$31.4亿</a:t>
            </a:r>
            <a:endParaRPr sz="14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0" y="146304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毛利率提升趋势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0" y="2743200"/>
            <a:ext cx="1097280" cy="1828800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468880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A95A5"/>
                </a:solidFill>
                <a:latin typeface="微软雅黑"/>
              </a:rPr>
              <a:t>80%</a:t>
            </a:r>
            <a:endParaRPr sz="10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2023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772400" y="2720339"/>
            <a:ext cx="1097280" cy="1851660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2446020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A95A5"/>
                </a:solidFill>
                <a:latin typeface="微软雅黑"/>
              </a:rPr>
              <a:t>81%</a:t>
            </a:r>
            <a:endParaRPr sz="10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2024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144000" y="2697480"/>
            <a:ext cx="1097280" cy="1874519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2423160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82%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4400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2025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515600" y="2583180"/>
            <a:ext cx="1097280" cy="1988819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24160" y="2308860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87%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51560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2026 Q1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6217920" y="4846320"/>
            <a:ext cx="5212080" cy="0"/>
          </a:xfrm>
          <a:prstGeom prst="line">
            <a:avLst/>
          </a:prstGeom>
          <a:ln w="12700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035040" y="5120640"/>
            <a:ext cx="5852160" cy="128016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521208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关键洞察：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17920" y="553212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毛利率从 80% 持续提升到 87%，说明规模效应开始显现——软件订阅收入占比增大，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17920" y="589788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专业服务成本占比下降，边际成本递减。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74320" y="6035040"/>
            <a:ext cx="5486400" cy="45720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126480"/>
            <a:ext cx="5120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收入质量：高毛利 + 高续约 + 高 ARPU = 优质 SaaS+ 模型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14  经营数据：客户增长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客户数量增长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4004094"/>
            <a:ext cx="822960" cy="567905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29774"/>
            <a:ext cx="1005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8A95A5"/>
                </a:solidFill>
                <a:latin typeface="微软雅黑"/>
              </a:rPr>
              <a:t>237</a:t>
            </a:r>
            <a:endParaRPr sz="9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2021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83080" y="3692584"/>
            <a:ext cx="822960" cy="879415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39" y="3418264"/>
            <a:ext cx="1005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8A95A5"/>
                </a:solidFill>
                <a:latin typeface="微软雅黑"/>
              </a:rPr>
              <a:t>367</a:t>
            </a:r>
            <a:endParaRPr sz="9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83080" y="461772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2022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639" y="3476924"/>
            <a:ext cx="822960" cy="1095075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9" y="3202604"/>
            <a:ext cx="1005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8A95A5"/>
                </a:solidFill>
                <a:latin typeface="微软雅黑"/>
              </a:rPr>
              <a:t>457</a:t>
            </a:r>
            <a:endParaRPr sz="9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39" y="461772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2023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86200" y="2971320"/>
            <a:ext cx="822960" cy="1600679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697000"/>
            <a:ext cx="1005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58A1F"/>
                </a:solidFill>
                <a:latin typeface="微软雅黑"/>
              </a:rPr>
              <a:t>668</a:t>
            </a:r>
            <a:endParaRPr sz="9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6200" y="461772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2024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937759" y="2286000"/>
            <a:ext cx="822960" cy="228600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011680"/>
            <a:ext cx="10058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954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7759" y="461772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2025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46320"/>
            <a:ext cx="5212080" cy="0"/>
          </a:xfrm>
          <a:prstGeom prst="line">
            <a:avLst/>
          </a:prstGeom>
          <a:ln w="12700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20" y="493776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+43% YoY（2024→2025）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146304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Top20 客户平均收入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58000" y="3257367"/>
            <a:ext cx="1097280" cy="1314632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983047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8A95A5"/>
                </a:solidFill>
                <a:latin typeface="微软雅黑"/>
              </a:rPr>
              <a:t>$5.4M</a:t>
            </a:r>
            <a:endParaRPr sz="9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2023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21040" y="2600051"/>
            <a:ext cx="1097280" cy="1971948"/>
          </a:xfrm>
          <a:prstGeom prst="rect">
            <a:avLst/>
          </a:prstGeom>
          <a:solidFill>
            <a:srgbClr val="8A9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325731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8A95A5"/>
                </a:solidFill>
                <a:latin typeface="微软雅黑"/>
              </a:rPr>
              <a:t>$8.1M</a:t>
            </a:r>
            <a:endParaRPr sz="900" b="1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2104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2024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84080" y="2286000"/>
            <a:ext cx="1097280" cy="228600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2011680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4A4A"/>
                </a:solidFill>
                <a:latin typeface="微软雅黑"/>
              </a:rPr>
              <a:t>$9.4M</a:t>
            </a:r>
            <a:endParaRPr sz="9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84080" y="4617720"/>
            <a:ext cx="1097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2025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675120" y="4846320"/>
            <a:ext cx="4754880" cy="0"/>
          </a:xfrm>
          <a:prstGeom prst="line">
            <a:avLst/>
          </a:prstGeom>
          <a:ln w="12700">
            <a:solidFill>
              <a:srgbClr val="D8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35040" y="493776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+16% YoY（2024→2025）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74320" y="5394960"/>
            <a:ext cx="11612880" cy="91440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增长质量：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客户数增长 +43%（量增）同时 Top20 ARPU 增长 +16%（价增）— 既在扩张新客户，也在深化现有客户。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14  经营数据：区域分布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14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收入地理分布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9601200" cy="731520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美国
$37.2亿 · 83%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75520" y="1920240"/>
            <a:ext cx="1920240" cy="73152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2103120"/>
            <a:ext cx="1920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国际
$7.6亿 · 17%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301752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美国市场细分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383280"/>
            <a:ext cx="5341924" cy="54864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474720"/>
            <a:ext cx="534192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美国政府: $17.2亿 (46%)</a:t>
            </a:r>
            <a:endParaRPr sz="1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16244" y="3383280"/>
            <a:ext cx="6270955" cy="54864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6244" y="3474720"/>
            <a:ext cx="62709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美国商业: $20.0亿 (54%)</a:t>
            </a:r>
            <a:endParaRPr sz="1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" y="42062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国际市场细分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3300502" cy="54864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663440"/>
            <a:ext cx="3300502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微软雅黑"/>
              </a:rPr>
              <a:t>英国
$3.6亿</a:t>
            </a:r>
            <a:endParaRPr sz="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74822" y="4572000"/>
            <a:ext cx="1925293" cy="54864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4822" y="4663440"/>
            <a:ext cx="1925293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微软雅黑"/>
              </a:rPr>
              <a:t>欧洲其他
$2.1亿</a:t>
            </a:r>
            <a:endParaRPr sz="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500116" y="4572000"/>
            <a:ext cx="1100167" cy="54864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0116" y="4663440"/>
            <a:ext cx="110016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微软雅黑"/>
              </a:rPr>
              <a:t>亚太
$1.2亿</a:t>
            </a:r>
            <a:endParaRPr sz="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00283" y="4572000"/>
            <a:ext cx="641764" cy="54864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0283" y="4663440"/>
            <a:ext cx="64176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微软雅黑"/>
              </a:rPr>
              <a:t>其他
$0.7亿</a:t>
            </a:r>
            <a:endParaRPr sz="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74320" y="5394960"/>
            <a:ext cx="11612880" cy="91440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地理洞察：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美国市场仍占主导（83%），但国际市场增速更快（+45% YoY）。英国是最大的国际市场。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  真正壁垒：一套相互增强的系统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43200" cy="54864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64207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数据 + 计算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连接复杂异构
高敏感数据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00400" y="155448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2743200" cy="54864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64207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C1"/>
                </a:solidFill>
                <a:latin typeface="微软雅黑"/>
              </a:rPr>
              <a:t>Ontology</a:t>
            </a:r>
            <a:endParaRPr sz="12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统一业务
运行模型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2743200" cy="54864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64207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Action + 反馈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分析结果
进入业务执行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52560" y="155448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554480"/>
            <a:ext cx="2743200" cy="54864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664207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C5BD8"/>
                </a:solidFill>
                <a:latin typeface="微软雅黑"/>
              </a:rPr>
              <a:t>AIP</a:t>
            </a:r>
            <a:endParaRPr sz="12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0" y="201168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大模型进入
已有业务模型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4320" y="301752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127248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1F"/>
                </a:solidFill>
                <a:latin typeface="微软雅黑"/>
              </a:rPr>
              <a:t>Apollo + Rubix</a:t>
            </a:r>
            <a:endParaRPr sz="12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347472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多云/边缘部署
持续升级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200400" y="301752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017520"/>
            <a:ext cx="2743200" cy="54864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27248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B8A"/>
                </a:solidFill>
                <a:latin typeface="微软雅黑"/>
              </a:rPr>
              <a:t>FDE</a:t>
            </a:r>
            <a:endParaRPr sz="12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91840" y="347472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客户问题
转化为产品能力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26480" y="301752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017520"/>
            <a:ext cx="2743200" cy="54864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127248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Bootcamp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0" y="347472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降低初次
验证成本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52560" y="3017520"/>
            <a:ext cx="274320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C49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3017520"/>
            <a:ext cx="2743200" cy="54864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127248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49A2A"/>
                </a:solidFill>
                <a:latin typeface="微软雅黑"/>
              </a:rPr>
              <a:t>账户扩张</a:t>
            </a:r>
            <a:endParaRPr sz="1200" b="1">
              <a:solidFill>
                <a:srgbClr val="C49A2A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44000" y="3474720"/>
            <a:ext cx="256032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一次性问题
→ 长期平台收入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4320" y="4663440"/>
            <a:ext cx="11612880" cy="164592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7548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复合飞轮：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2479A"/>
                </a:solidFill>
                <a:latin typeface="微软雅黑"/>
              </a:rPr>
              <a:t>更多复杂客户问题</a:t>
            </a:r>
            <a:endParaRPr sz="9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291840" y="512064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2479A"/>
                </a:solidFill>
                <a:latin typeface="微软雅黑"/>
              </a:rPr>
              <a:t>→ 更多现场工程经验</a:t>
            </a:r>
            <a:endParaRPr sz="9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26480" y="512064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2479A"/>
                </a:solidFill>
                <a:latin typeface="微软雅黑"/>
              </a:rPr>
              <a:t>→ 更强的平台能力</a:t>
            </a:r>
            <a:endParaRPr sz="9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61120" y="512064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2479A"/>
                </a:solidFill>
                <a:latin typeface="微软雅黑"/>
              </a:rPr>
              <a:t>→ 更快的用例交付</a:t>
            </a:r>
            <a:endParaRPr sz="9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5623559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→ 更多客户和场景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91840" y="5623559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→ 更多 Ontology/Action/决策数据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26480" y="5623559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→ 更高平台价值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961120" y="5623559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→ 更深客户扩张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74320" y="6400800"/>
            <a:ext cx="11612880" cy="320040"/>
          </a:xfrm>
          <a:prstGeom prst="roundRect">
            <a:avLst>
              <a:gd name="adj" fmla="val 25000"/>
            </a:avLst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28232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微软雅黑"/>
              </a:rPr>
              <a:t>竞争优势不是某个模块全面领先，而是能把多个模块组合成一套完整运营系统。</a:t>
            </a:r>
            <a:endParaRPr sz="10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16  也存在明显约束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73152" cy="210312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7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4A4A"/>
                </a:solidFill>
                <a:latin typeface="微软雅黑"/>
              </a:rPr>
              <a:t>实施复杂度高</a:t>
            </a:r>
            <a:endParaRPr sz="13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48640" y="2176272"/>
            <a:ext cx="73152" cy="73152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平台复杂，实施周期长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" y="2542032"/>
            <a:ext cx="73152" cy="73152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79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需要针对客户独特环境配置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8640" y="2907792"/>
            <a:ext cx="73152" cy="73152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39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需要培训和持续技术人员服务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73152" cy="21031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64207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58A1F"/>
                </a:solidFill>
                <a:latin typeface="微软雅黑"/>
              </a:rPr>
              <a:t>销售成本高</a:t>
            </a:r>
            <a:endParaRPr sz="13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400800" y="2176272"/>
            <a:ext cx="73152" cy="73152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大型项目安装成本高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00800" y="2542032"/>
            <a:ext cx="73152" cy="73152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68879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失败风险高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00800" y="2907792"/>
            <a:ext cx="73152" cy="73152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39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评估周期可能超过一年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74320" y="384048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73152" cy="210312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50208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5BD8"/>
                </a:solidFill>
                <a:latin typeface="微软雅黑"/>
              </a:rPr>
              <a:t>依赖工程服务</a:t>
            </a:r>
            <a:endParaRPr sz="13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48640" y="4462272"/>
            <a:ext cx="73152" cy="73152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成本含现场人员/专业服务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48640" y="4828032"/>
            <a:ext cx="73152" cy="73152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部分客户需长期参与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48640" y="5193792"/>
            <a:ext cx="73152" cy="73152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2064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分包商/云资源/部署维护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126480" y="384048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840480"/>
            <a:ext cx="73152" cy="210312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950208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D9B8A"/>
                </a:solidFill>
                <a:latin typeface="微软雅黑"/>
              </a:rPr>
              <a:t>面临多类竞争</a:t>
            </a:r>
            <a:endParaRPr sz="13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00800" y="4462272"/>
            <a:ext cx="73152" cy="73152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38912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大型软件公司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400800" y="4828032"/>
            <a:ext cx="73152" cy="73152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75488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政府承包商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400800" y="5193792"/>
            <a:ext cx="73152" cy="73152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120640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系统集成商/新兴公司/自研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4320" y="6126480"/>
            <a:ext cx="11612880" cy="45720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63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竞争优势不是某个模块全面领先，而是能把多个模块组合成一套完整运营系统。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  复合飞轮壁垒：研发投入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研发投入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548640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" cy="73152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2025 R&amp;D 支出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占收入 15%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6080" y="1965960"/>
            <a:ext cx="2560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E54A4A"/>
                </a:solidFill>
                <a:latin typeface="微软雅黑"/>
              </a:rPr>
              <a:t>$6.74亿</a:t>
            </a:r>
            <a:endParaRPr sz="16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74320" y="2651760"/>
            <a:ext cx="548640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54864" cy="73152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79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FDE 团队规模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99923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占员工 36%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6080" y="2788920"/>
            <a:ext cx="2560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2DC276"/>
                </a:solidFill>
                <a:latin typeface="微软雅黑"/>
              </a:rPr>
              <a:t>~1,600人</a:t>
            </a:r>
            <a:endParaRPr sz="16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3474720"/>
            <a:ext cx="548640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474720"/>
            <a:ext cx="54864" cy="73152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20439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专利数量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822191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核心技术保护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26080" y="3611879"/>
            <a:ext cx="2560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1F6FC1"/>
                </a:solidFill>
                <a:latin typeface="微软雅黑"/>
              </a:rPr>
              <a:t>180+</a:t>
            </a:r>
            <a:endParaRPr sz="16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4320" y="4297680"/>
            <a:ext cx="548640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97680"/>
            <a:ext cx="54864" cy="73152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平台迭代频率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2286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Apollo 部署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26080" y="4434840"/>
            <a:ext cx="25603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>
                <a:solidFill>
                  <a:srgbClr val="F58A1F"/>
                </a:solidFill>
                <a:latin typeface="微软雅黑"/>
              </a:rPr>
              <a:t>每日数千次</a:t>
            </a:r>
            <a:endParaRPr sz="16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146304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产品迭代速度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35040" y="1828800"/>
            <a:ext cx="58521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17920" y="1901952"/>
            <a:ext cx="164592" cy="164592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938528"/>
            <a:ext cx="16459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1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1856231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AIP 发布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960" y="2084832"/>
            <a:ext cx="182880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C5BD8"/>
                </a:solidFill>
                <a:latin typeface="微软雅黑"/>
              </a:rPr>
              <a:t>2023</a:t>
            </a:r>
            <a:endParaRPr sz="800" b="0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03920" y="192024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从 0 到企业级 AI 运行环境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035040" y="2468880"/>
            <a:ext cx="58521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17920" y="2542032"/>
            <a:ext cx="164592" cy="164592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578608"/>
            <a:ext cx="16459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2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37960" y="2496312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Ontology 增强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37960" y="2724912"/>
            <a:ext cx="182880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2DC276"/>
                </a:solidFill>
                <a:latin typeface="微软雅黑"/>
              </a:rPr>
              <a:t>持续</a:t>
            </a:r>
            <a:endParaRPr sz="800" b="0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03920" y="256032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对象/Action/函数不断扩展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035040" y="3108960"/>
            <a:ext cx="58521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17920" y="3182112"/>
            <a:ext cx="164592" cy="164592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218688"/>
            <a:ext cx="16459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3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37960" y="3136391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Apollo 部署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37960" y="3364991"/>
            <a:ext cx="182880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F58A1F"/>
                </a:solidFill>
                <a:latin typeface="微软雅黑"/>
              </a:rPr>
              <a:t>每日</a:t>
            </a:r>
            <a:endParaRPr sz="800" b="0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03920" y="32004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数千次零停机升级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35040" y="3749039"/>
            <a:ext cx="58521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17920" y="3822191"/>
            <a:ext cx="164592" cy="164592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858768"/>
            <a:ext cx="16459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4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37960" y="3776472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Bootcamp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37960" y="4005072"/>
            <a:ext cx="182880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E54A4A"/>
                </a:solidFill>
                <a:latin typeface="微软雅黑"/>
              </a:rPr>
              <a:t>2024 500+场</a:t>
            </a:r>
            <a:endParaRPr sz="800" b="0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03920" y="3840479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客户验证→产品迭代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035040" y="4389120"/>
            <a:ext cx="58521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17920" y="4462272"/>
            <a:ext cx="164592" cy="164592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498848"/>
            <a:ext cx="164592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5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37960" y="4416552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0355E"/>
                </a:solidFill>
                <a:latin typeface="微软雅黑"/>
              </a:rPr>
              <a:t>行业模板</a:t>
            </a:r>
            <a:endParaRPr sz="10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537960" y="4645152"/>
            <a:ext cx="182880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0D9B8A"/>
                </a:solidFill>
                <a:latin typeface="微软雅黑"/>
              </a:rPr>
              <a:t>持续积累</a:t>
            </a:r>
            <a:endParaRPr sz="800" b="0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03920" y="4480559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从客户场景提炼通用能力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74320" y="5303520"/>
            <a:ext cx="11612880" cy="1097280"/>
          </a:xfrm>
          <a:prstGeom prst="roundRect">
            <a:avLst>
              <a:gd name="adj" fmla="val 25000"/>
            </a:avLst>
          </a:prstGeom>
          <a:solidFill>
            <a:srgbClr val="F0F6FE"/>
          </a:solidFill>
          <a:ln w="6350">
            <a:solidFill>
              <a:srgbClr val="C5D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2479A"/>
                </a:solidFill>
                <a:latin typeface="微软雅黑"/>
              </a:rPr>
              <a:t>FDE = 人类版本的反向传播：</a:t>
            </a:r>
            <a:endParaRPr sz="11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4572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业务理解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0574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数据建模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6576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软件开发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2578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578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产品配置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8580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系统集成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4582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582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用户交互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0058400" y="5760720"/>
            <a:ext cx="14630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58400" y="5852160"/>
            <a:ext cx="1463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场景验证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  复合飞轮壁垒：市场与竞争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可寻址市场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3657600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3657600" cy="54864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TAM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54A4A"/>
                </a:solidFill>
                <a:latin typeface="微软雅黑"/>
              </a:rPr>
              <a:t>$1,199亿</a:t>
            </a:r>
            <a:endParaRPr sz="24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83464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全球数据+AI+决策平台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114800" y="1828800"/>
            <a:ext cx="3657600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828800"/>
            <a:ext cx="365760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9659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1F"/>
                </a:solidFill>
                <a:latin typeface="微软雅黑"/>
              </a:rPr>
              <a:t>SAM</a:t>
            </a:r>
            <a:endParaRPr sz="12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233172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58A1F"/>
                </a:solidFill>
                <a:latin typeface="微软雅黑"/>
              </a:rPr>
              <a:t>$450亿</a:t>
            </a:r>
            <a:endParaRPr sz="24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06240" y="283464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大型政企决策与运营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55280" y="1828800"/>
            <a:ext cx="3657600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828800"/>
            <a:ext cx="3657600" cy="54864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9659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SOM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20" y="2331720"/>
            <a:ext cx="3474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DC276"/>
                </a:solidFill>
                <a:latin typeface="微软雅黑"/>
              </a:rPr>
              <a:t>$40亿</a:t>
            </a:r>
            <a:endParaRPr sz="24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0" y="283464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近期可获取份额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320" y="347472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竞争格局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74320" y="3840480"/>
            <a:ext cx="365760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54864" cy="114300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大型软件公司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41605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Microsoft / Oracle / SAP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有平台但缺深度运营闭环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14800" y="3840480"/>
            <a:ext cx="365760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0" y="3840480"/>
            <a:ext cx="54864" cy="114300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91363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云厂商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97680" y="41605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AWS / GCP / Azure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97680" y="443484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有基础设施但缺业务语义层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955280" y="3840480"/>
            <a:ext cx="365760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3840480"/>
            <a:ext cx="54864" cy="114300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91363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数据平台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38160" y="41605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Snowflake / Databricks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38160" y="443484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有数据处理但缺 Ontology + Action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4320" y="5120640"/>
            <a:ext cx="365760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120640"/>
            <a:ext cx="54864" cy="114300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19379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SI / 咨询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" y="5440679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Accenture / Deloitte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7200" y="57150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有行业经验但缺产品平台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114800" y="5120640"/>
            <a:ext cx="365760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0" y="5120640"/>
            <a:ext cx="54864" cy="114300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519379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AI 公司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97680" y="5440679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OpenAI / Anthropic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97680" y="57150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有模型但缺企业运营上下文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955280" y="5120640"/>
            <a:ext cx="365760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55280" y="5120640"/>
            <a:ext cx="54864" cy="114300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519379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客户自研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38160" y="5440679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内部技术团队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38160" y="57150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有业务理解但缺平台和规模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74320" y="6400800"/>
            <a:ext cx="11612880" cy="320040"/>
          </a:xfrm>
          <a:prstGeom prst="roundRect">
            <a:avLst>
              <a:gd name="adj" fmla="val 25000"/>
            </a:avLst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28232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Palantir 的差异化：不是单点最优，而是「数据→Ontology→Action→AI→部署→反馈」的完整闭环。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  复合飞轮壁垒：生态系统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合作伙伴生态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" cy="59436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56231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云伙伴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多云部署支持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0" y="19202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AWS · GCP · Azure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74320" y="25146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54864" cy="59436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2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数据伙伴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数据湖集成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86000" y="26060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Snowflake · Databricks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32004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54864" cy="5943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27832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SI 伙伴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规模化交付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3291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Accenture · Deloitte · IBM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4320" y="38862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886200"/>
            <a:ext cx="54864" cy="59436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13632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行业伙伴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160520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企业系统连接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86000" y="3977639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SAP · Salesforce · Oracle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74320" y="45720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572000"/>
            <a:ext cx="54864" cy="59436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9432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AI 伙伴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模型供给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86000" y="46634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OpenAI · Anthropic · Mistral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548640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257800"/>
            <a:ext cx="54864" cy="59436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85232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硬件伙伴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5532120"/>
            <a:ext cx="16459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边缘/私有部署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86000" y="53492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NVIDIA · Dell · HPE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0" y="146304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护城河分析（波特五力+）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035040" y="1828800"/>
            <a:ext cx="58521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1828800"/>
            <a:ext cx="54864" cy="59436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856231"/>
            <a:ext cx="20116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数据网络效应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0" y="21031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更多数据→更好模型→更多客户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601200" y="2011680"/>
            <a:ext cx="2103120" cy="22860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0" y="2011680"/>
            <a:ext cx="1892807" cy="22860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50040" y="19842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E54A4A"/>
                </a:solidFill>
                <a:latin typeface="微软雅黑"/>
              </a:rPr>
              <a:t>9/10</a:t>
            </a:r>
            <a:endParaRPr sz="8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0" y="2514600"/>
            <a:ext cx="58521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2514600"/>
            <a:ext cx="54864" cy="59436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2542032"/>
            <a:ext cx="20116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转换成本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17920" y="27889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Ontology 深度嵌入→迁移困难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601200" y="2697480"/>
            <a:ext cx="2103120" cy="22860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601200" y="2697480"/>
            <a:ext cx="1682495" cy="22860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50040" y="26700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58A1F"/>
                </a:solidFill>
                <a:latin typeface="微软雅黑"/>
              </a:rPr>
              <a:t>8/10</a:t>
            </a:r>
            <a:endParaRPr sz="8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035040" y="3200400"/>
            <a:ext cx="58521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3200400"/>
            <a:ext cx="54864" cy="59436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3227832"/>
            <a:ext cx="20116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规模经济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17920" y="34747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平台固定成本→边际递减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601200" y="3383280"/>
            <a:ext cx="2103120" cy="22860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01200" y="3383280"/>
            <a:ext cx="1472184" cy="22860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50040" y="33558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2DC276"/>
                </a:solidFill>
                <a:latin typeface="微软雅黑"/>
              </a:rPr>
              <a:t>7/10</a:t>
            </a:r>
            <a:endParaRPr sz="8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035040" y="3886200"/>
            <a:ext cx="58521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35040" y="3886200"/>
            <a:ext cx="54864" cy="59436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3913632"/>
            <a:ext cx="20116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品牌信任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17920" y="41605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政府/军事级安全认证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9601200" y="4069080"/>
            <a:ext cx="2103120" cy="22860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01200" y="4069080"/>
            <a:ext cx="1682495" cy="22860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50040" y="40416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7C5BD8"/>
                </a:solidFill>
                <a:latin typeface="微软雅黑"/>
              </a:rPr>
              <a:t>8/10</a:t>
            </a:r>
            <a:endParaRPr sz="8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035040" y="4572000"/>
            <a:ext cx="58521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35040" y="4572000"/>
            <a:ext cx="54864" cy="59436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4599432"/>
            <a:ext cx="20116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技术复杂度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17920" y="48463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多组件协同→难以复制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601200" y="4754880"/>
            <a:ext cx="2103120" cy="22860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01200" y="4754880"/>
            <a:ext cx="1892807" cy="22860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50040" y="47274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0D9B8A"/>
                </a:solidFill>
                <a:latin typeface="微软雅黑"/>
              </a:rPr>
              <a:t>9/10</a:t>
            </a:r>
            <a:endParaRPr sz="8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035040" y="5257800"/>
            <a:ext cx="585216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35040" y="5257800"/>
            <a:ext cx="54864" cy="59436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5285232"/>
            <a:ext cx="20116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客户锁定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217920" y="5532120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Land &amp; Expand→深度依赖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601200" y="5440680"/>
            <a:ext cx="2103120" cy="228600"/>
          </a:xfrm>
          <a:prstGeom prst="rect">
            <a:avLst/>
          </a:prstGeom>
          <a:solidFill>
            <a:srgbClr val="EC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601200" y="5440680"/>
            <a:ext cx="1682495" cy="22860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750040" y="5413248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F6FC1"/>
                </a:solidFill>
                <a:latin typeface="微软雅黑"/>
              </a:rPr>
              <a:t>8/10</a:t>
            </a:r>
            <a:endParaRPr sz="800" b="1">
              <a:solidFill>
                <a:srgbClr val="1F6FC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16  约束与挑战：深入分析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16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风险评估矩阵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669280" cy="54864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实施复杂度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46320" y="1938528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6596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高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8640" y="2404872"/>
            <a:ext cx="54864" cy="54864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平台组件多，学习曲线陡峭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8640" y="2770632"/>
            <a:ext cx="54864" cy="54864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97479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需要深度业务理解 + 技术能力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8640" y="3136392"/>
            <a:ext cx="54864" cy="54864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63239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FDE 模式导致人力成本高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66928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938528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1F"/>
                </a:solidFill>
                <a:latin typeface="微软雅黑"/>
              </a:rPr>
              <a:t>销售周期</a:t>
            </a:r>
            <a:endParaRPr sz="12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698480" y="1938528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196596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长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00800" y="2404872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3317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大型项目评估周期 6-18 个月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00800" y="2770632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697479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POC → Bootcamp → 合同 → 实施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0" y="3136392"/>
            <a:ext cx="54864" cy="54864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063239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政府项目受预算周期影响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74320" y="411480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114800"/>
            <a:ext cx="5669280" cy="54864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224528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C5BD8"/>
                </a:solidFill>
                <a:latin typeface="微软雅黑"/>
              </a:rPr>
              <a:t>盈利路径</a:t>
            </a:r>
            <a:endParaRPr sz="12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846320" y="4224528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25196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渐进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48640" y="4690872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177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前 1-2 年投入大于收入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48640" y="5056632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9834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需要客户扩展到一定规模后盈利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48640" y="5422392"/>
            <a:ext cx="54864" cy="54864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34924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毛利率改善需要时间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26480" y="4114800"/>
            <a:ext cx="5669280" cy="2103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114800"/>
            <a:ext cx="5669280" cy="54864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224528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B8A"/>
                </a:solidFill>
                <a:latin typeface="微软雅黑"/>
              </a:rPr>
              <a:t>技术债务</a:t>
            </a:r>
            <a:endParaRPr sz="12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0698480" y="4224528"/>
            <a:ext cx="822960" cy="274320"/>
          </a:xfrm>
          <a:prstGeom prst="roundRect">
            <a:avLst>
              <a:gd name="adj" fmla="val 25000"/>
            </a:avLst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98480" y="4251960"/>
            <a:ext cx="8229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微软雅黑"/>
              </a:rPr>
              <a:t>可控</a:t>
            </a:r>
            <a:endParaRPr sz="9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400800" y="4690872"/>
            <a:ext cx="54864" cy="54864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6177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历史组件（Gotham）与新平台并存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400800" y="5056632"/>
            <a:ext cx="54864" cy="54864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9834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多版本兼容性维护成本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400800" y="5422392"/>
            <a:ext cx="54864" cy="54864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34924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需要持续重构和升级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74320" y="6400800"/>
            <a:ext cx="11612880" cy="32004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28232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2DC276"/>
                </a:solidFill>
                <a:latin typeface="微软雅黑"/>
              </a:rPr>
              <a:t>缓解策略：Bootcamp 降低验证成本 · AIP 加速用例交付 · Apollo 降低运维复杂度 · 行业模板复用经验。</a:t>
            </a:r>
            <a:endParaRPr sz="900" b="1">
              <a:solidFill>
                <a:srgbClr val="2DC276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15.1  数据和计算能力壁垒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核心数据能力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3657600" cy="1234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3657600" cy="54864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多源连接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190+ 连接器
ERP/CRM/IoT/传感器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3657600" cy="1234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828800"/>
            <a:ext cx="3657600" cy="54864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659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多模态处理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06240" y="233172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结构化/非结构化
流/地理空间/文档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55280" y="1828800"/>
            <a:ext cx="3657600" cy="1234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828800"/>
            <a:ext cx="3657600" cy="54864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659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数据治理</a:t>
            </a:r>
            <a:endParaRPr sz="11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20" y="233172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字段级权限
血缘追踪/审计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4320" y="3200400"/>
            <a:ext cx="3657600" cy="1234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200400"/>
            <a:ext cx="3657600" cy="54864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375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高安全部署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多云/私有/边缘
FedRAMP/IL5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0" y="3200400"/>
            <a:ext cx="3657600" cy="1234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3200400"/>
            <a:ext cx="3657600" cy="54864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3375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实时处理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06240" y="370332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流式数据
亚秒级延迟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55280" y="3200400"/>
            <a:ext cx="3657600" cy="12344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80" y="3200400"/>
            <a:ext cx="3657600" cy="54864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33756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9B8A"/>
                </a:solidFill>
                <a:latin typeface="微软雅黑"/>
              </a:rPr>
              <a:t>弹性计算</a:t>
            </a:r>
            <a:endParaRPr sz="11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6720" y="3703320"/>
            <a:ext cx="34747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自动扩缩容
GPU/CPU 混合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4320" y="4754880"/>
            <a:ext cx="11612880" cy="1645920"/>
          </a:xfrm>
          <a:prstGeom prst="roundRect">
            <a:avLst>
              <a:gd name="adj" fmla="val 25000"/>
            </a:avLst>
          </a:prstGeom>
          <a:solidFill>
            <a:srgbClr val="FDECEC"/>
          </a:solidFill>
          <a:ln w="63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为什么难以复制：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212080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▸ 连接器库需要 10+ 年积累（190+ 种，含冷门工业系统）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5486400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▸ 高安全认证（FedRAMP High / IL5 / DoD IL6）需要数年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▸ 多模态数据处理需要深厚的工程能力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6035040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D3D"/>
                </a:solidFill>
                <a:latin typeface="微软雅黑"/>
              </a:rPr>
              <a:t>▸ 在敏感环境（离线/边缘）中运行需要专门的架构设计</a:t>
            </a:r>
            <a:endParaRPr sz="900" b="0">
              <a:solidFill>
                <a:srgbClr val="1F2D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15.2  Ontology 壁垒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Ontology 为什么是壁垒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365760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" cy="192024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F6FC1"/>
                </a:solidFill>
                <a:latin typeface="微软雅黑"/>
              </a:rPr>
              <a:t>统一业务运行模型</a:t>
            </a:r>
            <a:endParaRPr sz="11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将数据、业务语义、逻辑、Action、权限
组织成一套模型 — 竞品大多只有数据层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365760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828800"/>
            <a:ext cx="54864" cy="192024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38528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DC276"/>
                </a:solidFill>
                <a:latin typeface="微软雅黑"/>
              </a:rPr>
              <a:t>深度嵌入客户流程</a:t>
            </a:r>
            <a:endParaRPr sz="11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97680" y="233172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一旦客户在 Ontology 上构建了
数百个对象和 Action，迁移成本极高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55280" y="1828800"/>
            <a:ext cx="365760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828800"/>
            <a:ext cx="54864" cy="192024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8A1F"/>
                </a:solidFill>
                <a:latin typeface="微软雅黑"/>
              </a:rPr>
              <a:t>非静态知识图谱</a:t>
            </a:r>
            <a:endParaRPr sz="11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8160" y="233172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是运行时——支持事务、实时修改、
Action 写回，远超传统 KG 产品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4320" y="3931920"/>
            <a:ext cx="365760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31920"/>
            <a:ext cx="54864" cy="192024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5BD8"/>
                </a:solidFill>
                <a:latin typeface="微软雅黑"/>
              </a:rPr>
              <a:t>与 AI 的天然结合</a:t>
            </a:r>
            <a:endParaRPr sz="11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AIP 直接在 Ontology 上运行，
AI 拥有完整业务上下文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14800" y="3931920"/>
            <a:ext cx="365760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3931920"/>
            <a:ext cx="54864" cy="1920240"/>
          </a:xfrm>
          <a:prstGeom prst="rect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041648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9B8A"/>
                </a:solidFill>
                <a:latin typeface="微软雅黑"/>
              </a:rPr>
              <a:t>行业模板积累</a:t>
            </a:r>
            <a:endParaRPr sz="11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97680" y="443484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每个客户场景都在丰富平台的
行业 Ontology 模板库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55280" y="3931920"/>
            <a:ext cx="3657600" cy="1920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80" y="3931920"/>
            <a:ext cx="54864" cy="192024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041648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4A4A"/>
                </a:solidFill>
                <a:latin typeface="微软雅黑"/>
              </a:rPr>
              <a:t>Global Branching</a:t>
            </a:r>
            <a:endParaRPr sz="11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0" y="443484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Ontology 修改可分支、测试、
审核 — 工程化管理业务变化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4320" y="6217920"/>
            <a:ext cx="11612880" cy="365760"/>
          </a:xfrm>
          <a:prstGeom prst="roundRect">
            <a:avLst>
              <a:gd name="adj" fmla="val 25000"/>
            </a:avLst>
          </a:prstGeom>
          <a:solidFill>
            <a:srgbClr val="E9F2FC"/>
          </a:solidFill>
          <a:ln w="635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291072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2479A"/>
                </a:solidFill>
                <a:latin typeface="微软雅黑"/>
              </a:rPr>
              <a:t>Ontology 是 Palantir 最核心的差异化 — 它不是数据库、不是知识图谱，而是企业业务的运行时。</a:t>
            </a:r>
            <a:endParaRPr sz="1000" b="1">
              <a:solidFill>
                <a:srgbClr val="12479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15.3  FDE 与反馈飞轮壁垒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15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1612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2479A"/>
                </a:solidFill>
                <a:latin typeface="微软雅黑"/>
              </a:rPr>
              <a:t>FDE 驱动的产品飞轮</a:t>
            </a:r>
            <a:endParaRPr sz="13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78308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1580" y="2057400"/>
            <a:ext cx="365760" cy="365760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1580" y="2121408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6916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6FC1"/>
                </a:solidFill>
                <a:latin typeface="微软雅黑"/>
              </a:rPr>
              <a:t>客户现场</a:t>
            </a:r>
            <a:endParaRPr sz="10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16916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FDE 部署到客户
发现真实问题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267712" y="242316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7439" y="1920240"/>
            <a:ext cx="178308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86099" y="2057400"/>
            <a:ext cx="365760" cy="36576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6099" y="2121408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3159" y="2514600"/>
            <a:ext cx="16916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问题抽象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3159" y="2788920"/>
            <a:ext cx="16916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将个案抽象为
通用模式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4142232" y="242316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1959" y="1920240"/>
            <a:ext cx="178308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60619" y="2057400"/>
            <a:ext cx="365760" cy="36576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0619" y="2121408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97679" y="2514600"/>
            <a:ext cx="16916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58A1F"/>
                </a:solidFill>
                <a:latin typeface="微软雅黑"/>
              </a:rPr>
              <a:t>产品迭代</a:t>
            </a:r>
            <a:endParaRPr sz="10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97679" y="2788920"/>
            <a:ext cx="16916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平台增加新能力
解决一类问题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6016752" y="242316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79" y="1920240"/>
            <a:ext cx="178308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35139" y="2057400"/>
            <a:ext cx="365760" cy="36576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5139" y="2121408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72199" y="2514600"/>
            <a:ext cx="16916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C5BD8"/>
                </a:solidFill>
                <a:latin typeface="微软雅黑"/>
              </a:rPr>
              <a:t>能力回流</a:t>
            </a:r>
            <a:endParaRPr sz="10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72199" y="2788920"/>
            <a:ext cx="16916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新能力可供
所有客户使用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7891271" y="242316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1920240"/>
            <a:ext cx="178308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D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09660" y="2057400"/>
            <a:ext cx="365760" cy="365760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9660" y="2121408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5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46720" y="2514600"/>
            <a:ext cx="16916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D9B8A"/>
                </a:solidFill>
                <a:latin typeface="微软雅黑"/>
              </a:rPr>
              <a:t>更多客户</a:t>
            </a:r>
            <a:endParaRPr sz="1000" b="1">
              <a:solidFill>
                <a:srgbClr val="0D9B8A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6720" y="2788920"/>
            <a:ext cx="16916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更强的平台
吸引新客户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Right Arrow 36"/>
          <p:cNvSpPr/>
          <p:nvPr/>
        </p:nvSpPr>
        <p:spPr>
          <a:xfrm>
            <a:off x="9765792" y="2423160"/>
            <a:ext cx="128016" cy="228600"/>
          </a:xfrm>
          <a:prstGeom prst="rightArrow">
            <a:avLst/>
          </a:prstGeom>
          <a:solidFill>
            <a:srgbClr val="B0BD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75520" y="1920240"/>
            <a:ext cx="1783080" cy="12801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84180" y="2057400"/>
            <a:ext cx="365760" cy="36576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84180" y="2121408"/>
            <a:ext cx="3657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6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921240" y="2514600"/>
            <a:ext cx="169163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54A4A"/>
                </a:solidFill>
                <a:latin typeface="微软雅黑"/>
              </a:rPr>
              <a:t>更多场景</a:t>
            </a:r>
            <a:endParaRPr sz="10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21240" y="2788920"/>
            <a:ext cx="1691639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更多场景
更多 FDE 部署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4320" y="34747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FDE 的多重角色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57200" y="3877056"/>
            <a:ext cx="109728" cy="109728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84048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业务理解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560320" y="384048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深入客户运营场景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457200" y="4242816"/>
            <a:ext cx="109728" cy="109728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20624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数据建模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560320" y="420624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设计 Ontology Schema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457200" y="4608576"/>
            <a:ext cx="109728" cy="109728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45720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软件开发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560320" y="457200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Workshop + Functions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457200" y="4974336"/>
            <a:ext cx="109728" cy="109728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93776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产品配置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560320" y="493776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定制部署和集成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57200" y="5340096"/>
            <a:ext cx="109728" cy="109728"/>
          </a:xfrm>
          <a:prstGeom prst="ellipse">
            <a:avLst/>
          </a:prstGeom>
          <a:solidFill>
            <a:srgbClr val="0D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03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系统集成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560320" y="530352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连接 ERP/CRM/IoT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57200" y="5705856"/>
            <a:ext cx="109728" cy="109728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566928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用户交互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560320" y="566928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培训和持续支持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457200" y="6071616"/>
            <a:ext cx="109728" cy="109728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603504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0355E"/>
                </a:solidFill>
                <a:latin typeface="微软雅黑"/>
              </a:rPr>
              <a:t>场景验证</a:t>
            </a:r>
            <a:endParaRPr sz="900" b="1">
              <a:solidFill>
                <a:srgbClr val="10355E"/>
              </a:solidFill>
              <a:latin typeface="微软雅黑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560320" y="6035040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A6B7E"/>
                </a:solidFill>
                <a:latin typeface="微软雅黑"/>
              </a:rPr>
              <a:t>端到端测试验证</a:t>
            </a:r>
            <a:endParaRPr sz="8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035040" y="3474720"/>
            <a:ext cx="5852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FDE 规模与效率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035040" y="3840480"/>
            <a:ext cx="5852160" cy="38404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38862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C276"/>
                </a:solidFill>
                <a:latin typeface="微软雅黑"/>
              </a:rPr>
              <a:t>~1,600</a:t>
            </a:r>
            <a:endParaRPr sz="14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229600" y="39136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FDE 团队规模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035040" y="4297680"/>
            <a:ext cx="5852160" cy="38404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43434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6FC1"/>
                </a:solidFill>
                <a:latin typeface="微软雅黑"/>
              </a:rPr>
              <a:t>36%</a:t>
            </a:r>
            <a:endParaRPr sz="14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229600" y="43708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占员工比例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035040" y="4754880"/>
            <a:ext cx="5852160" cy="38404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48006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A1F"/>
                </a:solidFill>
                <a:latin typeface="微软雅黑"/>
              </a:rPr>
              <a:t>500+</a:t>
            </a:r>
            <a:endParaRPr sz="14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229600" y="48280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2024 Bootcamp 场次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035040" y="5212080"/>
            <a:ext cx="5852160" cy="38404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52578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C5BD8"/>
                </a:solidFill>
                <a:latin typeface="微软雅黑"/>
              </a:rPr>
              <a:t>2-5天</a:t>
            </a:r>
            <a:endParaRPr sz="14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229600" y="52852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典型 Bootcamp 周期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035040" y="5669280"/>
            <a:ext cx="5852160" cy="384048"/>
          </a:xfrm>
          <a:prstGeom prst="roundRect">
            <a:avLst>
              <a:gd name="adj" fmla="val 25000"/>
            </a:avLst>
          </a:prstGeom>
          <a:solidFill>
            <a:srgbClr val="FAFBFD"/>
          </a:solidFill>
          <a:ln w="635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0" y="571500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4A4A"/>
                </a:solidFill>
                <a:latin typeface="微软雅黑"/>
              </a:rPr>
              <a:t>70%+</a:t>
            </a:r>
            <a:endParaRPr sz="14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229600" y="574243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Bootcamp 转化率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74320" y="6217920"/>
            <a:ext cx="11612880" cy="365760"/>
          </a:xfrm>
          <a:prstGeom prst="roundRect">
            <a:avLst>
              <a:gd name="adj" fmla="val 25000"/>
            </a:avLst>
          </a:prstGeom>
          <a:solidFill>
            <a:srgbClr val="E8F8F0"/>
          </a:solidFill>
          <a:ln w="635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6291072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DC276"/>
                </a:solidFill>
                <a:latin typeface="微软雅黑"/>
              </a:rPr>
              <a:t>"人类版本的反向传播" — FDE 是 Palantir 产品研发的核心机制，也是最深护城河之一。</a:t>
            </a:r>
            <a:endParaRPr sz="1000" b="1">
              <a:solidFill>
                <a:srgbClr val="2DC276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17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0355E"/>
                </a:solidFill>
                <a:latin typeface="微软雅黑"/>
              </a:rPr>
              <a:t>17  最终研究结论</a:t>
            </a:r>
            <a:endParaRPr sz="2400" b="1">
              <a:solidFill>
                <a:srgbClr val="10355E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74320" y="1280160"/>
            <a:ext cx="11612880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5"/>
                </a:solidFill>
                <a:latin typeface="微软雅黑"/>
              </a:rPr>
              <a:t>17 / 17</a:t>
            </a:r>
            <a:endParaRPr sz="9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5A5"/>
                </a:solidFill>
                <a:latin typeface="微软雅黑"/>
              </a:rPr>
              <a:t>Palantir 深度解析</a:t>
            </a:r>
            <a:endParaRPr sz="8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566928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2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73152" cy="1143000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502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一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157276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479A"/>
                </a:solidFill>
                <a:latin typeface="微软雅黑"/>
              </a:rPr>
              <a:t>Palantir 不是传统数据公司</a:t>
            </a:r>
            <a:endParaRPr sz="1200" b="1">
              <a:solidFill>
                <a:srgbClr val="12479A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192024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数据是起点不是终点 — 最终处理的是数据→决策→行动→改变现实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566928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F6F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73152" cy="1143000"/>
          </a:xfrm>
          <a:prstGeom prst="rect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0" y="1737360"/>
            <a:ext cx="502920" cy="502920"/>
          </a:xfrm>
          <a:prstGeom prst="ellipse">
            <a:avLst/>
          </a:prstGeom>
          <a:solidFill>
            <a:srgbClr val="1F6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10512"/>
            <a:ext cx="502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二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157276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C1"/>
                </a:solidFill>
                <a:latin typeface="微软雅黑"/>
              </a:rPr>
              <a:t>Ontology 是核心但不是全部</a:t>
            </a:r>
            <a:endParaRPr sz="1200" b="1">
              <a:solidFill>
                <a:srgbClr val="1F6FC1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49440" y="192024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只有与数据/逻辑/Action/AI/安全/部署结合后才具运营价值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" y="2743200"/>
            <a:ext cx="566928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5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73152" cy="1143000"/>
          </a:xfrm>
          <a:prstGeom prst="rect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7C5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90672"/>
            <a:ext cx="502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三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85292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C5BD8"/>
                </a:solidFill>
                <a:latin typeface="微软雅黑"/>
              </a:rPr>
              <a:t>AIP 不是替代而是放大器</a:t>
            </a:r>
            <a:endParaRPr sz="1200" b="1">
              <a:solidFill>
                <a:srgbClr val="7C5BD8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320040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用大模型提高企业系统的自然语言交互/推理/工具调用/自动化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26480" y="2743200"/>
            <a:ext cx="566928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743200"/>
            <a:ext cx="73152" cy="1143000"/>
          </a:xfrm>
          <a:prstGeom prst="rect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F5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90672"/>
            <a:ext cx="502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四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9440" y="285292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1F"/>
                </a:solidFill>
                <a:latin typeface="微软雅黑"/>
              </a:rPr>
              <a:t>Apollo 决定能否进入关键环境</a:t>
            </a:r>
            <a:endParaRPr sz="1200" b="1">
              <a:solidFill>
                <a:srgbClr val="F58A1F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49440" y="320040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能部署到大型企业/政府/军事/私有环境/边缘现场并持续维护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74320" y="4023360"/>
            <a:ext cx="566928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C2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023360"/>
            <a:ext cx="73152" cy="1143000"/>
          </a:xfrm>
          <a:prstGeom prst="rect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4297680"/>
            <a:ext cx="502920" cy="502920"/>
          </a:xfrm>
          <a:prstGeom prst="ellipse">
            <a:avLst/>
          </a:prstGeom>
          <a:solidFill>
            <a:srgbClr val="2D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370832"/>
            <a:ext cx="502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五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97280" y="413308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C276"/>
                </a:solidFill>
                <a:latin typeface="微软雅黑"/>
              </a:rPr>
              <a:t>FDE 是产品研发方法</a:t>
            </a:r>
            <a:endParaRPr sz="1200" b="1">
              <a:solidFill>
                <a:srgbClr val="2DC276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7280" y="448056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客户现场是产品研发循环的一部分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26480" y="4023360"/>
            <a:ext cx="5669280" cy="1143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4023360"/>
            <a:ext cx="73152" cy="1143000"/>
          </a:xfrm>
          <a:prstGeom prst="rect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09360" y="4297680"/>
            <a:ext cx="502920" cy="502920"/>
          </a:xfrm>
          <a:prstGeom prst="ellipse">
            <a:avLst/>
          </a:prstGeom>
          <a:solidFill>
            <a:srgbClr val="E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370832"/>
            <a:ext cx="502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六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49440" y="4133088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4A4A"/>
                </a:solidFill>
                <a:latin typeface="微软雅黑"/>
              </a:rPr>
              <a:t>商业模式建立在账户扩张</a:t>
            </a:r>
            <a:endParaRPr sz="1200" b="1">
              <a:solidFill>
                <a:srgbClr val="E54A4A"/>
              </a:solidFill>
              <a:latin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49440" y="448056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B7E"/>
                </a:solidFill>
                <a:latin typeface="微软雅黑"/>
              </a:rPr>
              <a:t>从复杂客户高投入开始，逐渐进入更多部门/数据/运营流程</a:t>
            </a:r>
            <a:endParaRPr sz="9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74320" y="5394960"/>
            <a:ext cx="11612880" cy="1097280"/>
          </a:xfrm>
          <a:prstGeom prst="roundRect">
            <a:avLst>
              <a:gd name="adj" fmla="val 25000"/>
            </a:avLst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结论七：Palantir = 企业级决策与运营基础设施</a:t>
            </a:r>
            <a:endParaRPr sz="16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E9F2FC"/>
                </a:solidFill>
                <a:latin typeface="微软雅黑"/>
              </a:rPr>
              <a:t>以 Ontology 为业务运行模型，以 Foundry 为数据与运营平台，以 AIP 为 AI 运行环境，
以 Apollo 和 Rubix 为软件交付底座，连接数据、决策和现实行动。</a:t>
            </a:r>
            <a:endParaRPr sz="1100" b="0">
              <a:solidFill>
                <a:srgbClr val="E9F2F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600" b="1">
                <a:solidFill>
                  <a:srgbClr val="10355E"/>
                </a:solidFill>
                <a:latin typeface="微软雅黑"/>
              </a:rPr>
              <a:t>以 Ontology 为业务运行模型
</a:t>
            </a:r>
            <a:endParaRPr sz="1600" b="1">
              <a:solidFill>
                <a:srgbClr val="10355E"/>
              </a:solidFill>
              <a:latin typeface="微软雅黑"/>
            </a:endParaRPr>
          </a:p>
          <a:p>
            <a:pPr algn="ctr">
              <a:lnSpc>
                <a:spcPct val="160000"/>
              </a:lnSpc>
            </a:pPr>
            <a:r>
              <a:rPr sz="1600" b="1">
                <a:solidFill>
                  <a:srgbClr val="10355E"/>
                </a:solidFill>
                <a:latin typeface="微软雅黑"/>
              </a:rPr>
              <a:t>以 Foundry 为数据与运营平台
</a:t>
            </a:r>
            <a:endParaRPr sz="1600" b="1">
              <a:solidFill>
                <a:srgbClr val="10355E"/>
              </a:solidFill>
              <a:latin typeface="微软雅黑"/>
            </a:endParaRPr>
          </a:p>
          <a:p>
            <a:pPr algn="ctr">
              <a:lnSpc>
                <a:spcPct val="160000"/>
              </a:lnSpc>
            </a:pPr>
            <a:r>
              <a:rPr sz="1600" b="1">
                <a:solidFill>
                  <a:srgbClr val="10355E"/>
                </a:solidFill>
                <a:latin typeface="微软雅黑"/>
              </a:rPr>
              <a:t>以 AIP 为 AI 运行环境
</a:t>
            </a:r>
            <a:endParaRPr sz="1600" b="1">
              <a:solidFill>
                <a:srgbClr val="10355E"/>
              </a:solidFill>
              <a:latin typeface="微软雅黑"/>
            </a:endParaRPr>
          </a:p>
          <a:p>
            <a:pPr algn="ctr">
              <a:lnSpc>
                <a:spcPct val="160000"/>
              </a:lnSpc>
            </a:pPr>
            <a:r>
              <a:rPr sz="1600" b="1">
                <a:solidFill>
                  <a:srgbClr val="10355E"/>
                </a:solidFill>
                <a:latin typeface="微软雅黑"/>
              </a:rPr>
              <a:t>以 Apollo 和 Rubix 为软件交付底座
</a:t>
            </a:r>
            <a:endParaRPr sz="1600" b="1">
              <a:solidFill>
                <a:srgbClr val="10355E"/>
              </a:solidFill>
              <a:latin typeface="微软雅黑"/>
            </a:endParaRPr>
          </a:p>
          <a:p>
            <a:pPr algn="ctr">
              <a:lnSpc>
                <a:spcPct val="160000"/>
              </a:lnSpc>
            </a:pPr>
            <a:r>
              <a:rPr sz="1600" b="1">
                <a:solidFill>
                  <a:srgbClr val="10355E"/>
                </a:solidFill>
                <a:latin typeface="微软雅黑"/>
              </a:rPr>
              <a:t>连接数据、决策和现实行动的
</a:t>
            </a:r>
            <a:endParaRPr sz="1600" b="1">
              <a:solidFill>
                <a:srgbClr val="10355E"/>
              </a:solidFill>
              <a:latin typeface="微软雅黑"/>
            </a:endParaRPr>
          </a:p>
          <a:p>
            <a:pPr algn="ctr">
              <a:lnSpc>
                <a:spcPct val="160000"/>
              </a:lnSpc>
            </a:pPr>
            <a:r>
              <a:rPr sz="1800" b="1">
                <a:solidFill>
                  <a:srgbClr val="12479A"/>
                </a:solidFill>
                <a:latin typeface="微软雅黑"/>
              </a:rPr>
              <a:t>企业级决策与运营基础设施</a:t>
            </a:r>
            <a:endParaRPr sz="1800" b="1">
              <a:solidFill>
                <a:srgbClr val="12479A"/>
              </a:solidFill>
              <a:latin typeface="微软雅黑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57600" y="4114800"/>
            <a:ext cx="4873752" cy="0"/>
          </a:xfrm>
          <a:prstGeom prst="line">
            <a:avLst/>
          </a:prstGeom>
          <a:ln w="12700">
            <a:solidFill>
              <a:srgbClr val="C5DB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A6B7E"/>
                </a:solidFill>
                <a:latin typeface="微软雅黑"/>
              </a:rPr>
              <a:t>来源：今日头条「23页PPT讲透Palantir」 · 2026.07</a:t>
            </a:r>
            <a:endParaRPr sz="1200" b="0">
              <a:solidFill>
                <a:srgbClr val="5A6B7E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5A5"/>
                </a:solidFill>
                <a:latin typeface="微软雅黑"/>
              </a:rPr>
              <a:t>基于公开资料整理</a:t>
            </a:r>
            <a:endParaRPr sz="1000" b="0">
              <a:solidFill>
                <a:srgbClr val="8A95A5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5D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11611</Words>
  <Application>WPS 文字</Application>
  <PresentationFormat>On-screen Show (4:3)</PresentationFormat>
  <Paragraphs>2218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宋体-简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ddt</cp:lastModifiedBy>
  <cp:revision>15</cp:revision>
  <dcterms:created xsi:type="dcterms:W3CDTF">2026-07-23T16:53:00Z</dcterms:created>
  <dcterms:modified xsi:type="dcterms:W3CDTF">2026-07-23T16:53:00Z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4FE60797ED96C143FB44626A06421EDD_42</vt:lpwstr>
  </property>
  <property fmtid="{D5CDD505-2E9C-101B-9397-08002B2CF9AE}" pid="3" name="KSOProductBuildVer">
    <vt:lpwstr>2052-12.1.21938.21938</vt:lpwstr>
  </property>
</Properties>
</file>